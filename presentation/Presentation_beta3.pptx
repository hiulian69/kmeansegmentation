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2" r:id="rId7"/>
    <p:sldId id="276" r:id="rId8"/>
    <p:sldId id="263" r:id="rId9"/>
    <p:sldId id="264" r:id="rId10"/>
    <p:sldId id="277" r:id="rId11"/>
    <p:sldId id="278" r:id="rId12"/>
    <p:sldId id="279" r:id="rId13"/>
    <p:sldId id="266" r:id="rId14"/>
    <p:sldId id="267" r:id="rId15"/>
    <p:sldId id="268" r:id="rId16"/>
    <p:sldId id="275" r:id="rId17"/>
    <p:sldId id="269" r:id="rId18"/>
    <p:sldId id="270" r:id="rId19"/>
    <p:sldId id="271" r:id="rId20"/>
    <p:sldId id="272" r:id="rId21"/>
    <p:sldId id="273" r:id="rId22"/>
    <p:sldId id="27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587">
          <p15:clr>
            <a:srgbClr val="9AA0A6"/>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748"/>
    <p:restoredTop sz="94716"/>
  </p:normalViewPr>
  <p:slideViewPr>
    <p:cSldViewPr snapToGrid="0">
      <p:cViewPr>
        <p:scale>
          <a:sx n="110" d="100"/>
          <a:sy n="110" d="100"/>
        </p:scale>
        <p:origin x="168" y="192"/>
      </p:cViewPr>
      <p:guideLst>
        <p:guide pos="1587"/>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1268E9-3852-405B-9D8A-01B2E59CCB6E}" type="doc">
      <dgm:prSet loTypeId="urn:microsoft.com/office/officeart/2005/8/layout/hChevron3" loCatId="process" qsTypeId="urn:microsoft.com/office/officeart/2005/8/quickstyle/simple4" qsCatId="simple" csTypeId="urn:microsoft.com/office/officeart/2005/8/colors/colorful2" csCatId="colorful" phldr="1"/>
      <dgm:spPr/>
      <dgm:t>
        <a:bodyPr/>
        <a:lstStyle/>
        <a:p>
          <a:endParaRPr lang="en-US"/>
        </a:p>
      </dgm:t>
    </dgm:pt>
    <dgm:pt modelId="{228C630B-8192-4F19-AD9E-CCB0D1EFF708}">
      <dgm:prSet/>
      <dgm:spPr/>
      <dgm:t>
        <a:bodyPr/>
        <a:lstStyle/>
        <a:p>
          <a:pPr>
            <a:lnSpc>
              <a:spcPct val="100000"/>
            </a:lnSpc>
          </a:pPr>
          <a:r>
            <a:rPr lang="en-AT" sz="2300" dirty="0"/>
            <a:t>This presentation will cover the following:</a:t>
          </a:r>
          <a:endParaRPr lang="en-US" sz="2300" dirty="0"/>
        </a:p>
      </dgm:t>
    </dgm:pt>
    <dgm:pt modelId="{A32F08D6-E269-4D0D-908E-2CD882C489E9}" type="parTrans" cxnId="{DE585045-782C-489D-8A10-4FE8457A5A3E}">
      <dgm:prSet/>
      <dgm:spPr/>
      <dgm:t>
        <a:bodyPr/>
        <a:lstStyle/>
        <a:p>
          <a:endParaRPr lang="en-US"/>
        </a:p>
      </dgm:t>
    </dgm:pt>
    <dgm:pt modelId="{DCE37C43-ECDA-469F-8898-82F8C5E8A519}" type="sibTrans" cxnId="{DE585045-782C-489D-8A10-4FE8457A5A3E}">
      <dgm:prSet/>
      <dgm:spPr/>
      <dgm:t>
        <a:bodyPr/>
        <a:lstStyle/>
        <a:p>
          <a:endParaRPr lang="en-US"/>
        </a:p>
      </dgm:t>
    </dgm:pt>
    <dgm:pt modelId="{4C496CBF-829C-4C1F-8C5F-CEA93186F474}">
      <dgm:prSet custT="1"/>
      <dgm:spPr/>
      <dgm:t>
        <a:bodyPr/>
        <a:lstStyle/>
        <a:p>
          <a:pPr>
            <a:lnSpc>
              <a:spcPct val="100000"/>
            </a:lnSpc>
          </a:pPr>
          <a:r>
            <a:rPr lang="en-AT" sz="2000" dirty="0"/>
            <a:t>Supervised, unsupervised and semi-supervised learning</a:t>
          </a:r>
          <a:endParaRPr lang="en-US" sz="2000" dirty="0"/>
        </a:p>
      </dgm:t>
    </dgm:pt>
    <dgm:pt modelId="{E32003CA-8F23-4AC8-8867-B79E952D4C92}" type="parTrans" cxnId="{4BDADA9F-5011-4347-9948-F649F20A9F37}">
      <dgm:prSet/>
      <dgm:spPr/>
      <dgm:t>
        <a:bodyPr/>
        <a:lstStyle/>
        <a:p>
          <a:endParaRPr lang="en-US"/>
        </a:p>
      </dgm:t>
    </dgm:pt>
    <dgm:pt modelId="{2BAE9DC4-9D33-4CB2-8C9C-D92FEA7BD088}" type="sibTrans" cxnId="{4BDADA9F-5011-4347-9948-F649F20A9F37}">
      <dgm:prSet/>
      <dgm:spPr/>
      <dgm:t>
        <a:bodyPr/>
        <a:lstStyle/>
        <a:p>
          <a:endParaRPr lang="en-US"/>
        </a:p>
      </dgm:t>
    </dgm:pt>
    <dgm:pt modelId="{0425FA30-FFA8-48A6-A7E1-6CD8466CF17E}">
      <dgm:prSet custT="1"/>
      <dgm:spPr/>
      <dgm:t>
        <a:bodyPr/>
        <a:lstStyle/>
        <a:p>
          <a:pPr>
            <a:lnSpc>
              <a:spcPct val="100000"/>
            </a:lnSpc>
          </a:pPr>
          <a:r>
            <a:rPr lang="en-AT" sz="2000" dirty="0"/>
            <a:t>How K-Means works</a:t>
          </a:r>
          <a:endParaRPr lang="en-US" sz="2000" dirty="0"/>
        </a:p>
      </dgm:t>
    </dgm:pt>
    <dgm:pt modelId="{1283BC18-0371-4BA6-9482-79D6566974EA}" type="parTrans" cxnId="{AC470F82-8C0C-4855-8485-69B02DEA66D5}">
      <dgm:prSet/>
      <dgm:spPr/>
      <dgm:t>
        <a:bodyPr/>
        <a:lstStyle/>
        <a:p>
          <a:endParaRPr lang="en-US"/>
        </a:p>
      </dgm:t>
    </dgm:pt>
    <dgm:pt modelId="{0D6B3A1C-2E18-4F3D-80E9-08F30E1A0430}" type="sibTrans" cxnId="{AC470F82-8C0C-4855-8485-69B02DEA66D5}">
      <dgm:prSet/>
      <dgm:spPr/>
      <dgm:t>
        <a:bodyPr/>
        <a:lstStyle/>
        <a:p>
          <a:endParaRPr lang="en-US"/>
        </a:p>
      </dgm:t>
    </dgm:pt>
    <dgm:pt modelId="{F6FAF768-BF3F-49BE-908F-9760085DD1D4}">
      <dgm:prSet custT="1"/>
      <dgm:spPr/>
      <dgm:t>
        <a:bodyPr/>
        <a:lstStyle/>
        <a:p>
          <a:pPr>
            <a:lnSpc>
              <a:spcPct val="100000"/>
            </a:lnSpc>
          </a:pPr>
          <a:r>
            <a:rPr lang="en-AT" sz="2000" dirty="0"/>
            <a:t>Potential problems with K-Means</a:t>
          </a:r>
          <a:endParaRPr lang="en-US" sz="2000" dirty="0"/>
        </a:p>
      </dgm:t>
    </dgm:pt>
    <dgm:pt modelId="{37531A30-FB91-4256-915C-00F26294573F}" type="parTrans" cxnId="{54DA6B18-FDD9-4F99-A5CD-CFA4BA3A9931}">
      <dgm:prSet/>
      <dgm:spPr/>
      <dgm:t>
        <a:bodyPr/>
        <a:lstStyle/>
        <a:p>
          <a:endParaRPr lang="en-US"/>
        </a:p>
      </dgm:t>
    </dgm:pt>
    <dgm:pt modelId="{830C6DAD-A309-4E5B-8806-E0B6660B2A04}" type="sibTrans" cxnId="{54DA6B18-FDD9-4F99-A5CD-CFA4BA3A9931}">
      <dgm:prSet/>
      <dgm:spPr/>
      <dgm:t>
        <a:bodyPr/>
        <a:lstStyle/>
        <a:p>
          <a:endParaRPr lang="en-US"/>
        </a:p>
      </dgm:t>
    </dgm:pt>
    <dgm:pt modelId="{C043BBDD-AF84-4F22-9B0C-DBB6824C828C}">
      <dgm:prSet custT="1"/>
      <dgm:spPr/>
      <dgm:t>
        <a:bodyPr/>
        <a:lstStyle/>
        <a:p>
          <a:pPr>
            <a:lnSpc>
              <a:spcPct val="100000"/>
            </a:lnSpc>
          </a:pPr>
          <a:r>
            <a:rPr lang="en-AT" sz="2000" dirty="0"/>
            <a:t>K-Means’ real-world applications</a:t>
          </a:r>
          <a:endParaRPr lang="en-US" sz="2000" dirty="0"/>
        </a:p>
      </dgm:t>
    </dgm:pt>
    <dgm:pt modelId="{EF20DC3B-3EDB-464D-A370-49ED09D59B82}" type="parTrans" cxnId="{9BDFFAE8-286C-44F7-B16A-B024C6BFD89C}">
      <dgm:prSet/>
      <dgm:spPr/>
      <dgm:t>
        <a:bodyPr/>
        <a:lstStyle/>
        <a:p>
          <a:endParaRPr lang="en-US"/>
        </a:p>
      </dgm:t>
    </dgm:pt>
    <dgm:pt modelId="{CD645BDF-1738-47AF-817D-1BED9A582FE8}" type="sibTrans" cxnId="{9BDFFAE8-286C-44F7-B16A-B024C6BFD89C}">
      <dgm:prSet/>
      <dgm:spPr/>
      <dgm:t>
        <a:bodyPr/>
        <a:lstStyle/>
        <a:p>
          <a:endParaRPr lang="en-US"/>
        </a:p>
      </dgm:t>
    </dgm:pt>
    <dgm:pt modelId="{88916B46-69FE-491A-A168-ECAB40DDDE56}">
      <dgm:prSet/>
      <dgm:spPr/>
      <dgm:t>
        <a:bodyPr/>
        <a:lstStyle/>
        <a:p>
          <a:pPr>
            <a:lnSpc>
              <a:spcPct val="100000"/>
            </a:lnSpc>
          </a:pPr>
          <a:r>
            <a:rPr lang="en-AT" dirty="0">
              <a:solidFill>
                <a:schemeClr val="bg1"/>
              </a:solidFill>
            </a:rPr>
            <a:t>The aim of the presentation is to provide a complete beginner with a good understanding of K-Means and to demonstrate where it can / can’t be used effectively in real world analytical scenarios.</a:t>
          </a:r>
          <a:endParaRPr lang="en-US" dirty="0">
            <a:solidFill>
              <a:schemeClr val="bg1"/>
            </a:solidFill>
          </a:endParaRPr>
        </a:p>
      </dgm:t>
    </dgm:pt>
    <dgm:pt modelId="{3ED61FBD-24B5-4AB6-8487-3643F86F5899}" type="parTrans" cxnId="{F7A63EFA-3CE7-453C-8B89-C26AC72022AF}">
      <dgm:prSet/>
      <dgm:spPr/>
      <dgm:t>
        <a:bodyPr/>
        <a:lstStyle/>
        <a:p>
          <a:endParaRPr lang="en-US"/>
        </a:p>
      </dgm:t>
    </dgm:pt>
    <dgm:pt modelId="{9927491E-2D29-4ADE-A159-948F0F2C7E2A}" type="sibTrans" cxnId="{F7A63EFA-3CE7-453C-8B89-C26AC72022AF}">
      <dgm:prSet/>
      <dgm:spPr/>
      <dgm:t>
        <a:bodyPr/>
        <a:lstStyle/>
        <a:p>
          <a:endParaRPr lang="en-US"/>
        </a:p>
      </dgm:t>
    </dgm:pt>
    <dgm:pt modelId="{1BF7F5B1-DFE3-1B47-BE17-91C7A1FEAB5D}" type="pres">
      <dgm:prSet presAssocID="{E41268E9-3852-405B-9D8A-01B2E59CCB6E}" presName="Name0" presStyleCnt="0">
        <dgm:presLayoutVars>
          <dgm:dir/>
          <dgm:resizeHandles val="exact"/>
        </dgm:presLayoutVars>
      </dgm:prSet>
      <dgm:spPr/>
    </dgm:pt>
    <dgm:pt modelId="{C427D1B6-36DC-E84E-B0DF-D80C3C76BBBD}" type="pres">
      <dgm:prSet presAssocID="{228C630B-8192-4F19-AD9E-CCB0D1EFF708}" presName="parAndChTx" presStyleLbl="node1" presStyleIdx="0" presStyleCnt="2">
        <dgm:presLayoutVars>
          <dgm:bulletEnabled val="1"/>
        </dgm:presLayoutVars>
      </dgm:prSet>
      <dgm:spPr/>
    </dgm:pt>
    <dgm:pt modelId="{A3DFCF38-6F25-124F-91B8-0E0750331139}" type="pres">
      <dgm:prSet presAssocID="{DCE37C43-ECDA-469F-8898-82F8C5E8A519}" presName="parAndChSpace" presStyleCnt="0"/>
      <dgm:spPr/>
    </dgm:pt>
    <dgm:pt modelId="{95C9FCD0-983C-7541-A4F4-DEF501F99997}" type="pres">
      <dgm:prSet presAssocID="{88916B46-69FE-491A-A168-ECAB40DDDE56}" presName="parAndChTx" presStyleLbl="node1" presStyleIdx="1" presStyleCnt="2">
        <dgm:presLayoutVars>
          <dgm:bulletEnabled val="1"/>
        </dgm:presLayoutVars>
      </dgm:prSet>
      <dgm:spPr/>
    </dgm:pt>
  </dgm:ptLst>
  <dgm:cxnLst>
    <dgm:cxn modelId="{54DA6B18-FDD9-4F99-A5CD-CFA4BA3A9931}" srcId="{228C630B-8192-4F19-AD9E-CCB0D1EFF708}" destId="{F6FAF768-BF3F-49BE-908F-9760085DD1D4}" srcOrd="2" destOrd="0" parTransId="{37531A30-FB91-4256-915C-00F26294573F}" sibTransId="{830C6DAD-A309-4E5B-8806-E0B6660B2A04}"/>
    <dgm:cxn modelId="{E7261C3A-C50A-6741-BBFA-B2059BC53955}" type="presOf" srcId="{88916B46-69FE-491A-A168-ECAB40DDDE56}" destId="{95C9FCD0-983C-7541-A4F4-DEF501F99997}" srcOrd="0" destOrd="0" presId="urn:microsoft.com/office/officeart/2005/8/layout/hChevron3"/>
    <dgm:cxn modelId="{DE585045-782C-489D-8A10-4FE8457A5A3E}" srcId="{E41268E9-3852-405B-9D8A-01B2E59CCB6E}" destId="{228C630B-8192-4F19-AD9E-CCB0D1EFF708}" srcOrd="0" destOrd="0" parTransId="{A32F08D6-E269-4D0D-908E-2CD882C489E9}" sibTransId="{DCE37C43-ECDA-469F-8898-82F8C5E8A519}"/>
    <dgm:cxn modelId="{904C2252-236A-2841-B653-7A38066C51BA}" type="presOf" srcId="{0425FA30-FFA8-48A6-A7E1-6CD8466CF17E}" destId="{C427D1B6-36DC-E84E-B0DF-D80C3C76BBBD}" srcOrd="0" destOrd="2" presId="urn:microsoft.com/office/officeart/2005/8/layout/hChevron3"/>
    <dgm:cxn modelId="{A0CBDF59-875E-3B45-A3C5-BF4E70A91514}" type="presOf" srcId="{4C496CBF-829C-4C1F-8C5F-CEA93186F474}" destId="{C427D1B6-36DC-E84E-B0DF-D80C3C76BBBD}" srcOrd="0" destOrd="1" presId="urn:microsoft.com/office/officeart/2005/8/layout/hChevron3"/>
    <dgm:cxn modelId="{0832745A-338B-5A40-8275-2B7769A30E72}" type="presOf" srcId="{C043BBDD-AF84-4F22-9B0C-DBB6824C828C}" destId="{C427D1B6-36DC-E84E-B0DF-D80C3C76BBBD}" srcOrd="0" destOrd="4" presId="urn:microsoft.com/office/officeart/2005/8/layout/hChevron3"/>
    <dgm:cxn modelId="{AC470F82-8C0C-4855-8485-69B02DEA66D5}" srcId="{228C630B-8192-4F19-AD9E-CCB0D1EFF708}" destId="{0425FA30-FFA8-48A6-A7E1-6CD8466CF17E}" srcOrd="1" destOrd="0" parTransId="{1283BC18-0371-4BA6-9482-79D6566974EA}" sibTransId="{0D6B3A1C-2E18-4F3D-80E9-08F30E1A0430}"/>
    <dgm:cxn modelId="{4BDADA9F-5011-4347-9948-F649F20A9F37}" srcId="{228C630B-8192-4F19-AD9E-CCB0D1EFF708}" destId="{4C496CBF-829C-4C1F-8C5F-CEA93186F474}" srcOrd="0" destOrd="0" parTransId="{E32003CA-8F23-4AC8-8867-B79E952D4C92}" sibTransId="{2BAE9DC4-9D33-4CB2-8C9C-D92FEA7BD088}"/>
    <dgm:cxn modelId="{9C19A0D6-326B-E34D-8DD4-B312A8F359ED}" type="presOf" srcId="{F6FAF768-BF3F-49BE-908F-9760085DD1D4}" destId="{C427D1B6-36DC-E84E-B0DF-D80C3C76BBBD}" srcOrd="0" destOrd="3" presId="urn:microsoft.com/office/officeart/2005/8/layout/hChevron3"/>
    <dgm:cxn modelId="{EEFC44DA-6B3B-8A48-B9E8-62F222DFD4B8}" type="presOf" srcId="{E41268E9-3852-405B-9D8A-01B2E59CCB6E}" destId="{1BF7F5B1-DFE3-1B47-BE17-91C7A1FEAB5D}" srcOrd="0" destOrd="0" presId="urn:microsoft.com/office/officeart/2005/8/layout/hChevron3"/>
    <dgm:cxn modelId="{9BDFFAE8-286C-44F7-B16A-B024C6BFD89C}" srcId="{228C630B-8192-4F19-AD9E-CCB0D1EFF708}" destId="{C043BBDD-AF84-4F22-9B0C-DBB6824C828C}" srcOrd="3" destOrd="0" parTransId="{EF20DC3B-3EDB-464D-A370-49ED09D59B82}" sibTransId="{CD645BDF-1738-47AF-817D-1BED9A582FE8}"/>
    <dgm:cxn modelId="{6A2615F1-429C-1341-9C5C-088A828FB00C}" type="presOf" srcId="{228C630B-8192-4F19-AD9E-CCB0D1EFF708}" destId="{C427D1B6-36DC-E84E-B0DF-D80C3C76BBBD}" srcOrd="0" destOrd="0" presId="urn:microsoft.com/office/officeart/2005/8/layout/hChevron3"/>
    <dgm:cxn modelId="{F7A63EFA-3CE7-453C-8B89-C26AC72022AF}" srcId="{E41268E9-3852-405B-9D8A-01B2E59CCB6E}" destId="{88916B46-69FE-491A-A168-ECAB40DDDE56}" srcOrd="1" destOrd="0" parTransId="{3ED61FBD-24B5-4AB6-8487-3643F86F5899}" sibTransId="{9927491E-2D29-4ADE-A159-948F0F2C7E2A}"/>
    <dgm:cxn modelId="{640D6F79-49E8-E146-9CE8-718A712EFCDB}" type="presParOf" srcId="{1BF7F5B1-DFE3-1B47-BE17-91C7A1FEAB5D}" destId="{C427D1B6-36DC-E84E-B0DF-D80C3C76BBBD}" srcOrd="0" destOrd="0" presId="urn:microsoft.com/office/officeart/2005/8/layout/hChevron3"/>
    <dgm:cxn modelId="{48562401-77C1-3448-82A0-82BC7C4A6BD8}" type="presParOf" srcId="{1BF7F5B1-DFE3-1B47-BE17-91C7A1FEAB5D}" destId="{A3DFCF38-6F25-124F-91B8-0E0750331139}" srcOrd="1" destOrd="0" presId="urn:microsoft.com/office/officeart/2005/8/layout/hChevron3"/>
    <dgm:cxn modelId="{00582827-811B-C94A-96A6-F547675D79F0}" type="presParOf" srcId="{1BF7F5B1-DFE3-1B47-BE17-91C7A1FEAB5D}" destId="{95C9FCD0-983C-7541-A4F4-DEF501F99997}" srcOrd="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271F94-0B20-4F69-89F1-79D77A6E8B97}" type="doc">
      <dgm:prSet loTypeId="urn:microsoft.com/office/officeart/2008/layout/LinedList" loCatId="list" qsTypeId="urn:microsoft.com/office/officeart/2005/8/quickstyle/simple5" qsCatId="simple" csTypeId="urn:microsoft.com/office/officeart/2005/8/colors/colorful2" csCatId="colorful"/>
      <dgm:spPr/>
      <dgm:t>
        <a:bodyPr/>
        <a:lstStyle/>
        <a:p>
          <a:endParaRPr lang="en-US"/>
        </a:p>
      </dgm:t>
    </dgm:pt>
    <dgm:pt modelId="{008C1912-222E-4AD6-AE7B-04F42921F958}">
      <dgm:prSet/>
      <dgm:spPr/>
      <dgm:t>
        <a:bodyPr/>
        <a:lstStyle/>
        <a:p>
          <a:r>
            <a:rPr lang="en-AT" dirty="0"/>
            <a:t>The structure of the rest of the presentation is as follows:</a:t>
          </a:r>
          <a:endParaRPr lang="en-US" dirty="0"/>
        </a:p>
      </dgm:t>
    </dgm:pt>
    <dgm:pt modelId="{EBE153B4-3DCD-49FC-93E8-179EF199C088}" type="parTrans" cxnId="{39B947B7-136D-4110-807C-DA789300CA71}">
      <dgm:prSet/>
      <dgm:spPr/>
      <dgm:t>
        <a:bodyPr/>
        <a:lstStyle/>
        <a:p>
          <a:endParaRPr lang="en-US"/>
        </a:p>
      </dgm:t>
    </dgm:pt>
    <dgm:pt modelId="{752648AF-4918-4288-8DC2-8E8F15A71D7B}" type="sibTrans" cxnId="{39B947B7-136D-4110-807C-DA789300CA71}">
      <dgm:prSet/>
      <dgm:spPr/>
      <dgm:t>
        <a:bodyPr/>
        <a:lstStyle/>
        <a:p>
          <a:endParaRPr lang="en-US"/>
        </a:p>
      </dgm:t>
    </dgm:pt>
    <dgm:pt modelId="{633060AF-4426-4712-97DA-109933798D60}">
      <dgm:prSet/>
      <dgm:spPr/>
      <dgm:t>
        <a:bodyPr/>
        <a:lstStyle/>
        <a:p>
          <a:r>
            <a:rPr lang="en-AT" dirty="0"/>
            <a:t>Introduction to Learning Paradigms (Supervised vs Unsupervised)</a:t>
          </a:r>
          <a:endParaRPr lang="en-US" dirty="0"/>
        </a:p>
      </dgm:t>
    </dgm:pt>
    <dgm:pt modelId="{6153C608-A085-41EA-AE36-5421E788F7BF}" type="parTrans" cxnId="{F6380DBF-5DE0-4DCA-866C-C661BE5B0A6D}">
      <dgm:prSet/>
      <dgm:spPr/>
      <dgm:t>
        <a:bodyPr/>
        <a:lstStyle/>
        <a:p>
          <a:endParaRPr lang="en-US"/>
        </a:p>
      </dgm:t>
    </dgm:pt>
    <dgm:pt modelId="{99C540DC-6A01-4C33-A3A2-0BAD6E3B35AA}" type="sibTrans" cxnId="{F6380DBF-5DE0-4DCA-866C-C661BE5B0A6D}">
      <dgm:prSet/>
      <dgm:spPr/>
      <dgm:t>
        <a:bodyPr/>
        <a:lstStyle/>
        <a:p>
          <a:endParaRPr lang="en-US"/>
        </a:p>
      </dgm:t>
    </dgm:pt>
    <dgm:pt modelId="{089EAC6E-32F7-4182-9280-2E9449044512}">
      <dgm:prSet/>
      <dgm:spPr/>
      <dgm:t>
        <a:bodyPr/>
        <a:lstStyle/>
        <a:p>
          <a:r>
            <a:rPr lang="en-AT" dirty="0"/>
            <a:t>How K-Means Works</a:t>
          </a:r>
          <a:endParaRPr lang="en-US" dirty="0"/>
        </a:p>
      </dgm:t>
    </dgm:pt>
    <dgm:pt modelId="{CF83E542-C9FE-407A-9FBB-7869B534A5AD}" type="parTrans" cxnId="{7792055D-9765-467F-8683-7EC63442BF27}">
      <dgm:prSet/>
      <dgm:spPr/>
      <dgm:t>
        <a:bodyPr/>
        <a:lstStyle/>
        <a:p>
          <a:endParaRPr lang="en-US"/>
        </a:p>
      </dgm:t>
    </dgm:pt>
    <dgm:pt modelId="{AAD0053F-0A46-4EC2-B222-99337382E3A0}" type="sibTrans" cxnId="{7792055D-9765-467F-8683-7EC63442BF27}">
      <dgm:prSet/>
      <dgm:spPr/>
      <dgm:t>
        <a:bodyPr/>
        <a:lstStyle/>
        <a:p>
          <a:endParaRPr lang="en-US"/>
        </a:p>
      </dgm:t>
    </dgm:pt>
    <dgm:pt modelId="{D58900C7-45EA-4640-8357-C512E3083E36}">
      <dgm:prSet/>
      <dgm:spPr/>
      <dgm:t>
        <a:bodyPr/>
        <a:lstStyle/>
        <a:p>
          <a:r>
            <a:rPr lang="en-AT" dirty="0"/>
            <a:t>A Potential Problem with K-Means</a:t>
          </a:r>
          <a:endParaRPr lang="en-US" dirty="0"/>
        </a:p>
      </dgm:t>
    </dgm:pt>
    <dgm:pt modelId="{719CF607-717A-40BD-AA13-BC7B92F80240}" type="parTrans" cxnId="{FEFF879D-6C3D-4ACE-B5C2-624C2D021CF9}">
      <dgm:prSet/>
      <dgm:spPr/>
      <dgm:t>
        <a:bodyPr/>
        <a:lstStyle/>
        <a:p>
          <a:endParaRPr lang="en-US"/>
        </a:p>
      </dgm:t>
    </dgm:pt>
    <dgm:pt modelId="{534263E7-692B-4D8B-94DD-83A15749F304}" type="sibTrans" cxnId="{FEFF879D-6C3D-4ACE-B5C2-624C2D021CF9}">
      <dgm:prSet/>
      <dgm:spPr/>
      <dgm:t>
        <a:bodyPr/>
        <a:lstStyle/>
        <a:p>
          <a:endParaRPr lang="en-US"/>
        </a:p>
      </dgm:t>
    </dgm:pt>
    <dgm:pt modelId="{6923F5A0-F519-4ABD-803B-41BA480AEC2E}">
      <dgm:prSet/>
      <dgm:spPr/>
      <dgm:t>
        <a:bodyPr/>
        <a:lstStyle/>
        <a:p>
          <a:r>
            <a:rPr lang="en-AT" dirty="0"/>
            <a:t>Real World Applications of K-Means</a:t>
          </a:r>
          <a:endParaRPr lang="en-US" dirty="0"/>
        </a:p>
      </dgm:t>
    </dgm:pt>
    <dgm:pt modelId="{1F45862A-95BF-42F7-8804-2272B113E708}" type="parTrans" cxnId="{CF9A4692-20B2-4DED-990E-5EEB3235A63D}">
      <dgm:prSet/>
      <dgm:spPr/>
      <dgm:t>
        <a:bodyPr/>
        <a:lstStyle/>
        <a:p>
          <a:endParaRPr lang="en-US"/>
        </a:p>
      </dgm:t>
    </dgm:pt>
    <dgm:pt modelId="{28F2A379-20D0-4401-9B4C-F23FC58CD953}" type="sibTrans" cxnId="{CF9A4692-20B2-4DED-990E-5EEB3235A63D}">
      <dgm:prSet/>
      <dgm:spPr/>
      <dgm:t>
        <a:bodyPr/>
        <a:lstStyle/>
        <a:p>
          <a:endParaRPr lang="en-US"/>
        </a:p>
      </dgm:t>
    </dgm:pt>
    <dgm:pt modelId="{01121C3F-88E4-44DF-8C81-8C9D8C71AB84}">
      <dgm:prSet/>
      <dgm:spPr/>
      <dgm:t>
        <a:bodyPr/>
        <a:lstStyle/>
        <a:p>
          <a:r>
            <a:rPr lang="en-AT"/>
            <a:t>Conclusion</a:t>
          </a:r>
          <a:endParaRPr lang="en-US"/>
        </a:p>
      </dgm:t>
    </dgm:pt>
    <dgm:pt modelId="{26949D81-4FA1-4F8E-9A8F-722197E576BE}" type="parTrans" cxnId="{2009C823-F65D-41A4-82AB-0B5DBA34243D}">
      <dgm:prSet/>
      <dgm:spPr/>
      <dgm:t>
        <a:bodyPr/>
        <a:lstStyle/>
        <a:p>
          <a:endParaRPr lang="en-US"/>
        </a:p>
      </dgm:t>
    </dgm:pt>
    <dgm:pt modelId="{4AA833C9-694E-442E-A8A3-2BBF493F0949}" type="sibTrans" cxnId="{2009C823-F65D-41A4-82AB-0B5DBA34243D}">
      <dgm:prSet/>
      <dgm:spPr/>
      <dgm:t>
        <a:bodyPr/>
        <a:lstStyle/>
        <a:p>
          <a:endParaRPr lang="en-US"/>
        </a:p>
      </dgm:t>
    </dgm:pt>
    <dgm:pt modelId="{C0FF1657-88FB-4CED-8FA6-F157FBA3C952}">
      <dgm:prSet/>
      <dgm:spPr/>
      <dgm:t>
        <a:bodyPr/>
        <a:lstStyle/>
        <a:p>
          <a:r>
            <a:rPr lang="en-AT" dirty="0"/>
            <a:t>List of Figures</a:t>
          </a:r>
          <a:endParaRPr lang="en-US" dirty="0"/>
        </a:p>
      </dgm:t>
    </dgm:pt>
    <dgm:pt modelId="{852B1588-B5C3-43FB-8185-E3A9721ADDD7}" type="parTrans" cxnId="{6ACEE385-5FD3-462C-BFF6-7873A5134423}">
      <dgm:prSet/>
      <dgm:spPr/>
      <dgm:t>
        <a:bodyPr/>
        <a:lstStyle/>
        <a:p>
          <a:endParaRPr lang="en-US"/>
        </a:p>
      </dgm:t>
    </dgm:pt>
    <dgm:pt modelId="{7AF6E587-9E48-4DFD-84C9-4ACC5318A891}" type="sibTrans" cxnId="{6ACEE385-5FD3-462C-BFF6-7873A5134423}">
      <dgm:prSet/>
      <dgm:spPr/>
      <dgm:t>
        <a:bodyPr/>
        <a:lstStyle/>
        <a:p>
          <a:endParaRPr lang="en-US"/>
        </a:p>
      </dgm:t>
    </dgm:pt>
    <dgm:pt modelId="{5AD5D1A7-E988-4D96-8374-5EDDC55B40F6}">
      <dgm:prSet/>
      <dgm:spPr/>
      <dgm:t>
        <a:bodyPr/>
        <a:lstStyle/>
        <a:p>
          <a:r>
            <a:rPr lang="en-AT" dirty="0"/>
            <a:t>Bibliography</a:t>
          </a:r>
          <a:endParaRPr lang="en-US" dirty="0"/>
        </a:p>
      </dgm:t>
    </dgm:pt>
    <dgm:pt modelId="{DFB836B4-3ED0-426A-8947-F1F585353A7C}" type="parTrans" cxnId="{D1F49B0A-C38F-4C5C-85EB-8A202DDE4E74}">
      <dgm:prSet/>
      <dgm:spPr/>
      <dgm:t>
        <a:bodyPr/>
        <a:lstStyle/>
        <a:p>
          <a:endParaRPr lang="en-US"/>
        </a:p>
      </dgm:t>
    </dgm:pt>
    <dgm:pt modelId="{B9C0178C-7ADF-4B97-B76C-2F88BEF0EAE8}" type="sibTrans" cxnId="{D1F49B0A-C38F-4C5C-85EB-8A202DDE4E74}">
      <dgm:prSet/>
      <dgm:spPr/>
      <dgm:t>
        <a:bodyPr/>
        <a:lstStyle/>
        <a:p>
          <a:endParaRPr lang="en-US"/>
        </a:p>
      </dgm:t>
    </dgm:pt>
    <dgm:pt modelId="{641F4F9A-1E48-3C40-ACC9-EAAC064EC54D}" type="pres">
      <dgm:prSet presAssocID="{D8271F94-0B20-4F69-89F1-79D77A6E8B97}" presName="vert0" presStyleCnt="0">
        <dgm:presLayoutVars>
          <dgm:dir/>
          <dgm:animOne val="branch"/>
          <dgm:animLvl val="lvl"/>
        </dgm:presLayoutVars>
      </dgm:prSet>
      <dgm:spPr/>
    </dgm:pt>
    <dgm:pt modelId="{A30A8FBA-7166-1244-9B91-A4C4F740783A}" type="pres">
      <dgm:prSet presAssocID="{008C1912-222E-4AD6-AE7B-04F42921F958}" presName="thickLine" presStyleLbl="alignNode1" presStyleIdx="0" presStyleCnt="1"/>
      <dgm:spPr/>
    </dgm:pt>
    <dgm:pt modelId="{61A810BE-7A9E-9647-93CC-5AAC993B067E}" type="pres">
      <dgm:prSet presAssocID="{008C1912-222E-4AD6-AE7B-04F42921F958}" presName="horz1" presStyleCnt="0"/>
      <dgm:spPr/>
    </dgm:pt>
    <dgm:pt modelId="{5615B108-F76F-694E-A7B9-B813D28530BD}" type="pres">
      <dgm:prSet presAssocID="{008C1912-222E-4AD6-AE7B-04F42921F958}" presName="tx1" presStyleLbl="revTx" presStyleIdx="0" presStyleCnt="8"/>
      <dgm:spPr/>
    </dgm:pt>
    <dgm:pt modelId="{6A98239D-765B-F545-B44B-24024CD33956}" type="pres">
      <dgm:prSet presAssocID="{008C1912-222E-4AD6-AE7B-04F42921F958}" presName="vert1" presStyleCnt="0"/>
      <dgm:spPr/>
    </dgm:pt>
    <dgm:pt modelId="{163DE6CA-39F8-DD49-A474-6B73F4BEA45C}" type="pres">
      <dgm:prSet presAssocID="{633060AF-4426-4712-97DA-109933798D60}" presName="vertSpace2a" presStyleCnt="0"/>
      <dgm:spPr/>
    </dgm:pt>
    <dgm:pt modelId="{C00F0ACC-6AEB-3042-942C-BD05B52CF0BB}" type="pres">
      <dgm:prSet presAssocID="{633060AF-4426-4712-97DA-109933798D60}" presName="horz2" presStyleCnt="0"/>
      <dgm:spPr/>
    </dgm:pt>
    <dgm:pt modelId="{F3C24BB8-7E7C-2E4A-BCB1-53C1F6CE867A}" type="pres">
      <dgm:prSet presAssocID="{633060AF-4426-4712-97DA-109933798D60}" presName="horzSpace2" presStyleCnt="0"/>
      <dgm:spPr/>
    </dgm:pt>
    <dgm:pt modelId="{B5DA1DD4-404A-604C-AD8D-814B9B821705}" type="pres">
      <dgm:prSet presAssocID="{633060AF-4426-4712-97DA-109933798D60}" presName="tx2" presStyleLbl="revTx" presStyleIdx="1" presStyleCnt="8"/>
      <dgm:spPr/>
    </dgm:pt>
    <dgm:pt modelId="{09B99FB0-2309-194D-9A96-4DE8857A7A94}" type="pres">
      <dgm:prSet presAssocID="{633060AF-4426-4712-97DA-109933798D60}" presName="vert2" presStyleCnt="0"/>
      <dgm:spPr/>
    </dgm:pt>
    <dgm:pt modelId="{E18BEC52-3031-0A4B-9F21-A904B0B4B4D8}" type="pres">
      <dgm:prSet presAssocID="{633060AF-4426-4712-97DA-109933798D60}" presName="thinLine2b" presStyleLbl="callout" presStyleIdx="0" presStyleCnt="7"/>
      <dgm:spPr/>
    </dgm:pt>
    <dgm:pt modelId="{8B74D884-31DF-FE46-8E9C-DD70FFDAAD14}" type="pres">
      <dgm:prSet presAssocID="{633060AF-4426-4712-97DA-109933798D60}" presName="vertSpace2b" presStyleCnt="0"/>
      <dgm:spPr/>
    </dgm:pt>
    <dgm:pt modelId="{6CE76CB3-3CFF-8B43-ABD8-003F16B9458F}" type="pres">
      <dgm:prSet presAssocID="{089EAC6E-32F7-4182-9280-2E9449044512}" presName="horz2" presStyleCnt="0"/>
      <dgm:spPr/>
    </dgm:pt>
    <dgm:pt modelId="{78008794-2953-0E4C-B719-2EE31C9EC83E}" type="pres">
      <dgm:prSet presAssocID="{089EAC6E-32F7-4182-9280-2E9449044512}" presName="horzSpace2" presStyleCnt="0"/>
      <dgm:spPr/>
    </dgm:pt>
    <dgm:pt modelId="{4998A021-007B-8947-A403-DAB9CC8D4195}" type="pres">
      <dgm:prSet presAssocID="{089EAC6E-32F7-4182-9280-2E9449044512}" presName="tx2" presStyleLbl="revTx" presStyleIdx="2" presStyleCnt="8"/>
      <dgm:spPr/>
    </dgm:pt>
    <dgm:pt modelId="{F7554B7C-E6D9-624E-BF98-8BBB6E0A1493}" type="pres">
      <dgm:prSet presAssocID="{089EAC6E-32F7-4182-9280-2E9449044512}" presName="vert2" presStyleCnt="0"/>
      <dgm:spPr/>
    </dgm:pt>
    <dgm:pt modelId="{70B3299B-D0F5-0645-BDC5-22E6C74C3BD0}" type="pres">
      <dgm:prSet presAssocID="{089EAC6E-32F7-4182-9280-2E9449044512}" presName="thinLine2b" presStyleLbl="callout" presStyleIdx="1" presStyleCnt="7"/>
      <dgm:spPr/>
    </dgm:pt>
    <dgm:pt modelId="{7BC90D9D-4FC8-D847-A65B-30D24AC611B9}" type="pres">
      <dgm:prSet presAssocID="{089EAC6E-32F7-4182-9280-2E9449044512}" presName="vertSpace2b" presStyleCnt="0"/>
      <dgm:spPr/>
    </dgm:pt>
    <dgm:pt modelId="{15F214B5-0B5D-D149-BC16-3958BD1CA25A}" type="pres">
      <dgm:prSet presAssocID="{D58900C7-45EA-4640-8357-C512E3083E36}" presName="horz2" presStyleCnt="0"/>
      <dgm:spPr/>
    </dgm:pt>
    <dgm:pt modelId="{571AD6B2-52F6-3046-9F39-3E705EE87059}" type="pres">
      <dgm:prSet presAssocID="{D58900C7-45EA-4640-8357-C512E3083E36}" presName="horzSpace2" presStyleCnt="0"/>
      <dgm:spPr/>
    </dgm:pt>
    <dgm:pt modelId="{F1D12195-90F3-C242-949B-A3EE7C79F3C4}" type="pres">
      <dgm:prSet presAssocID="{D58900C7-45EA-4640-8357-C512E3083E36}" presName="tx2" presStyleLbl="revTx" presStyleIdx="3" presStyleCnt="8"/>
      <dgm:spPr/>
    </dgm:pt>
    <dgm:pt modelId="{C2B70CF9-69B7-7344-B452-A795BA04F90C}" type="pres">
      <dgm:prSet presAssocID="{D58900C7-45EA-4640-8357-C512E3083E36}" presName="vert2" presStyleCnt="0"/>
      <dgm:spPr/>
    </dgm:pt>
    <dgm:pt modelId="{00091FD6-D32E-0C4B-AD15-F3E82A21E84F}" type="pres">
      <dgm:prSet presAssocID="{D58900C7-45EA-4640-8357-C512E3083E36}" presName="thinLine2b" presStyleLbl="callout" presStyleIdx="2" presStyleCnt="7"/>
      <dgm:spPr/>
    </dgm:pt>
    <dgm:pt modelId="{F3DB6EE1-3620-4540-81C4-1D0695E44EB8}" type="pres">
      <dgm:prSet presAssocID="{D58900C7-45EA-4640-8357-C512E3083E36}" presName="vertSpace2b" presStyleCnt="0"/>
      <dgm:spPr/>
    </dgm:pt>
    <dgm:pt modelId="{8641D47B-E27F-C548-A8FE-32B5A0B4139E}" type="pres">
      <dgm:prSet presAssocID="{6923F5A0-F519-4ABD-803B-41BA480AEC2E}" presName="horz2" presStyleCnt="0"/>
      <dgm:spPr/>
    </dgm:pt>
    <dgm:pt modelId="{7F0B5A8F-AB06-1448-A59B-3CF0EF8F9209}" type="pres">
      <dgm:prSet presAssocID="{6923F5A0-F519-4ABD-803B-41BA480AEC2E}" presName="horzSpace2" presStyleCnt="0"/>
      <dgm:spPr/>
    </dgm:pt>
    <dgm:pt modelId="{BA658034-3ADD-E840-A067-8452513079C3}" type="pres">
      <dgm:prSet presAssocID="{6923F5A0-F519-4ABD-803B-41BA480AEC2E}" presName="tx2" presStyleLbl="revTx" presStyleIdx="4" presStyleCnt="8"/>
      <dgm:spPr/>
    </dgm:pt>
    <dgm:pt modelId="{70025B84-FC32-914C-BA13-72CE49D416BD}" type="pres">
      <dgm:prSet presAssocID="{6923F5A0-F519-4ABD-803B-41BA480AEC2E}" presName="vert2" presStyleCnt="0"/>
      <dgm:spPr/>
    </dgm:pt>
    <dgm:pt modelId="{1A156E61-7614-5848-A6C4-97E27634E1DD}" type="pres">
      <dgm:prSet presAssocID="{6923F5A0-F519-4ABD-803B-41BA480AEC2E}" presName="thinLine2b" presStyleLbl="callout" presStyleIdx="3" presStyleCnt="7"/>
      <dgm:spPr/>
    </dgm:pt>
    <dgm:pt modelId="{63FDDDCB-ABAF-6140-93F9-BEE4BC1A80D7}" type="pres">
      <dgm:prSet presAssocID="{6923F5A0-F519-4ABD-803B-41BA480AEC2E}" presName="vertSpace2b" presStyleCnt="0"/>
      <dgm:spPr/>
    </dgm:pt>
    <dgm:pt modelId="{B59DF78C-F4BE-1E42-8363-6448062B660B}" type="pres">
      <dgm:prSet presAssocID="{01121C3F-88E4-44DF-8C81-8C9D8C71AB84}" presName="horz2" presStyleCnt="0"/>
      <dgm:spPr/>
    </dgm:pt>
    <dgm:pt modelId="{E9E295F6-9186-9A4C-9C35-00A5097C38B8}" type="pres">
      <dgm:prSet presAssocID="{01121C3F-88E4-44DF-8C81-8C9D8C71AB84}" presName="horzSpace2" presStyleCnt="0"/>
      <dgm:spPr/>
    </dgm:pt>
    <dgm:pt modelId="{CE1B47F5-7484-8E48-A48D-3E7CB4C9A0B5}" type="pres">
      <dgm:prSet presAssocID="{01121C3F-88E4-44DF-8C81-8C9D8C71AB84}" presName="tx2" presStyleLbl="revTx" presStyleIdx="5" presStyleCnt="8"/>
      <dgm:spPr/>
    </dgm:pt>
    <dgm:pt modelId="{18D68B9C-9B8C-0C49-B996-9B757987BCFC}" type="pres">
      <dgm:prSet presAssocID="{01121C3F-88E4-44DF-8C81-8C9D8C71AB84}" presName="vert2" presStyleCnt="0"/>
      <dgm:spPr/>
    </dgm:pt>
    <dgm:pt modelId="{5D68AAE2-73F8-D34C-B583-BD300291DA91}" type="pres">
      <dgm:prSet presAssocID="{01121C3F-88E4-44DF-8C81-8C9D8C71AB84}" presName="thinLine2b" presStyleLbl="callout" presStyleIdx="4" presStyleCnt="7"/>
      <dgm:spPr/>
    </dgm:pt>
    <dgm:pt modelId="{A4B4AE58-EB66-1644-AE1F-5A4179582DA0}" type="pres">
      <dgm:prSet presAssocID="{01121C3F-88E4-44DF-8C81-8C9D8C71AB84}" presName="vertSpace2b" presStyleCnt="0"/>
      <dgm:spPr/>
    </dgm:pt>
    <dgm:pt modelId="{66AB6A79-CE71-5F46-98A1-EA56A4B09C8F}" type="pres">
      <dgm:prSet presAssocID="{C0FF1657-88FB-4CED-8FA6-F157FBA3C952}" presName="horz2" presStyleCnt="0"/>
      <dgm:spPr/>
    </dgm:pt>
    <dgm:pt modelId="{A7D652CE-9D06-F44E-ADCE-5CF68F4C794E}" type="pres">
      <dgm:prSet presAssocID="{C0FF1657-88FB-4CED-8FA6-F157FBA3C952}" presName="horzSpace2" presStyleCnt="0"/>
      <dgm:spPr/>
    </dgm:pt>
    <dgm:pt modelId="{BEA1B6E1-D22B-AA45-9F11-63F696087834}" type="pres">
      <dgm:prSet presAssocID="{C0FF1657-88FB-4CED-8FA6-F157FBA3C952}" presName="tx2" presStyleLbl="revTx" presStyleIdx="6" presStyleCnt="8"/>
      <dgm:spPr/>
    </dgm:pt>
    <dgm:pt modelId="{2D3FC035-391E-DA48-B3FA-205FABD8FEE4}" type="pres">
      <dgm:prSet presAssocID="{C0FF1657-88FB-4CED-8FA6-F157FBA3C952}" presName="vert2" presStyleCnt="0"/>
      <dgm:spPr/>
    </dgm:pt>
    <dgm:pt modelId="{005F4345-26B0-0148-9CA5-658BDB88839F}" type="pres">
      <dgm:prSet presAssocID="{C0FF1657-88FB-4CED-8FA6-F157FBA3C952}" presName="thinLine2b" presStyleLbl="callout" presStyleIdx="5" presStyleCnt="7"/>
      <dgm:spPr/>
    </dgm:pt>
    <dgm:pt modelId="{440D4A9F-2EB4-5143-BE00-1D35B0E5D32F}" type="pres">
      <dgm:prSet presAssocID="{C0FF1657-88FB-4CED-8FA6-F157FBA3C952}" presName="vertSpace2b" presStyleCnt="0"/>
      <dgm:spPr/>
    </dgm:pt>
    <dgm:pt modelId="{844EEFEB-5405-A849-83A2-34C118207D33}" type="pres">
      <dgm:prSet presAssocID="{5AD5D1A7-E988-4D96-8374-5EDDC55B40F6}" presName="horz2" presStyleCnt="0"/>
      <dgm:spPr/>
    </dgm:pt>
    <dgm:pt modelId="{99E52E0E-9D9E-2A40-B680-0E26A3471BA3}" type="pres">
      <dgm:prSet presAssocID="{5AD5D1A7-E988-4D96-8374-5EDDC55B40F6}" presName="horzSpace2" presStyleCnt="0"/>
      <dgm:spPr/>
    </dgm:pt>
    <dgm:pt modelId="{774E7656-FDF9-ED47-98D8-76F89D9B483F}" type="pres">
      <dgm:prSet presAssocID="{5AD5D1A7-E988-4D96-8374-5EDDC55B40F6}" presName="tx2" presStyleLbl="revTx" presStyleIdx="7" presStyleCnt="8"/>
      <dgm:spPr/>
    </dgm:pt>
    <dgm:pt modelId="{A2D40BF3-3A1F-D043-BEC6-ED9DC873E2AF}" type="pres">
      <dgm:prSet presAssocID="{5AD5D1A7-E988-4D96-8374-5EDDC55B40F6}" presName="vert2" presStyleCnt="0"/>
      <dgm:spPr/>
    </dgm:pt>
    <dgm:pt modelId="{AE4CAC43-E154-DF41-8BDB-050E6DBD2F65}" type="pres">
      <dgm:prSet presAssocID="{5AD5D1A7-E988-4D96-8374-5EDDC55B40F6}" presName="thinLine2b" presStyleLbl="callout" presStyleIdx="6" presStyleCnt="7"/>
      <dgm:spPr/>
    </dgm:pt>
    <dgm:pt modelId="{8AA72802-10AE-3144-A0D2-1AA2CD8CC2B1}" type="pres">
      <dgm:prSet presAssocID="{5AD5D1A7-E988-4D96-8374-5EDDC55B40F6}" presName="vertSpace2b" presStyleCnt="0"/>
      <dgm:spPr/>
    </dgm:pt>
  </dgm:ptLst>
  <dgm:cxnLst>
    <dgm:cxn modelId="{D1F49B0A-C38F-4C5C-85EB-8A202DDE4E74}" srcId="{008C1912-222E-4AD6-AE7B-04F42921F958}" destId="{5AD5D1A7-E988-4D96-8374-5EDDC55B40F6}" srcOrd="6" destOrd="0" parTransId="{DFB836B4-3ED0-426A-8947-F1F585353A7C}" sibTransId="{B9C0178C-7ADF-4B97-B76C-2F88BEF0EAE8}"/>
    <dgm:cxn modelId="{2009C823-F65D-41A4-82AB-0B5DBA34243D}" srcId="{008C1912-222E-4AD6-AE7B-04F42921F958}" destId="{01121C3F-88E4-44DF-8C81-8C9D8C71AB84}" srcOrd="4" destOrd="0" parTransId="{26949D81-4FA1-4F8E-9A8F-722197E576BE}" sibTransId="{4AA833C9-694E-442E-A8A3-2BBF493F0949}"/>
    <dgm:cxn modelId="{93D92D3C-5B0F-0948-9009-5A57406D9EC4}" type="presOf" srcId="{D8271F94-0B20-4F69-89F1-79D77A6E8B97}" destId="{641F4F9A-1E48-3C40-ACC9-EAAC064EC54D}" srcOrd="0" destOrd="0" presId="urn:microsoft.com/office/officeart/2008/layout/LinedList"/>
    <dgm:cxn modelId="{86F0413E-250E-7142-A3A1-5A24B92C313B}" type="presOf" srcId="{C0FF1657-88FB-4CED-8FA6-F157FBA3C952}" destId="{BEA1B6E1-D22B-AA45-9F11-63F696087834}" srcOrd="0" destOrd="0" presId="urn:microsoft.com/office/officeart/2008/layout/LinedList"/>
    <dgm:cxn modelId="{7792055D-9765-467F-8683-7EC63442BF27}" srcId="{008C1912-222E-4AD6-AE7B-04F42921F958}" destId="{089EAC6E-32F7-4182-9280-2E9449044512}" srcOrd="1" destOrd="0" parTransId="{CF83E542-C9FE-407A-9FBB-7869B534A5AD}" sibTransId="{AAD0053F-0A46-4EC2-B222-99337382E3A0}"/>
    <dgm:cxn modelId="{BB6B0963-2D26-5F4A-8ADA-EC2300354B6A}" type="presOf" srcId="{5AD5D1A7-E988-4D96-8374-5EDDC55B40F6}" destId="{774E7656-FDF9-ED47-98D8-76F89D9B483F}" srcOrd="0" destOrd="0" presId="urn:microsoft.com/office/officeart/2008/layout/LinedList"/>
    <dgm:cxn modelId="{6ACEE385-5FD3-462C-BFF6-7873A5134423}" srcId="{008C1912-222E-4AD6-AE7B-04F42921F958}" destId="{C0FF1657-88FB-4CED-8FA6-F157FBA3C952}" srcOrd="5" destOrd="0" parTransId="{852B1588-B5C3-43FB-8185-E3A9721ADDD7}" sibTransId="{7AF6E587-9E48-4DFD-84C9-4ACC5318A891}"/>
    <dgm:cxn modelId="{CF9A4692-20B2-4DED-990E-5EEB3235A63D}" srcId="{008C1912-222E-4AD6-AE7B-04F42921F958}" destId="{6923F5A0-F519-4ABD-803B-41BA480AEC2E}" srcOrd="3" destOrd="0" parTransId="{1F45862A-95BF-42F7-8804-2272B113E708}" sibTransId="{28F2A379-20D0-4401-9B4C-F23FC58CD953}"/>
    <dgm:cxn modelId="{77951594-4D3F-344F-AF73-4899B44A0D75}" type="presOf" srcId="{008C1912-222E-4AD6-AE7B-04F42921F958}" destId="{5615B108-F76F-694E-A7B9-B813D28530BD}" srcOrd="0" destOrd="0" presId="urn:microsoft.com/office/officeart/2008/layout/LinedList"/>
    <dgm:cxn modelId="{DAF1F099-E49F-3A43-8DAD-6EEFFBEE5006}" type="presOf" srcId="{633060AF-4426-4712-97DA-109933798D60}" destId="{B5DA1DD4-404A-604C-AD8D-814B9B821705}" srcOrd="0" destOrd="0" presId="urn:microsoft.com/office/officeart/2008/layout/LinedList"/>
    <dgm:cxn modelId="{FEFF879D-6C3D-4ACE-B5C2-624C2D021CF9}" srcId="{008C1912-222E-4AD6-AE7B-04F42921F958}" destId="{D58900C7-45EA-4640-8357-C512E3083E36}" srcOrd="2" destOrd="0" parTransId="{719CF607-717A-40BD-AA13-BC7B92F80240}" sibTransId="{534263E7-692B-4D8B-94DD-83A15749F304}"/>
    <dgm:cxn modelId="{28C7F9A5-CA63-FE48-AE3C-A199856A0763}" type="presOf" srcId="{089EAC6E-32F7-4182-9280-2E9449044512}" destId="{4998A021-007B-8947-A403-DAB9CC8D4195}" srcOrd="0" destOrd="0" presId="urn:microsoft.com/office/officeart/2008/layout/LinedList"/>
    <dgm:cxn modelId="{39B947B7-136D-4110-807C-DA789300CA71}" srcId="{D8271F94-0B20-4F69-89F1-79D77A6E8B97}" destId="{008C1912-222E-4AD6-AE7B-04F42921F958}" srcOrd="0" destOrd="0" parTransId="{EBE153B4-3DCD-49FC-93E8-179EF199C088}" sibTransId="{752648AF-4918-4288-8DC2-8E8F15A71D7B}"/>
    <dgm:cxn modelId="{F6380DBF-5DE0-4DCA-866C-C661BE5B0A6D}" srcId="{008C1912-222E-4AD6-AE7B-04F42921F958}" destId="{633060AF-4426-4712-97DA-109933798D60}" srcOrd="0" destOrd="0" parTransId="{6153C608-A085-41EA-AE36-5421E788F7BF}" sibTransId="{99C540DC-6A01-4C33-A3A2-0BAD6E3B35AA}"/>
    <dgm:cxn modelId="{714FCEE9-16A6-3F4A-B38A-92BF779AC943}" type="presOf" srcId="{01121C3F-88E4-44DF-8C81-8C9D8C71AB84}" destId="{CE1B47F5-7484-8E48-A48D-3E7CB4C9A0B5}" srcOrd="0" destOrd="0" presId="urn:microsoft.com/office/officeart/2008/layout/LinedList"/>
    <dgm:cxn modelId="{960F1AEA-0956-E148-8944-438D52DA259B}" type="presOf" srcId="{D58900C7-45EA-4640-8357-C512E3083E36}" destId="{F1D12195-90F3-C242-949B-A3EE7C79F3C4}" srcOrd="0" destOrd="0" presId="urn:microsoft.com/office/officeart/2008/layout/LinedList"/>
    <dgm:cxn modelId="{8E7B63FF-0AE8-E04F-BBB2-B658DC5F0CA8}" type="presOf" srcId="{6923F5A0-F519-4ABD-803B-41BA480AEC2E}" destId="{BA658034-3ADD-E840-A067-8452513079C3}" srcOrd="0" destOrd="0" presId="urn:microsoft.com/office/officeart/2008/layout/LinedList"/>
    <dgm:cxn modelId="{BE4D55AA-E134-2C4B-85D3-7F0D1F50349A}" type="presParOf" srcId="{641F4F9A-1E48-3C40-ACC9-EAAC064EC54D}" destId="{A30A8FBA-7166-1244-9B91-A4C4F740783A}" srcOrd="0" destOrd="0" presId="urn:microsoft.com/office/officeart/2008/layout/LinedList"/>
    <dgm:cxn modelId="{6EC94293-C271-0F4A-AFA1-E150A00145F0}" type="presParOf" srcId="{641F4F9A-1E48-3C40-ACC9-EAAC064EC54D}" destId="{61A810BE-7A9E-9647-93CC-5AAC993B067E}" srcOrd="1" destOrd="0" presId="urn:microsoft.com/office/officeart/2008/layout/LinedList"/>
    <dgm:cxn modelId="{CF25B587-6F28-1048-97D2-37F381603A8A}" type="presParOf" srcId="{61A810BE-7A9E-9647-93CC-5AAC993B067E}" destId="{5615B108-F76F-694E-A7B9-B813D28530BD}" srcOrd="0" destOrd="0" presId="urn:microsoft.com/office/officeart/2008/layout/LinedList"/>
    <dgm:cxn modelId="{D6E53D6A-FB1C-0B4C-BBBB-A989DF3F4FAF}" type="presParOf" srcId="{61A810BE-7A9E-9647-93CC-5AAC993B067E}" destId="{6A98239D-765B-F545-B44B-24024CD33956}" srcOrd="1" destOrd="0" presId="urn:microsoft.com/office/officeart/2008/layout/LinedList"/>
    <dgm:cxn modelId="{FEEA0F66-621B-1042-9B5A-F4B796A52111}" type="presParOf" srcId="{6A98239D-765B-F545-B44B-24024CD33956}" destId="{163DE6CA-39F8-DD49-A474-6B73F4BEA45C}" srcOrd="0" destOrd="0" presId="urn:microsoft.com/office/officeart/2008/layout/LinedList"/>
    <dgm:cxn modelId="{7AC8BE94-94DA-5340-B969-F6D23D14893E}" type="presParOf" srcId="{6A98239D-765B-F545-B44B-24024CD33956}" destId="{C00F0ACC-6AEB-3042-942C-BD05B52CF0BB}" srcOrd="1" destOrd="0" presId="urn:microsoft.com/office/officeart/2008/layout/LinedList"/>
    <dgm:cxn modelId="{0398ACB9-DF6C-494E-A059-96713B234990}" type="presParOf" srcId="{C00F0ACC-6AEB-3042-942C-BD05B52CF0BB}" destId="{F3C24BB8-7E7C-2E4A-BCB1-53C1F6CE867A}" srcOrd="0" destOrd="0" presId="urn:microsoft.com/office/officeart/2008/layout/LinedList"/>
    <dgm:cxn modelId="{BABBFD8B-FCC8-6B4D-BE39-3483BD70B0D7}" type="presParOf" srcId="{C00F0ACC-6AEB-3042-942C-BD05B52CF0BB}" destId="{B5DA1DD4-404A-604C-AD8D-814B9B821705}" srcOrd="1" destOrd="0" presId="urn:microsoft.com/office/officeart/2008/layout/LinedList"/>
    <dgm:cxn modelId="{67B6FE8A-FC3F-D54E-A298-DC93875343A7}" type="presParOf" srcId="{C00F0ACC-6AEB-3042-942C-BD05B52CF0BB}" destId="{09B99FB0-2309-194D-9A96-4DE8857A7A94}" srcOrd="2" destOrd="0" presId="urn:microsoft.com/office/officeart/2008/layout/LinedList"/>
    <dgm:cxn modelId="{D6A2AA58-6D14-0D42-9CE2-06C91FAD5FAC}" type="presParOf" srcId="{6A98239D-765B-F545-B44B-24024CD33956}" destId="{E18BEC52-3031-0A4B-9F21-A904B0B4B4D8}" srcOrd="2" destOrd="0" presId="urn:microsoft.com/office/officeart/2008/layout/LinedList"/>
    <dgm:cxn modelId="{2CC3288F-10D4-8044-9A6B-3A08E549830A}" type="presParOf" srcId="{6A98239D-765B-F545-B44B-24024CD33956}" destId="{8B74D884-31DF-FE46-8E9C-DD70FFDAAD14}" srcOrd="3" destOrd="0" presId="urn:microsoft.com/office/officeart/2008/layout/LinedList"/>
    <dgm:cxn modelId="{53B41203-B87F-1E46-9AAF-03AFAB1A27E2}" type="presParOf" srcId="{6A98239D-765B-F545-B44B-24024CD33956}" destId="{6CE76CB3-3CFF-8B43-ABD8-003F16B9458F}" srcOrd="4" destOrd="0" presId="urn:microsoft.com/office/officeart/2008/layout/LinedList"/>
    <dgm:cxn modelId="{E4AD5E6E-F785-1748-A541-8435BB6F691C}" type="presParOf" srcId="{6CE76CB3-3CFF-8B43-ABD8-003F16B9458F}" destId="{78008794-2953-0E4C-B719-2EE31C9EC83E}" srcOrd="0" destOrd="0" presId="urn:microsoft.com/office/officeart/2008/layout/LinedList"/>
    <dgm:cxn modelId="{ECA1320C-A584-D943-9D91-0C521074D17F}" type="presParOf" srcId="{6CE76CB3-3CFF-8B43-ABD8-003F16B9458F}" destId="{4998A021-007B-8947-A403-DAB9CC8D4195}" srcOrd="1" destOrd="0" presId="urn:microsoft.com/office/officeart/2008/layout/LinedList"/>
    <dgm:cxn modelId="{798471A4-3102-FF45-8D3C-26ED61F6BAA9}" type="presParOf" srcId="{6CE76CB3-3CFF-8B43-ABD8-003F16B9458F}" destId="{F7554B7C-E6D9-624E-BF98-8BBB6E0A1493}" srcOrd="2" destOrd="0" presId="urn:microsoft.com/office/officeart/2008/layout/LinedList"/>
    <dgm:cxn modelId="{A00C40E1-D056-184B-893D-9BF2CEA26AD2}" type="presParOf" srcId="{6A98239D-765B-F545-B44B-24024CD33956}" destId="{70B3299B-D0F5-0645-BDC5-22E6C74C3BD0}" srcOrd="5" destOrd="0" presId="urn:microsoft.com/office/officeart/2008/layout/LinedList"/>
    <dgm:cxn modelId="{49CA5CD4-FC0C-4F4F-8E0A-1D299F38DE6D}" type="presParOf" srcId="{6A98239D-765B-F545-B44B-24024CD33956}" destId="{7BC90D9D-4FC8-D847-A65B-30D24AC611B9}" srcOrd="6" destOrd="0" presId="urn:microsoft.com/office/officeart/2008/layout/LinedList"/>
    <dgm:cxn modelId="{4CF4B209-72C3-534A-80AA-5913590076BE}" type="presParOf" srcId="{6A98239D-765B-F545-B44B-24024CD33956}" destId="{15F214B5-0B5D-D149-BC16-3958BD1CA25A}" srcOrd="7" destOrd="0" presId="urn:microsoft.com/office/officeart/2008/layout/LinedList"/>
    <dgm:cxn modelId="{7005C01E-29E8-C742-8035-E02B0F55D2B7}" type="presParOf" srcId="{15F214B5-0B5D-D149-BC16-3958BD1CA25A}" destId="{571AD6B2-52F6-3046-9F39-3E705EE87059}" srcOrd="0" destOrd="0" presId="urn:microsoft.com/office/officeart/2008/layout/LinedList"/>
    <dgm:cxn modelId="{EB1102BC-8047-E542-AF66-35A1149F20C9}" type="presParOf" srcId="{15F214B5-0B5D-D149-BC16-3958BD1CA25A}" destId="{F1D12195-90F3-C242-949B-A3EE7C79F3C4}" srcOrd="1" destOrd="0" presId="urn:microsoft.com/office/officeart/2008/layout/LinedList"/>
    <dgm:cxn modelId="{6E0D1A1F-2FF8-7B48-AF32-029CF5F8821B}" type="presParOf" srcId="{15F214B5-0B5D-D149-BC16-3958BD1CA25A}" destId="{C2B70CF9-69B7-7344-B452-A795BA04F90C}" srcOrd="2" destOrd="0" presId="urn:microsoft.com/office/officeart/2008/layout/LinedList"/>
    <dgm:cxn modelId="{6A88A47B-4E33-0F4F-BEF9-30937AFC6A1C}" type="presParOf" srcId="{6A98239D-765B-F545-B44B-24024CD33956}" destId="{00091FD6-D32E-0C4B-AD15-F3E82A21E84F}" srcOrd="8" destOrd="0" presId="urn:microsoft.com/office/officeart/2008/layout/LinedList"/>
    <dgm:cxn modelId="{8A0D7091-F104-504B-9F44-4D0A76713FF9}" type="presParOf" srcId="{6A98239D-765B-F545-B44B-24024CD33956}" destId="{F3DB6EE1-3620-4540-81C4-1D0695E44EB8}" srcOrd="9" destOrd="0" presId="urn:microsoft.com/office/officeart/2008/layout/LinedList"/>
    <dgm:cxn modelId="{1C86B51E-0B79-0645-8491-BC1E913531E7}" type="presParOf" srcId="{6A98239D-765B-F545-B44B-24024CD33956}" destId="{8641D47B-E27F-C548-A8FE-32B5A0B4139E}" srcOrd="10" destOrd="0" presId="urn:microsoft.com/office/officeart/2008/layout/LinedList"/>
    <dgm:cxn modelId="{8C7EAC23-CCE3-B24E-A622-187843111EB5}" type="presParOf" srcId="{8641D47B-E27F-C548-A8FE-32B5A0B4139E}" destId="{7F0B5A8F-AB06-1448-A59B-3CF0EF8F9209}" srcOrd="0" destOrd="0" presId="urn:microsoft.com/office/officeart/2008/layout/LinedList"/>
    <dgm:cxn modelId="{FDCDD4ED-93B9-CF47-BC06-0B84D2AFD473}" type="presParOf" srcId="{8641D47B-E27F-C548-A8FE-32B5A0B4139E}" destId="{BA658034-3ADD-E840-A067-8452513079C3}" srcOrd="1" destOrd="0" presId="urn:microsoft.com/office/officeart/2008/layout/LinedList"/>
    <dgm:cxn modelId="{84CAD507-B15E-AE40-8AFB-0C471E43665A}" type="presParOf" srcId="{8641D47B-E27F-C548-A8FE-32B5A0B4139E}" destId="{70025B84-FC32-914C-BA13-72CE49D416BD}" srcOrd="2" destOrd="0" presId="urn:microsoft.com/office/officeart/2008/layout/LinedList"/>
    <dgm:cxn modelId="{F25554C9-3185-7F4A-A533-A20A25EE4E77}" type="presParOf" srcId="{6A98239D-765B-F545-B44B-24024CD33956}" destId="{1A156E61-7614-5848-A6C4-97E27634E1DD}" srcOrd="11" destOrd="0" presId="urn:microsoft.com/office/officeart/2008/layout/LinedList"/>
    <dgm:cxn modelId="{C7AC9D17-2E88-9B49-B6D8-3DA25ECCBFD3}" type="presParOf" srcId="{6A98239D-765B-F545-B44B-24024CD33956}" destId="{63FDDDCB-ABAF-6140-93F9-BEE4BC1A80D7}" srcOrd="12" destOrd="0" presId="urn:microsoft.com/office/officeart/2008/layout/LinedList"/>
    <dgm:cxn modelId="{ECC2015B-6A96-9B41-BDD9-801BB2B8E8E0}" type="presParOf" srcId="{6A98239D-765B-F545-B44B-24024CD33956}" destId="{B59DF78C-F4BE-1E42-8363-6448062B660B}" srcOrd="13" destOrd="0" presId="urn:microsoft.com/office/officeart/2008/layout/LinedList"/>
    <dgm:cxn modelId="{3D9E540A-3DF7-B546-B4DC-F5A2ADAD4FF0}" type="presParOf" srcId="{B59DF78C-F4BE-1E42-8363-6448062B660B}" destId="{E9E295F6-9186-9A4C-9C35-00A5097C38B8}" srcOrd="0" destOrd="0" presId="urn:microsoft.com/office/officeart/2008/layout/LinedList"/>
    <dgm:cxn modelId="{8930E7F6-B7AB-2248-B032-142AFAA47609}" type="presParOf" srcId="{B59DF78C-F4BE-1E42-8363-6448062B660B}" destId="{CE1B47F5-7484-8E48-A48D-3E7CB4C9A0B5}" srcOrd="1" destOrd="0" presId="urn:microsoft.com/office/officeart/2008/layout/LinedList"/>
    <dgm:cxn modelId="{7A2D60E8-037E-FF4A-8780-CD067ADE7EC6}" type="presParOf" srcId="{B59DF78C-F4BE-1E42-8363-6448062B660B}" destId="{18D68B9C-9B8C-0C49-B996-9B757987BCFC}" srcOrd="2" destOrd="0" presId="urn:microsoft.com/office/officeart/2008/layout/LinedList"/>
    <dgm:cxn modelId="{35F9DDC6-F1C1-FA4D-A7AE-A803347B5A02}" type="presParOf" srcId="{6A98239D-765B-F545-B44B-24024CD33956}" destId="{5D68AAE2-73F8-D34C-B583-BD300291DA91}" srcOrd="14" destOrd="0" presId="urn:microsoft.com/office/officeart/2008/layout/LinedList"/>
    <dgm:cxn modelId="{6809574C-E9C3-CE4E-85C2-4019C6D3B376}" type="presParOf" srcId="{6A98239D-765B-F545-B44B-24024CD33956}" destId="{A4B4AE58-EB66-1644-AE1F-5A4179582DA0}" srcOrd="15" destOrd="0" presId="urn:microsoft.com/office/officeart/2008/layout/LinedList"/>
    <dgm:cxn modelId="{9F4BDB1C-9E05-9145-B072-48880B153FD0}" type="presParOf" srcId="{6A98239D-765B-F545-B44B-24024CD33956}" destId="{66AB6A79-CE71-5F46-98A1-EA56A4B09C8F}" srcOrd="16" destOrd="0" presId="urn:microsoft.com/office/officeart/2008/layout/LinedList"/>
    <dgm:cxn modelId="{4CED3DA2-D807-5E47-AF7D-2E1F6C618686}" type="presParOf" srcId="{66AB6A79-CE71-5F46-98A1-EA56A4B09C8F}" destId="{A7D652CE-9D06-F44E-ADCE-5CF68F4C794E}" srcOrd="0" destOrd="0" presId="urn:microsoft.com/office/officeart/2008/layout/LinedList"/>
    <dgm:cxn modelId="{929142AD-98F3-B142-8D4E-4CB502BF8611}" type="presParOf" srcId="{66AB6A79-CE71-5F46-98A1-EA56A4B09C8F}" destId="{BEA1B6E1-D22B-AA45-9F11-63F696087834}" srcOrd="1" destOrd="0" presId="urn:microsoft.com/office/officeart/2008/layout/LinedList"/>
    <dgm:cxn modelId="{FEEBB872-ABE9-484B-8B70-73185A443E43}" type="presParOf" srcId="{66AB6A79-CE71-5F46-98A1-EA56A4B09C8F}" destId="{2D3FC035-391E-DA48-B3FA-205FABD8FEE4}" srcOrd="2" destOrd="0" presId="urn:microsoft.com/office/officeart/2008/layout/LinedList"/>
    <dgm:cxn modelId="{F9086C89-651B-BA40-9AE3-F21B369578F6}" type="presParOf" srcId="{6A98239D-765B-F545-B44B-24024CD33956}" destId="{005F4345-26B0-0148-9CA5-658BDB88839F}" srcOrd="17" destOrd="0" presId="urn:microsoft.com/office/officeart/2008/layout/LinedList"/>
    <dgm:cxn modelId="{63F3D6D1-5777-F843-BF15-AA81D40CCF53}" type="presParOf" srcId="{6A98239D-765B-F545-B44B-24024CD33956}" destId="{440D4A9F-2EB4-5143-BE00-1D35B0E5D32F}" srcOrd="18" destOrd="0" presId="urn:microsoft.com/office/officeart/2008/layout/LinedList"/>
    <dgm:cxn modelId="{BF3D1271-D2AE-A84A-88AB-D88883E26C8D}" type="presParOf" srcId="{6A98239D-765B-F545-B44B-24024CD33956}" destId="{844EEFEB-5405-A849-83A2-34C118207D33}" srcOrd="19" destOrd="0" presId="urn:microsoft.com/office/officeart/2008/layout/LinedList"/>
    <dgm:cxn modelId="{AA775FD0-55AA-404E-B09D-F60DBE0A0760}" type="presParOf" srcId="{844EEFEB-5405-A849-83A2-34C118207D33}" destId="{99E52E0E-9D9E-2A40-B680-0E26A3471BA3}" srcOrd="0" destOrd="0" presId="urn:microsoft.com/office/officeart/2008/layout/LinedList"/>
    <dgm:cxn modelId="{327FB5C7-67EC-6945-A964-7B548C3267D3}" type="presParOf" srcId="{844EEFEB-5405-A849-83A2-34C118207D33}" destId="{774E7656-FDF9-ED47-98D8-76F89D9B483F}" srcOrd="1" destOrd="0" presId="urn:microsoft.com/office/officeart/2008/layout/LinedList"/>
    <dgm:cxn modelId="{86ED48B8-FA36-9342-973A-B5239FDB6DA8}" type="presParOf" srcId="{844EEFEB-5405-A849-83A2-34C118207D33}" destId="{A2D40BF3-3A1F-D043-BEC6-ED9DC873E2AF}" srcOrd="2" destOrd="0" presId="urn:microsoft.com/office/officeart/2008/layout/LinedList"/>
    <dgm:cxn modelId="{5D84F3AB-2A79-A148-A641-1F34B046C5C4}" type="presParOf" srcId="{6A98239D-765B-F545-B44B-24024CD33956}" destId="{AE4CAC43-E154-DF41-8BDB-050E6DBD2F65}" srcOrd="20" destOrd="0" presId="urn:microsoft.com/office/officeart/2008/layout/LinedList"/>
    <dgm:cxn modelId="{F40633B0-6234-F942-9BFB-DBB36D13EADD}" type="presParOf" srcId="{6A98239D-765B-F545-B44B-24024CD33956}" destId="{8AA72802-10AE-3144-A0D2-1AA2CD8CC2B1}" srcOrd="2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9DD0AB-CAFE-4F12-9414-37FC6FD1B42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52EBE72-8FDD-4C16-9888-FE2B56BBDA1C}">
      <dgm:prSet/>
      <dgm:spPr/>
      <dgm:t>
        <a:bodyPr/>
        <a:lstStyle/>
        <a:p>
          <a:r>
            <a:rPr lang="en-GB" b="1" dirty="0"/>
            <a:t>Supervised</a:t>
          </a:r>
          <a:r>
            <a:rPr lang="en-GB" dirty="0"/>
            <a:t>: Labelled data for model to learn and predict. (</a:t>
          </a:r>
          <a:r>
            <a:rPr lang="en-AT" dirty="0">
              <a:latin typeface="Arial"/>
              <a:ea typeface="Arial"/>
              <a:cs typeface="Arial"/>
              <a:sym typeface="Arial"/>
            </a:rPr>
            <a:t>Geron, A. (2019).</a:t>
          </a:r>
          <a:r>
            <a:rPr lang="en-GB" dirty="0"/>
            <a:t>)</a:t>
          </a:r>
          <a:endParaRPr lang="en-US" dirty="0"/>
        </a:p>
      </dgm:t>
    </dgm:pt>
    <dgm:pt modelId="{8326A08B-E678-4D0E-971E-A3315084C907}" type="parTrans" cxnId="{E6F70BB8-41D6-4F68-A8F4-A1C300F0C74C}">
      <dgm:prSet/>
      <dgm:spPr/>
      <dgm:t>
        <a:bodyPr/>
        <a:lstStyle/>
        <a:p>
          <a:endParaRPr lang="en-US"/>
        </a:p>
      </dgm:t>
    </dgm:pt>
    <dgm:pt modelId="{8413F4E3-C778-4DA3-98B2-E5E63BA920A1}" type="sibTrans" cxnId="{E6F70BB8-41D6-4F68-A8F4-A1C300F0C74C}">
      <dgm:prSet/>
      <dgm:spPr/>
      <dgm:t>
        <a:bodyPr/>
        <a:lstStyle/>
        <a:p>
          <a:endParaRPr lang="en-US"/>
        </a:p>
      </dgm:t>
    </dgm:pt>
    <dgm:pt modelId="{9421FA73-ADD6-46AA-9ECD-FACFEBD4D457}">
      <dgm:prSet/>
      <dgm:spPr/>
      <dgm:t>
        <a:bodyPr/>
        <a:lstStyle/>
        <a:p>
          <a:r>
            <a:rPr lang="en-GB" b="1" dirty="0"/>
            <a:t>Unsupervised</a:t>
          </a:r>
          <a:r>
            <a:rPr lang="en-GB" dirty="0"/>
            <a:t>: Inheriting structures and pattern detection for input data. Data unlabelled </a:t>
          </a:r>
          <a:r>
            <a:rPr lang="en-AT" b="0" dirty="0">
              <a:latin typeface="Arial"/>
              <a:ea typeface="Arial"/>
              <a:cs typeface="Arial"/>
              <a:sym typeface="Arial"/>
            </a:rPr>
            <a:t>Geron, A. (2019). </a:t>
          </a:r>
          <a:endParaRPr lang="en-US" b="0" dirty="0"/>
        </a:p>
      </dgm:t>
    </dgm:pt>
    <dgm:pt modelId="{3CD2A6CA-A2F0-4E69-9737-4204FF7E6D71}" type="parTrans" cxnId="{AD557338-3926-4F38-9953-F7B5C88DABFA}">
      <dgm:prSet/>
      <dgm:spPr/>
      <dgm:t>
        <a:bodyPr/>
        <a:lstStyle/>
        <a:p>
          <a:endParaRPr lang="en-US"/>
        </a:p>
      </dgm:t>
    </dgm:pt>
    <dgm:pt modelId="{7F09917F-A941-4C83-BD6B-928663ACBDE7}" type="sibTrans" cxnId="{AD557338-3926-4F38-9953-F7B5C88DABFA}">
      <dgm:prSet/>
      <dgm:spPr/>
      <dgm:t>
        <a:bodyPr/>
        <a:lstStyle/>
        <a:p>
          <a:endParaRPr lang="en-US"/>
        </a:p>
      </dgm:t>
    </dgm:pt>
    <dgm:pt modelId="{6D320C87-8E89-469F-95A9-87AE0F4F4897}">
      <dgm:prSet/>
      <dgm:spPr/>
      <dgm:t>
        <a:bodyPr/>
        <a:lstStyle/>
        <a:p>
          <a:r>
            <a:rPr lang="en-GB" b="1" dirty="0"/>
            <a:t>Semi Supervised</a:t>
          </a:r>
          <a:r>
            <a:rPr lang="en-GB" dirty="0"/>
            <a:t>: Use of some label data, and mostly unlabelled data. Mixture of supervised and unsupervised </a:t>
          </a:r>
          <a:r>
            <a:rPr lang="en-AT" dirty="0">
              <a:latin typeface="Arial"/>
              <a:ea typeface="Arial"/>
              <a:cs typeface="Arial"/>
              <a:sym typeface="Arial"/>
            </a:rPr>
            <a:t>Geron, A. (2019). </a:t>
          </a:r>
          <a:endParaRPr lang="en-US" dirty="0"/>
        </a:p>
      </dgm:t>
    </dgm:pt>
    <dgm:pt modelId="{784446FD-39AC-4428-A32D-B1D1D80A06F2}" type="parTrans" cxnId="{8E7C9F7A-88EE-4867-BC59-4EDE8D15D601}">
      <dgm:prSet/>
      <dgm:spPr/>
      <dgm:t>
        <a:bodyPr/>
        <a:lstStyle/>
        <a:p>
          <a:endParaRPr lang="en-US"/>
        </a:p>
      </dgm:t>
    </dgm:pt>
    <dgm:pt modelId="{D42405E8-35BF-4681-94BA-B042804027DC}" type="sibTrans" cxnId="{8E7C9F7A-88EE-4867-BC59-4EDE8D15D601}">
      <dgm:prSet/>
      <dgm:spPr/>
      <dgm:t>
        <a:bodyPr/>
        <a:lstStyle/>
        <a:p>
          <a:endParaRPr lang="en-US"/>
        </a:p>
      </dgm:t>
    </dgm:pt>
    <dgm:pt modelId="{A65A4C16-C730-45EC-83C5-21CA5E35E3A6}">
      <dgm:prSet/>
      <dgm:spPr/>
      <dgm:t>
        <a:bodyPr/>
        <a:lstStyle/>
        <a:p>
          <a:r>
            <a:rPr lang="en-GB" b="1" dirty="0"/>
            <a:t>Reinforcement</a:t>
          </a:r>
          <a:r>
            <a:rPr lang="en-GB" dirty="0"/>
            <a:t>: Self-interpreting but based on award system and punishments learned from errors and trial seeking maximum reward </a:t>
          </a:r>
          <a:r>
            <a:rPr lang="en-AT" dirty="0">
              <a:latin typeface="Arial"/>
              <a:ea typeface="Arial"/>
              <a:cs typeface="Arial"/>
              <a:sym typeface="Arial"/>
            </a:rPr>
            <a:t>Geron, A. (2019). </a:t>
          </a:r>
          <a:endParaRPr lang="en-US" dirty="0"/>
        </a:p>
      </dgm:t>
    </dgm:pt>
    <dgm:pt modelId="{31FD6999-791D-403C-BF55-FDDF261205F1}" type="parTrans" cxnId="{84418855-C211-409F-B7A6-C89398F1BDD1}">
      <dgm:prSet/>
      <dgm:spPr/>
      <dgm:t>
        <a:bodyPr/>
        <a:lstStyle/>
        <a:p>
          <a:endParaRPr lang="en-US"/>
        </a:p>
      </dgm:t>
    </dgm:pt>
    <dgm:pt modelId="{4FA9B71B-A4F9-4FFA-8D22-DAF67D4A2AC5}" type="sibTrans" cxnId="{84418855-C211-409F-B7A6-C89398F1BDD1}">
      <dgm:prSet/>
      <dgm:spPr/>
      <dgm:t>
        <a:bodyPr/>
        <a:lstStyle/>
        <a:p>
          <a:endParaRPr lang="en-US"/>
        </a:p>
      </dgm:t>
    </dgm:pt>
    <dgm:pt modelId="{C2CCA1B1-5288-4D38-99B1-B0830F813FAE}" type="pres">
      <dgm:prSet presAssocID="{369DD0AB-CAFE-4F12-9414-37FC6FD1B42D}" presName="root" presStyleCnt="0">
        <dgm:presLayoutVars>
          <dgm:dir/>
          <dgm:resizeHandles val="exact"/>
        </dgm:presLayoutVars>
      </dgm:prSet>
      <dgm:spPr/>
    </dgm:pt>
    <dgm:pt modelId="{16530E6B-8A01-4C48-9FA6-76627A0828D7}" type="pres">
      <dgm:prSet presAssocID="{752EBE72-8FDD-4C16-9888-FE2B56BBDA1C}" presName="compNode" presStyleCnt="0"/>
      <dgm:spPr/>
    </dgm:pt>
    <dgm:pt modelId="{3D7F1AA5-1EFC-455D-BB15-766F97EE6CCD}" type="pres">
      <dgm:prSet presAssocID="{752EBE72-8FDD-4C16-9888-FE2B56BBDA1C}" presName="bgRect" presStyleLbl="bgShp" presStyleIdx="0" presStyleCnt="4"/>
      <dgm:spPr/>
    </dgm:pt>
    <dgm:pt modelId="{6E76D1BD-022E-49B8-B418-D71BC26A6B08}" type="pres">
      <dgm:prSet presAssocID="{752EBE72-8FDD-4C16-9888-FE2B56BBDA1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872B286C-36BB-4EEB-A936-68F6F28A2301}" type="pres">
      <dgm:prSet presAssocID="{752EBE72-8FDD-4C16-9888-FE2B56BBDA1C}" presName="spaceRect" presStyleCnt="0"/>
      <dgm:spPr/>
    </dgm:pt>
    <dgm:pt modelId="{B789899D-3B9C-413F-9855-EC057F4CFD85}" type="pres">
      <dgm:prSet presAssocID="{752EBE72-8FDD-4C16-9888-FE2B56BBDA1C}" presName="parTx" presStyleLbl="revTx" presStyleIdx="0" presStyleCnt="4">
        <dgm:presLayoutVars>
          <dgm:chMax val="0"/>
          <dgm:chPref val="0"/>
        </dgm:presLayoutVars>
      </dgm:prSet>
      <dgm:spPr/>
    </dgm:pt>
    <dgm:pt modelId="{E41A387F-9B78-4100-BEE9-7F53B5EEB462}" type="pres">
      <dgm:prSet presAssocID="{8413F4E3-C778-4DA3-98B2-E5E63BA920A1}" presName="sibTrans" presStyleCnt="0"/>
      <dgm:spPr/>
    </dgm:pt>
    <dgm:pt modelId="{C4699CF4-186E-4FD8-A99C-CEEE54D70047}" type="pres">
      <dgm:prSet presAssocID="{9421FA73-ADD6-46AA-9ECD-FACFEBD4D457}" presName="compNode" presStyleCnt="0"/>
      <dgm:spPr/>
    </dgm:pt>
    <dgm:pt modelId="{8919AC53-71A4-4EAC-A3B1-AC45762971E2}" type="pres">
      <dgm:prSet presAssocID="{9421FA73-ADD6-46AA-9ECD-FACFEBD4D457}" presName="bgRect" presStyleLbl="bgShp" presStyleIdx="1" presStyleCnt="4"/>
      <dgm:spPr/>
    </dgm:pt>
    <dgm:pt modelId="{53DFA8AD-2596-4981-B097-B0E79AE7D8DD}" type="pres">
      <dgm:prSet presAssocID="{9421FA73-ADD6-46AA-9ECD-FACFEBD4D45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rver"/>
        </a:ext>
      </dgm:extLst>
    </dgm:pt>
    <dgm:pt modelId="{CBEB5E1E-1405-4E98-8A92-A3E0235870F5}" type="pres">
      <dgm:prSet presAssocID="{9421FA73-ADD6-46AA-9ECD-FACFEBD4D457}" presName="spaceRect" presStyleCnt="0"/>
      <dgm:spPr/>
    </dgm:pt>
    <dgm:pt modelId="{ED0507B1-8FD5-4F50-9927-85552357BCC5}" type="pres">
      <dgm:prSet presAssocID="{9421FA73-ADD6-46AA-9ECD-FACFEBD4D457}" presName="parTx" presStyleLbl="revTx" presStyleIdx="1" presStyleCnt="4">
        <dgm:presLayoutVars>
          <dgm:chMax val="0"/>
          <dgm:chPref val="0"/>
        </dgm:presLayoutVars>
      </dgm:prSet>
      <dgm:spPr/>
    </dgm:pt>
    <dgm:pt modelId="{6400BAEA-D5F8-4302-9ECD-BE0F941F946E}" type="pres">
      <dgm:prSet presAssocID="{7F09917F-A941-4C83-BD6B-928663ACBDE7}" presName="sibTrans" presStyleCnt="0"/>
      <dgm:spPr/>
    </dgm:pt>
    <dgm:pt modelId="{867FF28B-B21A-431F-989F-5B8155C9B13D}" type="pres">
      <dgm:prSet presAssocID="{6D320C87-8E89-469F-95A9-87AE0F4F4897}" presName="compNode" presStyleCnt="0"/>
      <dgm:spPr/>
    </dgm:pt>
    <dgm:pt modelId="{CF3FDB0D-0615-4C9A-B4EE-5984351C4CD7}" type="pres">
      <dgm:prSet presAssocID="{6D320C87-8E89-469F-95A9-87AE0F4F4897}" presName="bgRect" presStyleLbl="bgShp" presStyleIdx="2" presStyleCnt="4"/>
      <dgm:spPr/>
    </dgm:pt>
    <dgm:pt modelId="{F89E1617-D777-4883-B9B2-68CE353B7A64}" type="pres">
      <dgm:prSet presAssocID="{6D320C87-8E89-469F-95A9-87AE0F4F489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405A5A08-07B8-4ED7-8F40-E9ED5E14052B}" type="pres">
      <dgm:prSet presAssocID="{6D320C87-8E89-469F-95A9-87AE0F4F4897}" presName="spaceRect" presStyleCnt="0"/>
      <dgm:spPr/>
    </dgm:pt>
    <dgm:pt modelId="{1B063046-D044-4537-BE31-7ED302B1679D}" type="pres">
      <dgm:prSet presAssocID="{6D320C87-8E89-469F-95A9-87AE0F4F4897}" presName="parTx" presStyleLbl="revTx" presStyleIdx="2" presStyleCnt="4">
        <dgm:presLayoutVars>
          <dgm:chMax val="0"/>
          <dgm:chPref val="0"/>
        </dgm:presLayoutVars>
      </dgm:prSet>
      <dgm:spPr/>
    </dgm:pt>
    <dgm:pt modelId="{3C794FB7-7F20-4C07-B562-6A14455B6B4C}" type="pres">
      <dgm:prSet presAssocID="{D42405E8-35BF-4681-94BA-B042804027DC}" presName="sibTrans" presStyleCnt="0"/>
      <dgm:spPr/>
    </dgm:pt>
    <dgm:pt modelId="{6DB4C148-5775-4D1B-B12F-6497A37D4D36}" type="pres">
      <dgm:prSet presAssocID="{A65A4C16-C730-45EC-83C5-21CA5E35E3A6}" presName="compNode" presStyleCnt="0"/>
      <dgm:spPr/>
    </dgm:pt>
    <dgm:pt modelId="{E8EB42AC-99A8-428C-B2F4-1461DA1E0CBD}" type="pres">
      <dgm:prSet presAssocID="{A65A4C16-C730-45EC-83C5-21CA5E35E3A6}" presName="bgRect" presStyleLbl="bgShp" presStyleIdx="3" presStyleCnt="4" custLinFactNeighborX="-168" custLinFactNeighborY="2001"/>
      <dgm:spPr/>
    </dgm:pt>
    <dgm:pt modelId="{42F8FBEC-FB78-4005-9D8D-81738F0CFC1B}" type="pres">
      <dgm:prSet presAssocID="{A65A4C16-C730-45EC-83C5-21CA5E35E3A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5671E52E-A9C7-427F-95B5-4F24EFB99DCE}" type="pres">
      <dgm:prSet presAssocID="{A65A4C16-C730-45EC-83C5-21CA5E35E3A6}" presName="spaceRect" presStyleCnt="0"/>
      <dgm:spPr/>
    </dgm:pt>
    <dgm:pt modelId="{A04F4542-293A-4DCF-9408-76C56429E2D4}" type="pres">
      <dgm:prSet presAssocID="{A65A4C16-C730-45EC-83C5-21CA5E35E3A6}" presName="parTx" presStyleLbl="revTx" presStyleIdx="3" presStyleCnt="4">
        <dgm:presLayoutVars>
          <dgm:chMax val="0"/>
          <dgm:chPref val="0"/>
        </dgm:presLayoutVars>
      </dgm:prSet>
      <dgm:spPr/>
    </dgm:pt>
  </dgm:ptLst>
  <dgm:cxnLst>
    <dgm:cxn modelId="{7A49E80E-C277-4DBB-8D35-CABDCA1FBB52}" type="presOf" srcId="{A65A4C16-C730-45EC-83C5-21CA5E35E3A6}" destId="{A04F4542-293A-4DCF-9408-76C56429E2D4}" srcOrd="0" destOrd="0" presId="urn:microsoft.com/office/officeart/2018/2/layout/IconVerticalSolidList"/>
    <dgm:cxn modelId="{AD557338-3926-4F38-9953-F7B5C88DABFA}" srcId="{369DD0AB-CAFE-4F12-9414-37FC6FD1B42D}" destId="{9421FA73-ADD6-46AA-9ECD-FACFEBD4D457}" srcOrd="1" destOrd="0" parTransId="{3CD2A6CA-A2F0-4E69-9737-4204FF7E6D71}" sibTransId="{7F09917F-A941-4C83-BD6B-928663ACBDE7}"/>
    <dgm:cxn modelId="{7DE1444D-A25E-4F55-9160-72CD845B5C81}" type="presOf" srcId="{369DD0AB-CAFE-4F12-9414-37FC6FD1B42D}" destId="{C2CCA1B1-5288-4D38-99B1-B0830F813FAE}" srcOrd="0" destOrd="0" presId="urn:microsoft.com/office/officeart/2018/2/layout/IconVerticalSolidList"/>
    <dgm:cxn modelId="{84418855-C211-409F-B7A6-C89398F1BDD1}" srcId="{369DD0AB-CAFE-4F12-9414-37FC6FD1B42D}" destId="{A65A4C16-C730-45EC-83C5-21CA5E35E3A6}" srcOrd="3" destOrd="0" parTransId="{31FD6999-791D-403C-BF55-FDDF261205F1}" sibTransId="{4FA9B71B-A4F9-4FFA-8D22-DAF67D4A2AC5}"/>
    <dgm:cxn modelId="{BB44C872-439C-483A-A2E4-8BDC2C354609}" type="presOf" srcId="{9421FA73-ADD6-46AA-9ECD-FACFEBD4D457}" destId="{ED0507B1-8FD5-4F50-9927-85552357BCC5}" srcOrd="0" destOrd="0" presId="urn:microsoft.com/office/officeart/2018/2/layout/IconVerticalSolidList"/>
    <dgm:cxn modelId="{8E7C9F7A-88EE-4867-BC59-4EDE8D15D601}" srcId="{369DD0AB-CAFE-4F12-9414-37FC6FD1B42D}" destId="{6D320C87-8E89-469F-95A9-87AE0F4F4897}" srcOrd="2" destOrd="0" parTransId="{784446FD-39AC-4428-A32D-B1D1D80A06F2}" sibTransId="{D42405E8-35BF-4681-94BA-B042804027DC}"/>
    <dgm:cxn modelId="{E6F70BB8-41D6-4F68-A8F4-A1C300F0C74C}" srcId="{369DD0AB-CAFE-4F12-9414-37FC6FD1B42D}" destId="{752EBE72-8FDD-4C16-9888-FE2B56BBDA1C}" srcOrd="0" destOrd="0" parTransId="{8326A08B-E678-4D0E-971E-A3315084C907}" sibTransId="{8413F4E3-C778-4DA3-98B2-E5E63BA920A1}"/>
    <dgm:cxn modelId="{594CC4D8-8D98-4970-82DA-2D5D9C06AEC6}" type="presOf" srcId="{752EBE72-8FDD-4C16-9888-FE2B56BBDA1C}" destId="{B789899D-3B9C-413F-9855-EC057F4CFD85}" srcOrd="0" destOrd="0" presId="urn:microsoft.com/office/officeart/2018/2/layout/IconVerticalSolidList"/>
    <dgm:cxn modelId="{935064E5-21BA-4E2D-AAE5-43720906C096}" type="presOf" srcId="{6D320C87-8E89-469F-95A9-87AE0F4F4897}" destId="{1B063046-D044-4537-BE31-7ED302B1679D}" srcOrd="0" destOrd="0" presId="urn:microsoft.com/office/officeart/2018/2/layout/IconVerticalSolidList"/>
    <dgm:cxn modelId="{F0B729A1-2074-4E6B-AB9B-539C46388520}" type="presParOf" srcId="{C2CCA1B1-5288-4D38-99B1-B0830F813FAE}" destId="{16530E6B-8A01-4C48-9FA6-76627A0828D7}" srcOrd="0" destOrd="0" presId="urn:microsoft.com/office/officeart/2018/2/layout/IconVerticalSolidList"/>
    <dgm:cxn modelId="{5D1C6DAE-BF17-42B0-AB2D-79638BCCEE01}" type="presParOf" srcId="{16530E6B-8A01-4C48-9FA6-76627A0828D7}" destId="{3D7F1AA5-1EFC-455D-BB15-766F97EE6CCD}" srcOrd="0" destOrd="0" presId="urn:microsoft.com/office/officeart/2018/2/layout/IconVerticalSolidList"/>
    <dgm:cxn modelId="{A9B6D579-235F-471F-95FA-1F43C1DEFF6D}" type="presParOf" srcId="{16530E6B-8A01-4C48-9FA6-76627A0828D7}" destId="{6E76D1BD-022E-49B8-B418-D71BC26A6B08}" srcOrd="1" destOrd="0" presId="urn:microsoft.com/office/officeart/2018/2/layout/IconVerticalSolidList"/>
    <dgm:cxn modelId="{2A87626E-5CBA-4AF5-AF72-A304AE4F7EA4}" type="presParOf" srcId="{16530E6B-8A01-4C48-9FA6-76627A0828D7}" destId="{872B286C-36BB-4EEB-A936-68F6F28A2301}" srcOrd="2" destOrd="0" presId="urn:microsoft.com/office/officeart/2018/2/layout/IconVerticalSolidList"/>
    <dgm:cxn modelId="{887A88A9-05B6-4A24-92CA-97468BCD887F}" type="presParOf" srcId="{16530E6B-8A01-4C48-9FA6-76627A0828D7}" destId="{B789899D-3B9C-413F-9855-EC057F4CFD85}" srcOrd="3" destOrd="0" presId="urn:microsoft.com/office/officeart/2018/2/layout/IconVerticalSolidList"/>
    <dgm:cxn modelId="{A6DBF4C4-AE84-463C-BD89-C672116806A7}" type="presParOf" srcId="{C2CCA1B1-5288-4D38-99B1-B0830F813FAE}" destId="{E41A387F-9B78-4100-BEE9-7F53B5EEB462}" srcOrd="1" destOrd="0" presId="urn:microsoft.com/office/officeart/2018/2/layout/IconVerticalSolidList"/>
    <dgm:cxn modelId="{C81B8716-EF4D-40CA-8379-19DE2A748228}" type="presParOf" srcId="{C2CCA1B1-5288-4D38-99B1-B0830F813FAE}" destId="{C4699CF4-186E-4FD8-A99C-CEEE54D70047}" srcOrd="2" destOrd="0" presId="urn:microsoft.com/office/officeart/2018/2/layout/IconVerticalSolidList"/>
    <dgm:cxn modelId="{8BE5BC0B-ADFE-41DB-BC58-74C4252F7706}" type="presParOf" srcId="{C4699CF4-186E-4FD8-A99C-CEEE54D70047}" destId="{8919AC53-71A4-4EAC-A3B1-AC45762971E2}" srcOrd="0" destOrd="0" presId="urn:microsoft.com/office/officeart/2018/2/layout/IconVerticalSolidList"/>
    <dgm:cxn modelId="{D76D71FA-2061-4FA6-8811-A7E7043FF890}" type="presParOf" srcId="{C4699CF4-186E-4FD8-A99C-CEEE54D70047}" destId="{53DFA8AD-2596-4981-B097-B0E79AE7D8DD}" srcOrd="1" destOrd="0" presId="urn:microsoft.com/office/officeart/2018/2/layout/IconVerticalSolidList"/>
    <dgm:cxn modelId="{DB57EBC5-8B5F-4777-ADE6-EE5371B67DC8}" type="presParOf" srcId="{C4699CF4-186E-4FD8-A99C-CEEE54D70047}" destId="{CBEB5E1E-1405-4E98-8A92-A3E0235870F5}" srcOrd="2" destOrd="0" presId="urn:microsoft.com/office/officeart/2018/2/layout/IconVerticalSolidList"/>
    <dgm:cxn modelId="{82692CF7-E46F-45CB-8094-7129E721569F}" type="presParOf" srcId="{C4699CF4-186E-4FD8-A99C-CEEE54D70047}" destId="{ED0507B1-8FD5-4F50-9927-85552357BCC5}" srcOrd="3" destOrd="0" presId="urn:microsoft.com/office/officeart/2018/2/layout/IconVerticalSolidList"/>
    <dgm:cxn modelId="{FBBF238A-0693-4C41-A374-5CBCD90D4E73}" type="presParOf" srcId="{C2CCA1B1-5288-4D38-99B1-B0830F813FAE}" destId="{6400BAEA-D5F8-4302-9ECD-BE0F941F946E}" srcOrd="3" destOrd="0" presId="urn:microsoft.com/office/officeart/2018/2/layout/IconVerticalSolidList"/>
    <dgm:cxn modelId="{FE2C87E3-EFB4-4E43-8F16-118231D99310}" type="presParOf" srcId="{C2CCA1B1-5288-4D38-99B1-B0830F813FAE}" destId="{867FF28B-B21A-431F-989F-5B8155C9B13D}" srcOrd="4" destOrd="0" presId="urn:microsoft.com/office/officeart/2018/2/layout/IconVerticalSolidList"/>
    <dgm:cxn modelId="{DC44539D-1C40-46D2-BD47-0CEC61AEE84B}" type="presParOf" srcId="{867FF28B-B21A-431F-989F-5B8155C9B13D}" destId="{CF3FDB0D-0615-4C9A-B4EE-5984351C4CD7}" srcOrd="0" destOrd="0" presId="urn:microsoft.com/office/officeart/2018/2/layout/IconVerticalSolidList"/>
    <dgm:cxn modelId="{CB575719-5730-4317-B412-7DCE0B3A6A27}" type="presParOf" srcId="{867FF28B-B21A-431F-989F-5B8155C9B13D}" destId="{F89E1617-D777-4883-B9B2-68CE353B7A64}" srcOrd="1" destOrd="0" presId="urn:microsoft.com/office/officeart/2018/2/layout/IconVerticalSolidList"/>
    <dgm:cxn modelId="{06449B33-124D-4C17-BFAB-0C5DD7FE45E2}" type="presParOf" srcId="{867FF28B-B21A-431F-989F-5B8155C9B13D}" destId="{405A5A08-07B8-4ED7-8F40-E9ED5E14052B}" srcOrd="2" destOrd="0" presId="urn:microsoft.com/office/officeart/2018/2/layout/IconVerticalSolidList"/>
    <dgm:cxn modelId="{B4AD1B75-01A7-4B13-BD9F-F5C534EA68C7}" type="presParOf" srcId="{867FF28B-B21A-431F-989F-5B8155C9B13D}" destId="{1B063046-D044-4537-BE31-7ED302B1679D}" srcOrd="3" destOrd="0" presId="urn:microsoft.com/office/officeart/2018/2/layout/IconVerticalSolidList"/>
    <dgm:cxn modelId="{2BDA5C7A-B259-4448-8A01-DE1EAB165FF7}" type="presParOf" srcId="{C2CCA1B1-5288-4D38-99B1-B0830F813FAE}" destId="{3C794FB7-7F20-4C07-B562-6A14455B6B4C}" srcOrd="5" destOrd="0" presId="urn:microsoft.com/office/officeart/2018/2/layout/IconVerticalSolidList"/>
    <dgm:cxn modelId="{0B3C18F2-E31A-4189-AC8E-5D2F1897D9BD}" type="presParOf" srcId="{C2CCA1B1-5288-4D38-99B1-B0830F813FAE}" destId="{6DB4C148-5775-4D1B-B12F-6497A37D4D36}" srcOrd="6" destOrd="0" presId="urn:microsoft.com/office/officeart/2018/2/layout/IconVerticalSolidList"/>
    <dgm:cxn modelId="{625D4FEA-9F64-49F3-A12A-954F9911DFD7}" type="presParOf" srcId="{6DB4C148-5775-4D1B-B12F-6497A37D4D36}" destId="{E8EB42AC-99A8-428C-B2F4-1461DA1E0CBD}" srcOrd="0" destOrd="0" presId="urn:microsoft.com/office/officeart/2018/2/layout/IconVerticalSolidList"/>
    <dgm:cxn modelId="{1AB6A7DC-0981-46F8-B050-A3EF40A3A8DD}" type="presParOf" srcId="{6DB4C148-5775-4D1B-B12F-6497A37D4D36}" destId="{42F8FBEC-FB78-4005-9D8D-81738F0CFC1B}" srcOrd="1" destOrd="0" presId="urn:microsoft.com/office/officeart/2018/2/layout/IconVerticalSolidList"/>
    <dgm:cxn modelId="{FE9B6CB7-2B5B-4E81-8543-497E451B6FDC}" type="presParOf" srcId="{6DB4C148-5775-4D1B-B12F-6497A37D4D36}" destId="{5671E52E-A9C7-427F-95B5-4F24EFB99DCE}" srcOrd="2" destOrd="0" presId="urn:microsoft.com/office/officeart/2018/2/layout/IconVerticalSolidList"/>
    <dgm:cxn modelId="{996ACFF8-CF6F-4964-AC3B-696EA1257792}" type="presParOf" srcId="{6DB4C148-5775-4D1B-B12F-6497A37D4D36}" destId="{A04F4542-293A-4DCF-9408-76C56429E2D4}"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9E405B-6D19-4B84-A20A-B465E35CB72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3DA015E-BCAD-4A26-9DC4-00E1ABA7ED4C}">
      <dgm:prSet/>
      <dgm:spPr/>
      <dgm:t>
        <a:bodyPr/>
        <a:lstStyle/>
        <a:p>
          <a:r>
            <a:rPr lang="en-AT" dirty="0"/>
            <a:t>widely used clustering algorithm</a:t>
          </a:r>
          <a:endParaRPr lang="en-US" dirty="0"/>
        </a:p>
      </dgm:t>
    </dgm:pt>
    <dgm:pt modelId="{EF30ADB3-CC72-4DE4-BB4A-84AD3725C206}" type="parTrans" cxnId="{4B950D34-AD4B-4F4C-84FB-E1EF1AA6B364}">
      <dgm:prSet/>
      <dgm:spPr/>
      <dgm:t>
        <a:bodyPr/>
        <a:lstStyle/>
        <a:p>
          <a:endParaRPr lang="en-US"/>
        </a:p>
      </dgm:t>
    </dgm:pt>
    <dgm:pt modelId="{E97D7463-B988-43D0-8AFB-C77FF810D172}" type="sibTrans" cxnId="{4B950D34-AD4B-4F4C-84FB-E1EF1AA6B364}">
      <dgm:prSet/>
      <dgm:spPr/>
      <dgm:t>
        <a:bodyPr/>
        <a:lstStyle/>
        <a:p>
          <a:endParaRPr lang="en-US"/>
        </a:p>
      </dgm:t>
    </dgm:pt>
    <dgm:pt modelId="{6B0B05EA-552F-49DB-8873-8E8232CB7E5A}">
      <dgm:prSet/>
      <dgm:spPr/>
      <dgm:t>
        <a:bodyPr/>
        <a:lstStyle/>
        <a:p>
          <a:r>
            <a:rPr lang="de-DE" dirty="0" err="1"/>
            <a:t>centroid-based</a:t>
          </a:r>
          <a:r>
            <a:rPr lang="de-DE" dirty="0"/>
            <a:t> </a:t>
          </a:r>
          <a:r>
            <a:rPr lang="de-DE" dirty="0" err="1"/>
            <a:t>clustering</a:t>
          </a:r>
          <a:r>
            <a:rPr lang="de-DE" dirty="0"/>
            <a:t> </a:t>
          </a:r>
          <a:r>
            <a:rPr lang="de-DE" dirty="0" err="1"/>
            <a:t>method</a:t>
          </a:r>
          <a:endParaRPr lang="en-US" dirty="0"/>
        </a:p>
      </dgm:t>
    </dgm:pt>
    <dgm:pt modelId="{415609EB-4DBB-4C41-AC5A-E1F26363EA94}" type="parTrans" cxnId="{A1F28286-40EC-4F4B-AEC5-9B5584E3273F}">
      <dgm:prSet/>
      <dgm:spPr/>
      <dgm:t>
        <a:bodyPr/>
        <a:lstStyle/>
        <a:p>
          <a:endParaRPr lang="en-US"/>
        </a:p>
      </dgm:t>
    </dgm:pt>
    <dgm:pt modelId="{4B99398F-BB2A-4D2E-ABF8-18CF0421923F}" type="sibTrans" cxnId="{A1F28286-40EC-4F4B-AEC5-9B5584E3273F}">
      <dgm:prSet/>
      <dgm:spPr/>
      <dgm:t>
        <a:bodyPr/>
        <a:lstStyle/>
        <a:p>
          <a:endParaRPr lang="en-US"/>
        </a:p>
      </dgm:t>
    </dgm:pt>
    <dgm:pt modelId="{A4D89984-31AC-4427-ACF6-7FB3CA580E53}">
      <dgm:prSet/>
      <dgm:spPr/>
      <dgm:t>
        <a:bodyPr/>
        <a:lstStyle/>
        <a:p>
          <a:r>
            <a:rPr lang="en-AT" dirty="0"/>
            <a:t>generally used in data minig and pattern recognition problems</a:t>
          </a:r>
          <a:endParaRPr lang="en-US" dirty="0"/>
        </a:p>
      </dgm:t>
    </dgm:pt>
    <dgm:pt modelId="{24A16914-880A-4A6C-9055-EAA08CE2149A}" type="parTrans" cxnId="{A6E182FC-D838-41C7-BD6B-C3C38750E6D1}">
      <dgm:prSet/>
      <dgm:spPr/>
      <dgm:t>
        <a:bodyPr/>
        <a:lstStyle/>
        <a:p>
          <a:endParaRPr lang="en-US"/>
        </a:p>
      </dgm:t>
    </dgm:pt>
    <dgm:pt modelId="{7E4E094B-46C1-46D7-918C-116C9E297B35}" type="sibTrans" cxnId="{A6E182FC-D838-41C7-BD6B-C3C38750E6D1}">
      <dgm:prSet/>
      <dgm:spPr/>
      <dgm:t>
        <a:bodyPr/>
        <a:lstStyle/>
        <a:p>
          <a:endParaRPr lang="en-US"/>
        </a:p>
      </dgm:t>
    </dgm:pt>
    <dgm:pt modelId="{EB570C68-8E55-4D32-B84E-F3CA90DAF27F}">
      <dgm:prSet/>
      <dgm:spPr/>
      <dgm:t>
        <a:bodyPr/>
        <a:lstStyle/>
        <a:p>
          <a:r>
            <a:rPr lang="en-AT" dirty="0"/>
            <a:t>These are called centroids (?) (Bob, 2014, p7)</a:t>
          </a:r>
          <a:endParaRPr lang="en-US" dirty="0"/>
        </a:p>
      </dgm:t>
    </dgm:pt>
    <dgm:pt modelId="{CA904F89-E502-400B-B333-A0A5DE84413C}" type="parTrans" cxnId="{89230F56-5E3D-4FF5-BFC9-DD5CA0BF6F6E}">
      <dgm:prSet/>
      <dgm:spPr/>
      <dgm:t>
        <a:bodyPr/>
        <a:lstStyle/>
        <a:p>
          <a:endParaRPr lang="en-US"/>
        </a:p>
      </dgm:t>
    </dgm:pt>
    <dgm:pt modelId="{B63D39B2-9D1E-43FC-A875-121D2D6E32C0}" type="sibTrans" cxnId="{89230F56-5E3D-4FF5-BFC9-DD5CA0BF6F6E}">
      <dgm:prSet/>
      <dgm:spPr/>
      <dgm:t>
        <a:bodyPr/>
        <a:lstStyle/>
        <a:p>
          <a:endParaRPr lang="en-US"/>
        </a:p>
      </dgm:t>
    </dgm:pt>
    <dgm:pt modelId="{DCCA8721-72CA-204A-BD05-701F97463882}" type="pres">
      <dgm:prSet presAssocID="{E19E405B-6D19-4B84-A20A-B465E35CB72C}" presName="vert0" presStyleCnt="0">
        <dgm:presLayoutVars>
          <dgm:dir/>
          <dgm:animOne val="branch"/>
          <dgm:animLvl val="lvl"/>
        </dgm:presLayoutVars>
      </dgm:prSet>
      <dgm:spPr/>
    </dgm:pt>
    <dgm:pt modelId="{615849C9-F255-B949-9FBA-8D73B58A6CD8}" type="pres">
      <dgm:prSet presAssocID="{F3DA015E-BCAD-4A26-9DC4-00E1ABA7ED4C}" presName="thickLine" presStyleLbl="alignNode1" presStyleIdx="0" presStyleCnt="4"/>
      <dgm:spPr/>
    </dgm:pt>
    <dgm:pt modelId="{572B192A-3D2A-BA40-AF38-F1364F98156C}" type="pres">
      <dgm:prSet presAssocID="{F3DA015E-BCAD-4A26-9DC4-00E1ABA7ED4C}" presName="horz1" presStyleCnt="0"/>
      <dgm:spPr/>
    </dgm:pt>
    <dgm:pt modelId="{75D31BA7-6B91-154A-958E-7188EBFDF3C3}" type="pres">
      <dgm:prSet presAssocID="{F3DA015E-BCAD-4A26-9DC4-00E1ABA7ED4C}" presName="tx1" presStyleLbl="revTx" presStyleIdx="0" presStyleCnt="4"/>
      <dgm:spPr/>
    </dgm:pt>
    <dgm:pt modelId="{978748F9-11EF-CC47-8D3F-2C2E23379601}" type="pres">
      <dgm:prSet presAssocID="{F3DA015E-BCAD-4A26-9DC4-00E1ABA7ED4C}" presName="vert1" presStyleCnt="0"/>
      <dgm:spPr/>
    </dgm:pt>
    <dgm:pt modelId="{F81D8B71-E48D-AF40-AA96-8595DBEBA076}" type="pres">
      <dgm:prSet presAssocID="{6B0B05EA-552F-49DB-8873-8E8232CB7E5A}" presName="thickLine" presStyleLbl="alignNode1" presStyleIdx="1" presStyleCnt="4"/>
      <dgm:spPr/>
    </dgm:pt>
    <dgm:pt modelId="{CD9FB73D-17E1-764B-81CB-7D7B80AAB47E}" type="pres">
      <dgm:prSet presAssocID="{6B0B05EA-552F-49DB-8873-8E8232CB7E5A}" presName="horz1" presStyleCnt="0"/>
      <dgm:spPr/>
    </dgm:pt>
    <dgm:pt modelId="{EB66AA76-0C6C-6243-A7CC-67C239A42491}" type="pres">
      <dgm:prSet presAssocID="{6B0B05EA-552F-49DB-8873-8E8232CB7E5A}" presName="tx1" presStyleLbl="revTx" presStyleIdx="1" presStyleCnt="4"/>
      <dgm:spPr/>
    </dgm:pt>
    <dgm:pt modelId="{55B52D60-2D7F-544B-ADB8-B488B967B89A}" type="pres">
      <dgm:prSet presAssocID="{6B0B05EA-552F-49DB-8873-8E8232CB7E5A}" presName="vert1" presStyleCnt="0"/>
      <dgm:spPr/>
    </dgm:pt>
    <dgm:pt modelId="{A5240DEE-2928-0E4F-8EA2-D0869A848696}" type="pres">
      <dgm:prSet presAssocID="{A4D89984-31AC-4427-ACF6-7FB3CA580E53}" presName="thickLine" presStyleLbl="alignNode1" presStyleIdx="2" presStyleCnt="4"/>
      <dgm:spPr/>
    </dgm:pt>
    <dgm:pt modelId="{4B9940E2-C848-FD40-8FB9-7629DF068496}" type="pres">
      <dgm:prSet presAssocID="{A4D89984-31AC-4427-ACF6-7FB3CA580E53}" presName="horz1" presStyleCnt="0"/>
      <dgm:spPr/>
    </dgm:pt>
    <dgm:pt modelId="{C02C0A3B-6BC4-544A-8F63-D28765A41CA8}" type="pres">
      <dgm:prSet presAssocID="{A4D89984-31AC-4427-ACF6-7FB3CA580E53}" presName="tx1" presStyleLbl="revTx" presStyleIdx="2" presStyleCnt="4"/>
      <dgm:spPr/>
    </dgm:pt>
    <dgm:pt modelId="{C181AD1D-3A2E-8D46-BFEF-DB2611C6D851}" type="pres">
      <dgm:prSet presAssocID="{A4D89984-31AC-4427-ACF6-7FB3CA580E53}" presName="vert1" presStyleCnt="0"/>
      <dgm:spPr/>
    </dgm:pt>
    <dgm:pt modelId="{9B6B99F2-0466-8140-9B76-9A8C6F27FEE8}" type="pres">
      <dgm:prSet presAssocID="{EB570C68-8E55-4D32-B84E-F3CA90DAF27F}" presName="thickLine" presStyleLbl="alignNode1" presStyleIdx="3" presStyleCnt="4"/>
      <dgm:spPr/>
    </dgm:pt>
    <dgm:pt modelId="{C9937898-13F7-7847-94BD-1AFE483551C6}" type="pres">
      <dgm:prSet presAssocID="{EB570C68-8E55-4D32-B84E-F3CA90DAF27F}" presName="horz1" presStyleCnt="0"/>
      <dgm:spPr/>
    </dgm:pt>
    <dgm:pt modelId="{82035B17-060E-FB4E-8E8B-38176824700E}" type="pres">
      <dgm:prSet presAssocID="{EB570C68-8E55-4D32-B84E-F3CA90DAF27F}" presName="tx1" presStyleLbl="revTx" presStyleIdx="3" presStyleCnt="4"/>
      <dgm:spPr/>
    </dgm:pt>
    <dgm:pt modelId="{9D5F7578-308E-5A41-91FF-FE9FEE555012}" type="pres">
      <dgm:prSet presAssocID="{EB570C68-8E55-4D32-B84E-F3CA90DAF27F}" presName="vert1" presStyleCnt="0"/>
      <dgm:spPr/>
    </dgm:pt>
  </dgm:ptLst>
  <dgm:cxnLst>
    <dgm:cxn modelId="{4B950D34-AD4B-4F4C-84FB-E1EF1AA6B364}" srcId="{E19E405B-6D19-4B84-A20A-B465E35CB72C}" destId="{F3DA015E-BCAD-4A26-9DC4-00E1ABA7ED4C}" srcOrd="0" destOrd="0" parTransId="{EF30ADB3-CC72-4DE4-BB4A-84AD3725C206}" sibTransId="{E97D7463-B988-43D0-8AFB-C77FF810D172}"/>
    <dgm:cxn modelId="{2A17D647-BA8B-954E-950F-A3BC33DAA3FE}" type="presOf" srcId="{6B0B05EA-552F-49DB-8873-8E8232CB7E5A}" destId="{EB66AA76-0C6C-6243-A7CC-67C239A42491}" srcOrd="0" destOrd="0" presId="urn:microsoft.com/office/officeart/2008/layout/LinedList"/>
    <dgm:cxn modelId="{89230F56-5E3D-4FF5-BFC9-DD5CA0BF6F6E}" srcId="{E19E405B-6D19-4B84-A20A-B465E35CB72C}" destId="{EB570C68-8E55-4D32-B84E-F3CA90DAF27F}" srcOrd="3" destOrd="0" parTransId="{CA904F89-E502-400B-B333-A0A5DE84413C}" sibTransId="{B63D39B2-9D1E-43FC-A875-121D2D6E32C0}"/>
    <dgm:cxn modelId="{A1F28286-40EC-4F4B-AEC5-9B5584E3273F}" srcId="{E19E405B-6D19-4B84-A20A-B465E35CB72C}" destId="{6B0B05EA-552F-49DB-8873-8E8232CB7E5A}" srcOrd="1" destOrd="0" parTransId="{415609EB-4DBB-4C41-AC5A-E1F26363EA94}" sibTransId="{4B99398F-BB2A-4D2E-ABF8-18CF0421923F}"/>
    <dgm:cxn modelId="{0F39A096-CAD4-4A45-B18B-DB315AC5C231}" type="presOf" srcId="{A4D89984-31AC-4427-ACF6-7FB3CA580E53}" destId="{C02C0A3B-6BC4-544A-8F63-D28765A41CA8}" srcOrd="0" destOrd="0" presId="urn:microsoft.com/office/officeart/2008/layout/LinedList"/>
    <dgm:cxn modelId="{60FA199B-415F-0B44-8407-501E769F3A17}" type="presOf" srcId="{E19E405B-6D19-4B84-A20A-B465E35CB72C}" destId="{DCCA8721-72CA-204A-BD05-701F97463882}" srcOrd="0" destOrd="0" presId="urn:microsoft.com/office/officeart/2008/layout/LinedList"/>
    <dgm:cxn modelId="{9AD901A5-8519-244D-A236-C1AE168A5287}" type="presOf" srcId="{F3DA015E-BCAD-4A26-9DC4-00E1ABA7ED4C}" destId="{75D31BA7-6B91-154A-958E-7188EBFDF3C3}" srcOrd="0" destOrd="0" presId="urn:microsoft.com/office/officeart/2008/layout/LinedList"/>
    <dgm:cxn modelId="{B24313DB-80D4-8A49-AAE8-8C1BA18A8802}" type="presOf" srcId="{EB570C68-8E55-4D32-B84E-F3CA90DAF27F}" destId="{82035B17-060E-FB4E-8E8B-38176824700E}" srcOrd="0" destOrd="0" presId="urn:microsoft.com/office/officeart/2008/layout/LinedList"/>
    <dgm:cxn modelId="{A6E182FC-D838-41C7-BD6B-C3C38750E6D1}" srcId="{E19E405B-6D19-4B84-A20A-B465E35CB72C}" destId="{A4D89984-31AC-4427-ACF6-7FB3CA580E53}" srcOrd="2" destOrd="0" parTransId="{24A16914-880A-4A6C-9055-EAA08CE2149A}" sibTransId="{7E4E094B-46C1-46D7-918C-116C9E297B35}"/>
    <dgm:cxn modelId="{51C8326B-F6A9-1F4D-94EF-F358A667B91E}" type="presParOf" srcId="{DCCA8721-72CA-204A-BD05-701F97463882}" destId="{615849C9-F255-B949-9FBA-8D73B58A6CD8}" srcOrd="0" destOrd="0" presId="urn:microsoft.com/office/officeart/2008/layout/LinedList"/>
    <dgm:cxn modelId="{540152DC-B4B6-B741-AB7E-89AF2370A3BE}" type="presParOf" srcId="{DCCA8721-72CA-204A-BD05-701F97463882}" destId="{572B192A-3D2A-BA40-AF38-F1364F98156C}" srcOrd="1" destOrd="0" presId="urn:microsoft.com/office/officeart/2008/layout/LinedList"/>
    <dgm:cxn modelId="{5097F579-3193-D24F-AB50-A2ECB1149013}" type="presParOf" srcId="{572B192A-3D2A-BA40-AF38-F1364F98156C}" destId="{75D31BA7-6B91-154A-958E-7188EBFDF3C3}" srcOrd="0" destOrd="0" presId="urn:microsoft.com/office/officeart/2008/layout/LinedList"/>
    <dgm:cxn modelId="{254E1C98-FB2C-A64C-8D18-D1D240AFE151}" type="presParOf" srcId="{572B192A-3D2A-BA40-AF38-F1364F98156C}" destId="{978748F9-11EF-CC47-8D3F-2C2E23379601}" srcOrd="1" destOrd="0" presId="urn:microsoft.com/office/officeart/2008/layout/LinedList"/>
    <dgm:cxn modelId="{BC461FFB-607D-C24C-A318-2D52087E2048}" type="presParOf" srcId="{DCCA8721-72CA-204A-BD05-701F97463882}" destId="{F81D8B71-E48D-AF40-AA96-8595DBEBA076}" srcOrd="2" destOrd="0" presId="urn:microsoft.com/office/officeart/2008/layout/LinedList"/>
    <dgm:cxn modelId="{C0A4D710-4C21-2145-AFFD-7290BA0BC29A}" type="presParOf" srcId="{DCCA8721-72CA-204A-BD05-701F97463882}" destId="{CD9FB73D-17E1-764B-81CB-7D7B80AAB47E}" srcOrd="3" destOrd="0" presId="urn:microsoft.com/office/officeart/2008/layout/LinedList"/>
    <dgm:cxn modelId="{906E7D25-D8AF-E241-8389-ABF7A62354EC}" type="presParOf" srcId="{CD9FB73D-17E1-764B-81CB-7D7B80AAB47E}" destId="{EB66AA76-0C6C-6243-A7CC-67C239A42491}" srcOrd="0" destOrd="0" presId="urn:microsoft.com/office/officeart/2008/layout/LinedList"/>
    <dgm:cxn modelId="{5354D843-D4A3-A94A-9906-D0C517427337}" type="presParOf" srcId="{CD9FB73D-17E1-764B-81CB-7D7B80AAB47E}" destId="{55B52D60-2D7F-544B-ADB8-B488B967B89A}" srcOrd="1" destOrd="0" presId="urn:microsoft.com/office/officeart/2008/layout/LinedList"/>
    <dgm:cxn modelId="{BC4AE5EB-992E-8F40-8A58-FF35126360C2}" type="presParOf" srcId="{DCCA8721-72CA-204A-BD05-701F97463882}" destId="{A5240DEE-2928-0E4F-8EA2-D0869A848696}" srcOrd="4" destOrd="0" presId="urn:microsoft.com/office/officeart/2008/layout/LinedList"/>
    <dgm:cxn modelId="{71D09242-895F-5D43-B9F1-247378437A96}" type="presParOf" srcId="{DCCA8721-72CA-204A-BD05-701F97463882}" destId="{4B9940E2-C848-FD40-8FB9-7629DF068496}" srcOrd="5" destOrd="0" presId="urn:microsoft.com/office/officeart/2008/layout/LinedList"/>
    <dgm:cxn modelId="{F55DAEC5-36CF-BE42-B65E-20FFC44A58F9}" type="presParOf" srcId="{4B9940E2-C848-FD40-8FB9-7629DF068496}" destId="{C02C0A3B-6BC4-544A-8F63-D28765A41CA8}" srcOrd="0" destOrd="0" presId="urn:microsoft.com/office/officeart/2008/layout/LinedList"/>
    <dgm:cxn modelId="{32C1E23D-6EAA-8244-8406-E018F5A9D038}" type="presParOf" srcId="{4B9940E2-C848-FD40-8FB9-7629DF068496}" destId="{C181AD1D-3A2E-8D46-BFEF-DB2611C6D851}" srcOrd="1" destOrd="0" presId="urn:microsoft.com/office/officeart/2008/layout/LinedList"/>
    <dgm:cxn modelId="{66C8964D-99F6-B64D-9106-B5572461B481}" type="presParOf" srcId="{DCCA8721-72CA-204A-BD05-701F97463882}" destId="{9B6B99F2-0466-8140-9B76-9A8C6F27FEE8}" srcOrd="6" destOrd="0" presId="urn:microsoft.com/office/officeart/2008/layout/LinedList"/>
    <dgm:cxn modelId="{C46DCFA7-7D01-6443-AF22-361399BEAC3B}" type="presParOf" srcId="{DCCA8721-72CA-204A-BD05-701F97463882}" destId="{C9937898-13F7-7847-94BD-1AFE483551C6}" srcOrd="7" destOrd="0" presId="urn:microsoft.com/office/officeart/2008/layout/LinedList"/>
    <dgm:cxn modelId="{B2D474F2-84AA-9443-92D6-D16E2A311616}" type="presParOf" srcId="{C9937898-13F7-7847-94BD-1AFE483551C6}" destId="{82035B17-060E-FB4E-8E8B-38176824700E}" srcOrd="0" destOrd="0" presId="urn:microsoft.com/office/officeart/2008/layout/LinedList"/>
    <dgm:cxn modelId="{BB0781F1-EE05-4844-9F8A-584C640E3E58}" type="presParOf" srcId="{C9937898-13F7-7847-94BD-1AFE483551C6}" destId="{9D5F7578-308E-5A41-91FF-FE9FEE55501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B0F049A-895A-4E95-A50C-A8A99731896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62D8DB1-EBFF-423A-AA52-12E85112CAD2}">
      <dgm:prSet/>
      <dgm:spPr/>
      <dgm:t>
        <a:bodyPr/>
        <a:lstStyle/>
        <a:p>
          <a:r>
            <a:rPr lang="en-AT"/>
            <a:t>Seen a few different paradigms</a:t>
          </a:r>
          <a:endParaRPr lang="en-US"/>
        </a:p>
      </dgm:t>
    </dgm:pt>
    <dgm:pt modelId="{13F8DC40-C9EA-4B7A-94DD-694B73762D67}" type="parTrans" cxnId="{7763B8AB-C518-4BDF-981B-472928211A7E}">
      <dgm:prSet/>
      <dgm:spPr/>
      <dgm:t>
        <a:bodyPr/>
        <a:lstStyle/>
        <a:p>
          <a:endParaRPr lang="en-US"/>
        </a:p>
      </dgm:t>
    </dgm:pt>
    <dgm:pt modelId="{50142A7C-D628-4962-AA39-921CE6263BB7}" type="sibTrans" cxnId="{7763B8AB-C518-4BDF-981B-472928211A7E}">
      <dgm:prSet/>
      <dgm:spPr/>
      <dgm:t>
        <a:bodyPr/>
        <a:lstStyle/>
        <a:p>
          <a:endParaRPr lang="en-US"/>
        </a:p>
      </dgm:t>
    </dgm:pt>
    <dgm:pt modelId="{4FF4AF32-8513-4FA3-B5A4-46A7AE87AEEF}">
      <dgm:prSet/>
      <dgm:spPr/>
      <dgm:t>
        <a:bodyPr/>
        <a:lstStyle/>
        <a:p>
          <a:r>
            <a:rPr lang="en-AT"/>
            <a:t>Identified how kmeans works</a:t>
          </a:r>
          <a:endParaRPr lang="en-US"/>
        </a:p>
      </dgm:t>
    </dgm:pt>
    <dgm:pt modelId="{00C74ADE-57F2-411A-B14F-9D691CC890FD}" type="parTrans" cxnId="{3EBEA6C4-59CF-4078-84C7-93EBE15B4CD2}">
      <dgm:prSet/>
      <dgm:spPr/>
      <dgm:t>
        <a:bodyPr/>
        <a:lstStyle/>
        <a:p>
          <a:endParaRPr lang="en-US"/>
        </a:p>
      </dgm:t>
    </dgm:pt>
    <dgm:pt modelId="{1FC3947D-659F-49BB-A042-296424C63D00}" type="sibTrans" cxnId="{3EBEA6C4-59CF-4078-84C7-93EBE15B4CD2}">
      <dgm:prSet/>
      <dgm:spPr/>
      <dgm:t>
        <a:bodyPr/>
        <a:lstStyle/>
        <a:p>
          <a:endParaRPr lang="en-US"/>
        </a:p>
      </dgm:t>
    </dgm:pt>
    <dgm:pt modelId="{A29CF6C3-8B52-419A-9904-095CADF4421B}">
      <dgm:prSet/>
      <dgm:spPr/>
      <dgm:t>
        <a:bodyPr/>
        <a:lstStyle/>
        <a:p>
          <a:r>
            <a:rPr lang="en-AT"/>
            <a:t>Based on that, determined which paradigm kmeans is</a:t>
          </a:r>
          <a:endParaRPr lang="en-US"/>
        </a:p>
      </dgm:t>
    </dgm:pt>
    <dgm:pt modelId="{B409C588-DB6D-4822-B692-EE7B36E001D7}" type="parTrans" cxnId="{E9299653-02E7-4AB3-AA5E-5047A602C9CD}">
      <dgm:prSet/>
      <dgm:spPr/>
      <dgm:t>
        <a:bodyPr/>
        <a:lstStyle/>
        <a:p>
          <a:endParaRPr lang="en-US"/>
        </a:p>
      </dgm:t>
    </dgm:pt>
    <dgm:pt modelId="{AA517283-21EF-4BC7-96C6-FD00001750DD}" type="sibTrans" cxnId="{E9299653-02E7-4AB3-AA5E-5047A602C9CD}">
      <dgm:prSet/>
      <dgm:spPr/>
      <dgm:t>
        <a:bodyPr/>
        <a:lstStyle/>
        <a:p>
          <a:endParaRPr lang="en-US"/>
        </a:p>
      </dgm:t>
    </dgm:pt>
    <dgm:pt modelId="{5E3BFEAD-1328-4C13-A9CF-E5CCA3F76C8B}">
      <dgm:prSet/>
      <dgm:spPr/>
      <dgm:t>
        <a:bodyPr/>
        <a:lstStyle/>
        <a:p>
          <a:r>
            <a:rPr lang="en-AT"/>
            <a:t>Seen a few exams of kmeans in the ‘real world’</a:t>
          </a:r>
          <a:endParaRPr lang="en-US"/>
        </a:p>
      </dgm:t>
    </dgm:pt>
    <dgm:pt modelId="{C7D3BF61-0E8B-48C3-80BC-E471778F64C7}" type="parTrans" cxnId="{5EF42C56-16D8-4E5B-9AB5-C30C47AD736F}">
      <dgm:prSet/>
      <dgm:spPr/>
      <dgm:t>
        <a:bodyPr/>
        <a:lstStyle/>
        <a:p>
          <a:endParaRPr lang="en-US"/>
        </a:p>
      </dgm:t>
    </dgm:pt>
    <dgm:pt modelId="{1D7B88D7-F8FE-4344-A5B7-4D9435649DA2}" type="sibTrans" cxnId="{5EF42C56-16D8-4E5B-9AB5-C30C47AD736F}">
      <dgm:prSet/>
      <dgm:spPr/>
      <dgm:t>
        <a:bodyPr/>
        <a:lstStyle/>
        <a:p>
          <a:endParaRPr lang="en-US"/>
        </a:p>
      </dgm:t>
    </dgm:pt>
    <dgm:pt modelId="{F8A91A82-DF14-4CCC-8A4D-F942A7AD51D8}">
      <dgm:prSet/>
      <dgm:spPr/>
      <dgm:t>
        <a:bodyPr/>
        <a:lstStyle/>
        <a:p>
          <a:r>
            <a:rPr lang="en-AT"/>
            <a:t>Open ended questions (must be in the scope)</a:t>
          </a:r>
          <a:endParaRPr lang="en-US"/>
        </a:p>
      </dgm:t>
    </dgm:pt>
    <dgm:pt modelId="{CA6E7245-C3C4-42EB-811C-0E579889D4E9}" type="parTrans" cxnId="{F0DEB29C-508A-406A-86C5-FC25383B60A9}">
      <dgm:prSet/>
      <dgm:spPr/>
      <dgm:t>
        <a:bodyPr/>
        <a:lstStyle/>
        <a:p>
          <a:endParaRPr lang="en-US"/>
        </a:p>
      </dgm:t>
    </dgm:pt>
    <dgm:pt modelId="{FF82B78D-C2CA-4468-9B74-69E65FA539F2}" type="sibTrans" cxnId="{F0DEB29C-508A-406A-86C5-FC25383B60A9}">
      <dgm:prSet/>
      <dgm:spPr/>
      <dgm:t>
        <a:bodyPr/>
        <a:lstStyle/>
        <a:p>
          <a:endParaRPr lang="en-US"/>
        </a:p>
      </dgm:t>
    </dgm:pt>
    <dgm:pt modelId="{BDD722AE-9971-1843-9E0A-9582950C7A45}" type="pres">
      <dgm:prSet presAssocID="{EB0F049A-895A-4E95-A50C-A8A997318961}" presName="linear" presStyleCnt="0">
        <dgm:presLayoutVars>
          <dgm:animLvl val="lvl"/>
          <dgm:resizeHandles val="exact"/>
        </dgm:presLayoutVars>
      </dgm:prSet>
      <dgm:spPr/>
    </dgm:pt>
    <dgm:pt modelId="{0A215EE0-F110-EC47-9794-7650FFA9222F}" type="pres">
      <dgm:prSet presAssocID="{362D8DB1-EBFF-423A-AA52-12E85112CAD2}" presName="parentText" presStyleLbl="node1" presStyleIdx="0" presStyleCnt="5">
        <dgm:presLayoutVars>
          <dgm:chMax val="0"/>
          <dgm:bulletEnabled val="1"/>
        </dgm:presLayoutVars>
      </dgm:prSet>
      <dgm:spPr/>
    </dgm:pt>
    <dgm:pt modelId="{2A2569C3-7D21-CD43-AFB4-65C03813A78F}" type="pres">
      <dgm:prSet presAssocID="{50142A7C-D628-4962-AA39-921CE6263BB7}" presName="spacer" presStyleCnt="0"/>
      <dgm:spPr/>
    </dgm:pt>
    <dgm:pt modelId="{26580CE1-15F4-5748-B4CA-9D020DC6E637}" type="pres">
      <dgm:prSet presAssocID="{4FF4AF32-8513-4FA3-B5A4-46A7AE87AEEF}" presName="parentText" presStyleLbl="node1" presStyleIdx="1" presStyleCnt="5">
        <dgm:presLayoutVars>
          <dgm:chMax val="0"/>
          <dgm:bulletEnabled val="1"/>
        </dgm:presLayoutVars>
      </dgm:prSet>
      <dgm:spPr/>
    </dgm:pt>
    <dgm:pt modelId="{540F47A7-B12B-F140-A92F-40E3B80B5BA7}" type="pres">
      <dgm:prSet presAssocID="{1FC3947D-659F-49BB-A042-296424C63D00}" presName="spacer" presStyleCnt="0"/>
      <dgm:spPr/>
    </dgm:pt>
    <dgm:pt modelId="{56EDB54B-186C-944D-B146-507019F0379D}" type="pres">
      <dgm:prSet presAssocID="{A29CF6C3-8B52-419A-9904-095CADF4421B}" presName="parentText" presStyleLbl="node1" presStyleIdx="2" presStyleCnt="5">
        <dgm:presLayoutVars>
          <dgm:chMax val="0"/>
          <dgm:bulletEnabled val="1"/>
        </dgm:presLayoutVars>
      </dgm:prSet>
      <dgm:spPr/>
    </dgm:pt>
    <dgm:pt modelId="{A2DC3437-3052-F94D-B8FE-BA48F19C36E9}" type="pres">
      <dgm:prSet presAssocID="{AA517283-21EF-4BC7-96C6-FD00001750DD}" presName="spacer" presStyleCnt="0"/>
      <dgm:spPr/>
    </dgm:pt>
    <dgm:pt modelId="{2C3D73A2-CEC9-DC49-B895-32B666226D09}" type="pres">
      <dgm:prSet presAssocID="{5E3BFEAD-1328-4C13-A9CF-E5CCA3F76C8B}" presName="parentText" presStyleLbl="node1" presStyleIdx="3" presStyleCnt="5">
        <dgm:presLayoutVars>
          <dgm:chMax val="0"/>
          <dgm:bulletEnabled val="1"/>
        </dgm:presLayoutVars>
      </dgm:prSet>
      <dgm:spPr/>
    </dgm:pt>
    <dgm:pt modelId="{73B077CF-ACA4-7A45-87B6-B46DC7DD288C}" type="pres">
      <dgm:prSet presAssocID="{1D7B88D7-F8FE-4344-A5B7-4D9435649DA2}" presName="spacer" presStyleCnt="0"/>
      <dgm:spPr/>
    </dgm:pt>
    <dgm:pt modelId="{2F514309-73D0-D94F-B63B-C927FF28325E}" type="pres">
      <dgm:prSet presAssocID="{F8A91A82-DF14-4CCC-8A4D-F942A7AD51D8}" presName="parentText" presStyleLbl="node1" presStyleIdx="4" presStyleCnt="5">
        <dgm:presLayoutVars>
          <dgm:chMax val="0"/>
          <dgm:bulletEnabled val="1"/>
        </dgm:presLayoutVars>
      </dgm:prSet>
      <dgm:spPr/>
    </dgm:pt>
  </dgm:ptLst>
  <dgm:cxnLst>
    <dgm:cxn modelId="{68C6F504-5F92-C34B-95BE-9CF1F68B4658}" type="presOf" srcId="{EB0F049A-895A-4E95-A50C-A8A997318961}" destId="{BDD722AE-9971-1843-9E0A-9582950C7A45}" srcOrd="0" destOrd="0" presId="urn:microsoft.com/office/officeart/2005/8/layout/vList2"/>
    <dgm:cxn modelId="{E9299653-02E7-4AB3-AA5E-5047A602C9CD}" srcId="{EB0F049A-895A-4E95-A50C-A8A997318961}" destId="{A29CF6C3-8B52-419A-9904-095CADF4421B}" srcOrd="2" destOrd="0" parTransId="{B409C588-DB6D-4822-B692-EE7B36E001D7}" sibTransId="{AA517283-21EF-4BC7-96C6-FD00001750DD}"/>
    <dgm:cxn modelId="{5EF42C56-16D8-4E5B-9AB5-C30C47AD736F}" srcId="{EB0F049A-895A-4E95-A50C-A8A997318961}" destId="{5E3BFEAD-1328-4C13-A9CF-E5CCA3F76C8B}" srcOrd="3" destOrd="0" parTransId="{C7D3BF61-0E8B-48C3-80BC-E471778F64C7}" sibTransId="{1D7B88D7-F8FE-4344-A5B7-4D9435649DA2}"/>
    <dgm:cxn modelId="{C9AEF18B-A8AC-9C4E-BB2B-CD3462802660}" type="presOf" srcId="{4FF4AF32-8513-4FA3-B5A4-46A7AE87AEEF}" destId="{26580CE1-15F4-5748-B4CA-9D020DC6E637}" srcOrd="0" destOrd="0" presId="urn:microsoft.com/office/officeart/2005/8/layout/vList2"/>
    <dgm:cxn modelId="{66264894-764D-364A-91B2-BB8D99BB2C94}" type="presOf" srcId="{5E3BFEAD-1328-4C13-A9CF-E5CCA3F76C8B}" destId="{2C3D73A2-CEC9-DC49-B895-32B666226D09}" srcOrd="0" destOrd="0" presId="urn:microsoft.com/office/officeart/2005/8/layout/vList2"/>
    <dgm:cxn modelId="{F0DEB29C-508A-406A-86C5-FC25383B60A9}" srcId="{EB0F049A-895A-4E95-A50C-A8A997318961}" destId="{F8A91A82-DF14-4CCC-8A4D-F942A7AD51D8}" srcOrd="4" destOrd="0" parTransId="{CA6E7245-C3C4-42EB-811C-0E579889D4E9}" sibTransId="{FF82B78D-C2CA-4468-9B74-69E65FA539F2}"/>
    <dgm:cxn modelId="{B2932FA7-7A0C-074E-83CC-536569C7D934}" type="presOf" srcId="{F8A91A82-DF14-4CCC-8A4D-F942A7AD51D8}" destId="{2F514309-73D0-D94F-B63B-C927FF28325E}" srcOrd="0" destOrd="0" presId="urn:microsoft.com/office/officeart/2005/8/layout/vList2"/>
    <dgm:cxn modelId="{7763B8AB-C518-4BDF-981B-472928211A7E}" srcId="{EB0F049A-895A-4E95-A50C-A8A997318961}" destId="{362D8DB1-EBFF-423A-AA52-12E85112CAD2}" srcOrd="0" destOrd="0" parTransId="{13F8DC40-C9EA-4B7A-94DD-694B73762D67}" sibTransId="{50142A7C-D628-4962-AA39-921CE6263BB7}"/>
    <dgm:cxn modelId="{3EBEA6C4-59CF-4078-84C7-93EBE15B4CD2}" srcId="{EB0F049A-895A-4E95-A50C-A8A997318961}" destId="{4FF4AF32-8513-4FA3-B5A4-46A7AE87AEEF}" srcOrd="1" destOrd="0" parTransId="{00C74ADE-57F2-411A-B14F-9D691CC890FD}" sibTransId="{1FC3947D-659F-49BB-A042-296424C63D00}"/>
    <dgm:cxn modelId="{04C184CC-07B2-4D4F-9A5C-6C815A88612D}" type="presOf" srcId="{A29CF6C3-8B52-419A-9904-095CADF4421B}" destId="{56EDB54B-186C-944D-B146-507019F0379D}" srcOrd="0" destOrd="0" presId="urn:microsoft.com/office/officeart/2005/8/layout/vList2"/>
    <dgm:cxn modelId="{FEA061E7-B18C-2D4E-BB70-378E1937DCAE}" type="presOf" srcId="{362D8DB1-EBFF-423A-AA52-12E85112CAD2}" destId="{0A215EE0-F110-EC47-9794-7650FFA9222F}" srcOrd="0" destOrd="0" presId="urn:microsoft.com/office/officeart/2005/8/layout/vList2"/>
    <dgm:cxn modelId="{34867E7A-4818-5348-A6AC-8E50939FB451}" type="presParOf" srcId="{BDD722AE-9971-1843-9E0A-9582950C7A45}" destId="{0A215EE0-F110-EC47-9794-7650FFA9222F}" srcOrd="0" destOrd="0" presId="urn:microsoft.com/office/officeart/2005/8/layout/vList2"/>
    <dgm:cxn modelId="{96054C0C-BF30-224E-B9CB-A8209B85533E}" type="presParOf" srcId="{BDD722AE-9971-1843-9E0A-9582950C7A45}" destId="{2A2569C3-7D21-CD43-AFB4-65C03813A78F}" srcOrd="1" destOrd="0" presId="urn:microsoft.com/office/officeart/2005/8/layout/vList2"/>
    <dgm:cxn modelId="{ACEF26C7-6B60-CC4C-A31F-12AEAFB02D59}" type="presParOf" srcId="{BDD722AE-9971-1843-9E0A-9582950C7A45}" destId="{26580CE1-15F4-5748-B4CA-9D020DC6E637}" srcOrd="2" destOrd="0" presId="urn:microsoft.com/office/officeart/2005/8/layout/vList2"/>
    <dgm:cxn modelId="{78C103D7-7387-6D43-8153-ADE70BCB2D80}" type="presParOf" srcId="{BDD722AE-9971-1843-9E0A-9582950C7A45}" destId="{540F47A7-B12B-F140-A92F-40E3B80B5BA7}" srcOrd="3" destOrd="0" presId="urn:microsoft.com/office/officeart/2005/8/layout/vList2"/>
    <dgm:cxn modelId="{BA22BBD0-CDD7-984E-8C8D-8F0A07489D28}" type="presParOf" srcId="{BDD722AE-9971-1843-9E0A-9582950C7A45}" destId="{56EDB54B-186C-944D-B146-507019F0379D}" srcOrd="4" destOrd="0" presId="urn:microsoft.com/office/officeart/2005/8/layout/vList2"/>
    <dgm:cxn modelId="{1E04DC13-8AE5-3445-8B52-43338A151ED3}" type="presParOf" srcId="{BDD722AE-9971-1843-9E0A-9582950C7A45}" destId="{A2DC3437-3052-F94D-B8FE-BA48F19C36E9}" srcOrd="5" destOrd="0" presId="urn:microsoft.com/office/officeart/2005/8/layout/vList2"/>
    <dgm:cxn modelId="{A53B6B9A-DCE2-2D45-9647-416A066546B4}" type="presParOf" srcId="{BDD722AE-9971-1843-9E0A-9582950C7A45}" destId="{2C3D73A2-CEC9-DC49-B895-32B666226D09}" srcOrd="6" destOrd="0" presId="urn:microsoft.com/office/officeart/2005/8/layout/vList2"/>
    <dgm:cxn modelId="{6DDE1AB4-9096-F849-9545-BE26E9743EEC}" type="presParOf" srcId="{BDD722AE-9971-1843-9E0A-9582950C7A45}" destId="{73B077CF-ACA4-7A45-87B6-B46DC7DD288C}" srcOrd="7" destOrd="0" presId="urn:microsoft.com/office/officeart/2005/8/layout/vList2"/>
    <dgm:cxn modelId="{294D5E19-CAA7-B84A-B663-E1CF702EA688}" type="presParOf" srcId="{BDD722AE-9971-1843-9E0A-9582950C7A45}" destId="{2F514309-73D0-D94F-B63B-C927FF28325E}" srcOrd="8"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7D1B6-36DC-E84E-B0DF-D80C3C76BBBD}">
      <dsp:nvSpPr>
        <dsp:cNvPr id="0" name=""/>
        <dsp:cNvSpPr/>
      </dsp:nvSpPr>
      <dsp:spPr>
        <a:xfrm>
          <a:off x="8453" y="0"/>
          <a:ext cx="6001940" cy="3530062"/>
        </a:xfrm>
        <a:prstGeom prst="homePlate">
          <a:avLst>
            <a:gd name="adj" fmla="val 25000"/>
          </a:avLst>
        </a:prstGeom>
        <a:gradFill rotWithShape="0">
          <a:gsLst>
            <a:gs pos="0">
              <a:schemeClr val="accent2">
                <a:hueOff val="0"/>
                <a:satOff val="0"/>
                <a:lumOff val="0"/>
                <a:alphaOff val="0"/>
                <a:tint val="96000"/>
                <a:satMod val="100000"/>
                <a:lumMod val="104000"/>
              </a:schemeClr>
            </a:gs>
            <a:gs pos="78000">
              <a:schemeClr val="accent2">
                <a:hueOff val="0"/>
                <a:satOff val="0"/>
                <a:lumOff val="0"/>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211735" tIns="50800" rIns="846941" bIns="50800" numCol="1" spcCol="1270" anchor="t" anchorCtr="0">
          <a:noAutofit/>
        </a:bodyPr>
        <a:lstStyle/>
        <a:p>
          <a:pPr marL="0" lvl="0" indent="0" algn="l" defTabSz="1022350">
            <a:lnSpc>
              <a:spcPct val="100000"/>
            </a:lnSpc>
            <a:spcBef>
              <a:spcPct val="0"/>
            </a:spcBef>
            <a:spcAft>
              <a:spcPct val="35000"/>
            </a:spcAft>
            <a:buNone/>
          </a:pPr>
          <a:r>
            <a:rPr lang="en-AT" sz="2300" kern="1200" dirty="0"/>
            <a:t>This presentation will cover the following:</a:t>
          </a:r>
          <a:endParaRPr lang="en-US" sz="2300" kern="1200" dirty="0"/>
        </a:p>
        <a:p>
          <a:pPr marL="228600" lvl="1" indent="-228600" algn="l" defTabSz="889000">
            <a:lnSpc>
              <a:spcPct val="100000"/>
            </a:lnSpc>
            <a:spcBef>
              <a:spcPct val="0"/>
            </a:spcBef>
            <a:spcAft>
              <a:spcPct val="15000"/>
            </a:spcAft>
            <a:buChar char="•"/>
          </a:pPr>
          <a:r>
            <a:rPr lang="en-AT" sz="2000" kern="1200" dirty="0"/>
            <a:t>Supervised, unsupervised and semi-supervised learning</a:t>
          </a:r>
          <a:endParaRPr lang="en-US" sz="2000" kern="1200" dirty="0"/>
        </a:p>
        <a:p>
          <a:pPr marL="228600" lvl="1" indent="-228600" algn="l" defTabSz="889000">
            <a:lnSpc>
              <a:spcPct val="100000"/>
            </a:lnSpc>
            <a:spcBef>
              <a:spcPct val="0"/>
            </a:spcBef>
            <a:spcAft>
              <a:spcPct val="15000"/>
            </a:spcAft>
            <a:buChar char="•"/>
          </a:pPr>
          <a:r>
            <a:rPr lang="en-AT" sz="2000" kern="1200" dirty="0"/>
            <a:t>How K-Means works</a:t>
          </a:r>
          <a:endParaRPr lang="en-US" sz="2000" kern="1200" dirty="0"/>
        </a:p>
        <a:p>
          <a:pPr marL="228600" lvl="1" indent="-228600" algn="l" defTabSz="889000">
            <a:lnSpc>
              <a:spcPct val="100000"/>
            </a:lnSpc>
            <a:spcBef>
              <a:spcPct val="0"/>
            </a:spcBef>
            <a:spcAft>
              <a:spcPct val="15000"/>
            </a:spcAft>
            <a:buChar char="•"/>
          </a:pPr>
          <a:r>
            <a:rPr lang="en-AT" sz="2000" kern="1200" dirty="0"/>
            <a:t>Potential problems with K-Means</a:t>
          </a:r>
          <a:endParaRPr lang="en-US" sz="2000" kern="1200" dirty="0"/>
        </a:p>
        <a:p>
          <a:pPr marL="228600" lvl="1" indent="-228600" algn="l" defTabSz="889000">
            <a:lnSpc>
              <a:spcPct val="100000"/>
            </a:lnSpc>
            <a:spcBef>
              <a:spcPct val="0"/>
            </a:spcBef>
            <a:spcAft>
              <a:spcPct val="15000"/>
            </a:spcAft>
            <a:buChar char="•"/>
          </a:pPr>
          <a:r>
            <a:rPr lang="en-AT" sz="2000" kern="1200" dirty="0"/>
            <a:t>K-Means’ real-world applications</a:t>
          </a:r>
          <a:endParaRPr lang="en-US" sz="2000" kern="1200" dirty="0"/>
        </a:p>
      </dsp:txBody>
      <dsp:txXfrm>
        <a:off x="8453" y="0"/>
        <a:ext cx="5560682" cy="3530062"/>
      </dsp:txXfrm>
    </dsp:sp>
    <dsp:sp modelId="{95C9FCD0-983C-7541-A4F4-DEF501F99997}">
      <dsp:nvSpPr>
        <dsp:cNvPr id="0" name=""/>
        <dsp:cNvSpPr/>
      </dsp:nvSpPr>
      <dsp:spPr>
        <a:xfrm>
          <a:off x="4810005" y="0"/>
          <a:ext cx="6001940" cy="3530062"/>
        </a:xfrm>
        <a:prstGeom prst="chevron">
          <a:avLst>
            <a:gd name="adj" fmla="val 25000"/>
          </a:avLst>
        </a:prstGeom>
        <a:gradFill rotWithShape="0">
          <a:gsLst>
            <a:gs pos="0">
              <a:schemeClr val="accent2">
                <a:hueOff val="1149490"/>
                <a:satOff val="-18772"/>
                <a:lumOff val="1176"/>
                <a:alphaOff val="0"/>
                <a:tint val="96000"/>
                <a:satMod val="100000"/>
                <a:lumMod val="104000"/>
              </a:schemeClr>
            </a:gs>
            <a:gs pos="78000">
              <a:schemeClr val="accent2">
                <a:hueOff val="1149490"/>
                <a:satOff val="-18772"/>
                <a:lumOff val="1176"/>
                <a:alphaOff val="0"/>
                <a:shade val="100000"/>
                <a:satMod val="110000"/>
                <a:lumMod val="100000"/>
              </a:schemeClr>
            </a:gs>
          </a:gsLst>
          <a:lin ang="5400000" scaled="0"/>
        </a:gradFill>
        <a:ln>
          <a:noFill/>
        </a:ln>
        <a:effectLst/>
        <a:scene3d>
          <a:camera prst="orthographicFront">
            <a:rot lat="0" lon="0" rev="0"/>
          </a:camera>
          <a:lightRig rig="threePt" dir="t"/>
        </a:scene3d>
        <a:sp3d>
          <a:bevelT w="25400" h="12700"/>
        </a:sp3d>
      </dsp:spPr>
      <dsp:style>
        <a:lnRef idx="0">
          <a:scrgbClr r="0" g="0" b="0"/>
        </a:lnRef>
        <a:fillRef idx="3">
          <a:scrgbClr r="0" g="0" b="0"/>
        </a:fillRef>
        <a:effectRef idx="2">
          <a:scrgbClr r="0" g="0" b="0"/>
        </a:effectRef>
        <a:fontRef idx="minor">
          <a:schemeClr val="lt1"/>
        </a:fontRef>
      </dsp:style>
      <dsp:txBody>
        <a:bodyPr spcFirstLastPara="0" vert="horz" wrap="square" lIns="211735" tIns="58420" rIns="211735" bIns="58420" numCol="1" spcCol="1270" anchor="ctr" anchorCtr="0">
          <a:noAutofit/>
        </a:bodyPr>
        <a:lstStyle/>
        <a:p>
          <a:pPr marL="0" lvl="0" indent="0" algn="ctr" defTabSz="1022350">
            <a:lnSpc>
              <a:spcPct val="100000"/>
            </a:lnSpc>
            <a:spcBef>
              <a:spcPct val="0"/>
            </a:spcBef>
            <a:spcAft>
              <a:spcPct val="35000"/>
            </a:spcAft>
            <a:buNone/>
          </a:pPr>
          <a:r>
            <a:rPr lang="en-AT" sz="2300" kern="1200" dirty="0">
              <a:solidFill>
                <a:schemeClr val="bg1"/>
              </a:solidFill>
            </a:rPr>
            <a:t>The aim of the presentation is to provide a complete beginner with a good understanding of K-Means and to demonstrate where it can / can’t be used effectively in real world analytical scenarios.</a:t>
          </a:r>
          <a:endParaRPr lang="en-US" sz="2300" kern="1200" dirty="0">
            <a:solidFill>
              <a:schemeClr val="bg1"/>
            </a:solidFill>
          </a:endParaRPr>
        </a:p>
      </dsp:txBody>
      <dsp:txXfrm>
        <a:off x="5692521" y="0"/>
        <a:ext cx="4236909" cy="35300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A8FBA-7166-1244-9B91-A4C4F740783A}">
      <dsp:nvSpPr>
        <dsp:cNvPr id="0" name=""/>
        <dsp:cNvSpPr/>
      </dsp:nvSpPr>
      <dsp:spPr>
        <a:xfrm>
          <a:off x="0" y="0"/>
          <a:ext cx="10820400" cy="0"/>
        </a:xfrm>
        <a:prstGeom prst="line">
          <a:avLst/>
        </a:prstGeom>
        <a:gradFill rotWithShape="0">
          <a:gsLst>
            <a:gs pos="0">
              <a:schemeClr val="accent2">
                <a:hueOff val="0"/>
                <a:satOff val="0"/>
                <a:lumOff val="0"/>
                <a:alphaOff val="0"/>
                <a:tint val="96000"/>
                <a:satMod val="100000"/>
                <a:lumMod val="104000"/>
              </a:schemeClr>
            </a:gs>
            <a:gs pos="78000">
              <a:schemeClr val="accent2">
                <a:hueOff val="0"/>
                <a:satOff val="0"/>
                <a:lumOff val="0"/>
                <a:alphaOff val="0"/>
                <a:shade val="100000"/>
                <a:satMod val="110000"/>
                <a:lumMod val="100000"/>
              </a:schemeClr>
            </a:gs>
          </a:gsLst>
          <a:lin ang="5400000" scaled="0"/>
        </a:gradFill>
        <a:ln w="9525" cap="flat" cmpd="sng" algn="ctr">
          <a:solidFill>
            <a:schemeClr val="accent2">
              <a:hueOff val="0"/>
              <a:satOff val="0"/>
              <a:lumOff val="0"/>
              <a:alphaOff val="0"/>
            </a:schemeClr>
          </a:solidFill>
          <a:prstDash val="solid"/>
        </a:ln>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dsp:spPr>
      <dsp:style>
        <a:lnRef idx="1">
          <a:scrgbClr r="0" g="0" b="0"/>
        </a:lnRef>
        <a:fillRef idx="3">
          <a:scrgbClr r="0" g="0" b="0"/>
        </a:fillRef>
        <a:effectRef idx="3">
          <a:scrgbClr r="0" g="0" b="0"/>
        </a:effectRef>
        <a:fontRef idx="minor">
          <a:schemeClr val="lt1"/>
        </a:fontRef>
      </dsp:style>
    </dsp:sp>
    <dsp:sp modelId="{5615B108-F76F-694E-A7B9-B813D28530BD}">
      <dsp:nvSpPr>
        <dsp:cNvPr id="0" name=""/>
        <dsp:cNvSpPr/>
      </dsp:nvSpPr>
      <dsp:spPr>
        <a:xfrm>
          <a:off x="0" y="0"/>
          <a:ext cx="2164080" cy="40241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AT" sz="2500" kern="1200" dirty="0"/>
            <a:t>The structure of the rest of the presentation is as follows:</a:t>
          </a:r>
          <a:endParaRPr lang="en-US" sz="2500" kern="1200" dirty="0"/>
        </a:p>
      </dsp:txBody>
      <dsp:txXfrm>
        <a:off x="0" y="0"/>
        <a:ext cx="2164080" cy="4024125"/>
      </dsp:txXfrm>
    </dsp:sp>
    <dsp:sp modelId="{B5DA1DD4-404A-604C-AD8D-814B9B821705}">
      <dsp:nvSpPr>
        <dsp:cNvPr id="0" name=""/>
        <dsp:cNvSpPr/>
      </dsp:nvSpPr>
      <dsp:spPr>
        <a:xfrm>
          <a:off x="2326385" y="27164"/>
          <a:ext cx="8494014" cy="543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AT" sz="2100" kern="1200" dirty="0"/>
            <a:t>Introduction to Learning Paradigms (Supervised vs Unsupervised)</a:t>
          </a:r>
          <a:endParaRPr lang="en-US" sz="2100" kern="1200" dirty="0"/>
        </a:p>
      </dsp:txBody>
      <dsp:txXfrm>
        <a:off x="2326385" y="27164"/>
        <a:ext cx="8494014" cy="543296"/>
      </dsp:txXfrm>
    </dsp:sp>
    <dsp:sp modelId="{E18BEC52-3031-0A4B-9F21-A904B0B4B4D8}">
      <dsp:nvSpPr>
        <dsp:cNvPr id="0" name=""/>
        <dsp:cNvSpPr/>
      </dsp:nvSpPr>
      <dsp:spPr>
        <a:xfrm>
          <a:off x="2164080" y="570460"/>
          <a:ext cx="8656320" cy="0"/>
        </a:xfrm>
        <a:prstGeom prst="line">
          <a:avLst/>
        </a:prstGeom>
        <a:noFill/>
        <a:ln w="9525"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4998A021-007B-8947-A403-DAB9CC8D4195}">
      <dsp:nvSpPr>
        <dsp:cNvPr id="0" name=""/>
        <dsp:cNvSpPr/>
      </dsp:nvSpPr>
      <dsp:spPr>
        <a:xfrm>
          <a:off x="2326385" y="597625"/>
          <a:ext cx="8494014" cy="543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AT" sz="2100" kern="1200" dirty="0"/>
            <a:t>How K-Means Works</a:t>
          </a:r>
          <a:endParaRPr lang="en-US" sz="2100" kern="1200" dirty="0"/>
        </a:p>
      </dsp:txBody>
      <dsp:txXfrm>
        <a:off x="2326385" y="597625"/>
        <a:ext cx="8494014" cy="543296"/>
      </dsp:txXfrm>
    </dsp:sp>
    <dsp:sp modelId="{70B3299B-D0F5-0645-BDC5-22E6C74C3BD0}">
      <dsp:nvSpPr>
        <dsp:cNvPr id="0" name=""/>
        <dsp:cNvSpPr/>
      </dsp:nvSpPr>
      <dsp:spPr>
        <a:xfrm>
          <a:off x="2164080" y="1140921"/>
          <a:ext cx="8656320" cy="0"/>
        </a:xfrm>
        <a:prstGeom prst="line">
          <a:avLst/>
        </a:prstGeom>
        <a:noFill/>
        <a:ln w="9525"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F1D12195-90F3-C242-949B-A3EE7C79F3C4}">
      <dsp:nvSpPr>
        <dsp:cNvPr id="0" name=""/>
        <dsp:cNvSpPr/>
      </dsp:nvSpPr>
      <dsp:spPr>
        <a:xfrm>
          <a:off x="2326385" y="1168086"/>
          <a:ext cx="8494014" cy="543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AT" sz="2100" kern="1200" dirty="0"/>
            <a:t>A Potential Problem with K-Means</a:t>
          </a:r>
          <a:endParaRPr lang="en-US" sz="2100" kern="1200" dirty="0"/>
        </a:p>
      </dsp:txBody>
      <dsp:txXfrm>
        <a:off x="2326385" y="1168086"/>
        <a:ext cx="8494014" cy="543296"/>
      </dsp:txXfrm>
    </dsp:sp>
    <dsp:sp modelId="{00091FD6-D32E-0C4B-AD15-F3E82A21E84F}">
      <dsp:nvSpPr>
        <dsp:cNvPr id="0" name=""/>
        <dsp:cNvSpPr/>
      </dsp:nvSpPr>
      <dsp:spPr>
        <a:xfrm>
          <a:off x="2164080" y="1711382"/>
          <a:ext cx="8656320" cy="0"/>
        </a:xfrm>
        <a:prstGeom prst="line">
          <a:avLst/>
        </a:prstGeom>
        <a:noFill/>
        <a:ln w="9525"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BA658034-3ADD-E840-A067-8452513079C3}">
      <dsp:nvSpPr>
        <dsp:cNvPr id="0" name=""/>
        <dsp:cNvSpPr/>
      </dsp:nvSpPr>
      <dsp:spPr>
        <a:xfrm>
          <a:off x="2326385" y="1738547"/>
          <a:ext cx="8494014" cy="543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AT" sz="2100" kern="1200" dirty="0"/>
            <a:t>Real World Applications of K-Means</a:t>
          </a:r>
          <a:endParaRPr lang="en-US" sz="2100" kern="1200" dirty="0"/>
        </a:p>
      </dsp:txBody>
      <dsp:txXfrm>
        <a:off x="2326385" y="1738547"/>
        <a:ext cx="8494014" cy="543296"/>
      </dsp:txXfrm>
    </dsp:sp>
    <dsp:sp modelId="{1A156E61-7614-5848-A6C4-97E27634E1DD}">
      <dsp:nvSpPr>
        <dsp:cNvPr id="0" name=""/>
        <dsp:cNvSpPr/>
      </dsp:nvSpPr>
      <dsp:spPr>
        <a:xfrm>
          <a:off x="2164080" y="2281843"/>
          <a:ext cx="8656320" cy="0"/>
        </a:xfrm>
        <a:prstGeom prst="line">
          <a:avLst/>
        </a:prstGeom>
        <a:noFill/>
        <a:ln w="9525"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CE1B47F5-7484-8E48-A48D-3E7CB4C9A0B5}">
      <dsp:nvSpPr>
        <dsp:cNvPr id="0" name=""/>
        <dsp:cNvSpPr/>
      </dsp:nvSpPr>
      <dsp:spPr>
        <a:xfrm>
          <a:off x="2326385" y="2309008"/>
          <a:ext cx="8494014" cy="543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AT" sz="2100" kern="1200"/>
            <a:t>Conclusion</a:t>
          </a:r>
          <a:endParaRPr lang="en-US" sz="2100" kern="1200"/>
        </a:p>
      </dsp:txBody>
      <dsp:txXfrm>
        <a:off x="2326385" y="2309008"/>
        <a:ext cx="8494014" cy="543296"/>
      </dsp:txXfrm>
    </dsp:sp>
    <dsp:sp modelId="{5D68AAE2-73F8-D34C-B583-BD300291DA91}">
      <dsp:nvSpPr>
        <dsp:cNvPr id="0" name=""/>
        <dsp:cNvSpPr/>
      </dsp:nvSpPr>
      <dsp:spPr>
        <a:xfrm>
          <a:off x="2164080" y="2852304"/>
          <a:ext cx="8656320" cy="0"/>
        </a:xfrm>
        <a:prstGeom prst="line">
          <a:avLst/>
        </a:prstGeom>
        <a:noFill/>
        <a:ln w="9525"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BEA1B6E1-D22B-AA45-9F11-63F696087834}">
      <dsp:nvSpPr>
        <dsp:cNvPr id="0" name=""/>
        <dsp:cNvSpPr/>
      </dsp:nvSpPr>
      <dsp:spPr>
        <a:xfrm>
          <a:off x="2326385" y="2879469"/>
          <a:ext cx="8494014" cy="543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AT" sz="2100" kern="1200" dirty="0"/>
            <a:t>List of Figures</a:t>
          </a:r>
          <a:endParaRPr lang="en-US" sz="2100" kern="1200" dirty="0"/>
        </a:p>
      </dsp:txBody>
      <dsp:txXfrm>
        <a:off x="2326385" y="2879469"/>
        <a:ext cx="8494014" cy="543296"/>
      </dsp:txXfrm>
    </dsp:sp>
    <dsp:sp modelId="{005F4345-26B0-0148-9CA5-658BDB88839F}">
      <dsp:nvSpPr>
        <dsp:cNvPr id="0" name=""/>
        <dsp:cNvSpPr/>
      </dsp:nvSpPr>
      <dsp:spPr>
        <a:xfrm>
          <a:off x="2164080" y="3422765"/>
          <a:ext cx="8656320" cy="0"/>
        </a:xfrm>
        <a:prstGeom prst="line">
          <a:avLst/>
        </a:prstGeom>
        <a:noFill/>
        <a:ln w="9525"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 modelId="{774E7656-FDF9-ED47-98D8-76F89D9B483F}">
      <dsp:nvSpPr>
        <dsp:cNvPr id="0" name=""/>
        <dsp:cNvSpPr/>
      </dsp:nvSpPr>
      <dsp:spPr>
        <a:xfrm>
          <a:off x="2326385" y="3449930"/>
          <a:ext cx="8494014" cy="543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AT" sz="2100" kern="1200" dirty="0"/>
            <a:t>Bibliography</a:t>
          </a:r>
          <a:endParaRPr lang="en-US" sz="2100" kern="1200" dirty="0"/>
        </a:p>
      </dsp:txBody>
      <dsp:txXfrm>
        <a:off x="2326385" y="3449930"/>
        <a:ext cx="8494014" cy="543296"/>
      </dsp:txXfrm>
    </dsp:sp>
    <dsp:sp modelId="{AE4CAC43-E154-DF41-8BDB-050E6DBD2F65}">
      <dsp:nvSpPr>
        <dsp:cNvPr id="0" name=""/>
        <dsp:cNvSpPr/>
      </dsp:nvSpPr>
      <dsp:spPr>
        <a:xfrm>
          <a:off x="2164080" y="3993226"/>
          <a:ext cx="8656320" cy="0"/>
        </a:xfrm>
        <a:prstGeom prst="line">
          <a:avLst/>
        </a:prstGeom>
        <a:noFill/>
        <a:ln w="9525" cap="flat" cmpd="sng" algn="ctr">
          <a:solidFill>
            <a:schemeClr val="accent2">
              <a:tint val="50000"/>
              <a:hueOff val="0"/>
              <a:satOff val="0"/>
              <a:lumOff val="0"/>
              <a:alphaOff val="0"/>
            </a:schemeClr>
          </a:solidFill>
          <a:prstDash val="solid"/>
        </a:ln>
        <a:effectLst/>
      </dsp:spPr>
      <dsp:style>
        <a:lnRef idx="1">
          <a:scrgbClr r="0" g="0" b="0"/>
        </a:lnRef>
        <a:fillRef idx="0">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7F1AA5-1EFC-455D-BB15-766F97EE6CCD}">
      <dsp:nvSpPr>
        <dsp:cNvPr id="0" name=""/>
        <dsp:cNvSpPr/>
      </dsp:nvSpPr>
      <dsp:spPr>
        <a:xfrm>
          <a:off x="0" y="2261"/>
          <a:ext cx="6290226" cy="11459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76D1BD-022E-49B8-B418-D71BC26A6B08}">
      <dsp:nvSpPr>
        <dsp:cNvPr id="0" name=""/>
        <dsp:cNvSpPr/>
      </dsp:nvSpPr>
      <dsp:spPr>
        <a:xfrm>
          <a:off x="346647" y="260097"/>
          <a:ext cx="630267" cy="6302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89899D-3B9C-413F-9855-EC057F4CFD85}">
      <dsp:nvSpPr>
        <dsp:cNvPr id="0" name=""/>
        <dsp:cNvSpPr/>
      </dsp:nvSpPr>
      <dsp:spPr>
        <a:xfrm>
          <a:off x="1323562" y="2261"/>
          <a:ext cx="4966663" cy="114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279" tIns="121279" rIns="121279" bIns="121279" numCol="1" spcCol="1270" anchor="ctr" anchorCtr="0">
          <a:noAutofit/>
        </a:bodyPr>
        <a:lstStyle/>
        <a:p>
          <a:pPr marL="0" lvl="0" indent="0" algn="l" defTabSz="711200">
            <a:lnSpc>
              <a:spcPct val="90000"/>
            </a:lnSpc>
            <a:spcBef>
              <a:spcPct val="0"/>
            </a:spcBef>
            <a:spcAft>
              <a:spcPct val="35000"/>
            </a:spcAft>
            <a:buNone/>
          </a:pPr>
          <a:r>
            <a:rPr lang="en-GB" sz="1600" b="1" kern="1200" dirty="0"/>
            <a:t>Supervised</a:t>
          </a:r>
          <a:r>
            <a:rPr lang="en-GB" sz="1600" kern="1200" dirty="0"/>
            <a:t>: Labelled data for model to learn and predict. (</a:t>
          </a:r>
          <a:r>
            <a:rPr lang="en-AT" sz="1600" kern="1200" dirty="0">
              <a:latin typeface="Arial"/>
              <a:ea typeface="Arial"/>
              <a:cs typeface="Arial"/>
              <a:sym typeface="Arial"/>
            </a:rPr>
            <a:t>Geron, A. (2019).</a:t>
          </a:r>
          <a:r>
            <a:rPr lang="en-GB" sz="1600" kern="1200" dirty="0"/>
            <a:t>)</a:t>
          </a:r>
          <a:endParaRPr lang="en-US" sz="1600" kern="1200" dirty="0"/>
        </a:p>
      </dsp:txBody>
      <dsp:txXfrm>
        <a:off x="1323562" y="2261"/>
        <a:ext cx="4966663" cy="1145941"/>
      </dsp:txXfrm>
    </dsp:sp>
    <dsp:sp modelId="{8919AC53-71A4-4EAC-A3B1-AC45762971E2}">
      <dsp:nvSpPr>
        <dsp:cNvPr id="0" name=""/>
        <dsp:cNvSpPr/>
      </dsp:nvSpPr>
      <dsp:spPr>
        <a:xfrm>
          <a:off x="0" y="1434688"/>
          <a:ext cx="6290226" cy="11459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DFA8AD-2596-4981-B097-B0E79AE7D8DD}">
      <dsp:nvSpPr>
        <dsp:cNvPr id="0" name=""/>
        <dsp:cNvSpPr/>
      </dsp:nvSpPr>
      <dsp:spPr>
        <a:xfrm>
          <a:off x="346647" y="1692524"/>
          <a:ext cx="630267" cy="6302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0507B1-8FD5-4F50-9927-85552357BCC5}">
      <dsp:nvSpPr>
        <dsp:cNvPr id="0" name=""/>
        <dsp:cNvSpPr/>
      </dsp:nvSpPr>
      <dsp:spPr>
        <a:xfrm>
          <a:off x="1323562" y="1434688"/>
          <a:ext cx="4966663" cy="114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279" tIns="121279" rIns="121279" bIns="121279" numCol="1" spcCol="1270" anchor="ctr" anchorCtr="0">
          <a:noAutofit/>
        </a:bodyPr>
        <a:lstStyle/>
        <a:p>
          <a:pPr marL="0" lvl="0" indent="0" algn="l" defTabSz="711200">
            <a:lnSpc>
              <a:spcPct val="90000"/>
            </a:lnSpc>
            <a:spcBef>
              <a:spcPct val="0"/>
            </a:spcBef>
            <a:spcAft>
              <a:spcPct val="35000"/>
            </a:spcAft>
            <a:buNone/>
          </a:pPr>
          <a:r>
            <a:rPr lang="en-GB" sz="1600" b="1" kern="1200" dirty="0"/>
            <a:t>Unsupervised</a:t>
          </a:r>
          <a:r>
            <a:rPr lang="en-GB" sz="1600" kern="1200" dirty="0"/>
            <a:t>: Inheriting structures and pattern detection for input data. Data unlabelled </a:t>
          </a:r>
          <a:r>
            <a:rPr lang="en-AT" sz="1600" b="0" kern="1200" dirty="0">
              <a:latin typeface="Arial"/>
              <a:ea typeface="Arial"/>
              <a:cs typeface="Arial"/>
              <a:sym typeface="Arial"/>
            </a:rPr>
            <a:t>Geron, A. (2019). </a:t>
          </a:r>
          <a:endParaRPr lang="en-US" sz="1600" b="0" kern="1200" dirty="0"/>
        </a:p>
      </dsp:txBody>
      <dsp:txXfrm>
        <a:off x="1323562" y="1434688"/>
        <a:ext cx="4966663" cy="1145941"/>
      </dsp:txXfrm>
    </dsp:sp>
    <dsp:sp modelId="{CF3FDB0D-0615-4C9A-B4EE-5984351C4CD7}">
      <dsp:nvSpPr>
        <dsp:cNvPr id="0" name=""/>
        <dsp:cNvSpPr/>
      </dsp:nvSpPr>
      <dsp:spPr>
        <a:xfrm>
          <a:off x="0" y="2867115"/>
          <a:ext cx="6290226" cy="11459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9E1617-D777-4883-B9B2-68CE353B7A64}">
      <dsp:nvSpPr>
        <dsp:cNvPr id="0" name=""/>
        <dsp:cNvSpPr/>
      </dsp:nvSpPr>
      <dsp:spPr>
        <a:xfrm>
          <a:off x="346647" y="3124952"/>
          <a:ext cx="630267" cy="6302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063046-D044-4537-BE31-7ED302B1679D}">
      <dsp:nvSpPr>
        <dsp:cNvPr id="0" name=""/>
        <dsp:cNvSpPr/>
      </dsp:nvSpPr>
      <dsp:spPr>
        <a:xfrm>
          <a:off x="1323562" y="2867115"/>
          <a:ext cx="4966663" cy="114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279" tIns="121279" rIns="121279" bIns="121279" numCol="1" spcCol="1270" anchor="ctr" anchorCtr="0">
          <a:noAutofit/>
        </a:bodyPr>
        <a:lstStyle/>
        <a:p>
          <a:pPr marL="0" lvl="0" indent="0" algn="l" defTabSz="711200">
            <a:lnSpc>
              <a:spcPct val="90000"/>
            </a:lnSpc>
            <a:spcBef>
              <a:spcPct val="0"/>
            </a:spcBef>
            <a:spcAft>
              <a:spcPct val="35000"/>
            </a:spcAft>
            <a:buNone/>
          </a:pPr>
          <a:r>
            <a:rPr lang="en-GB" sz="1600" b="1" kern="1200" dirty="0"/>
            <a:t>Semi Supervised</a:t>
          </a:r>
          <a:r>
            <a:rPr lang="en-GB" sz="1600" kern="1200" dirty="0"/>
            <a:t>: Use of some label data, and mostly unlabelled data. Mixture of supervised and unsupervised </a:t>
          </a:r>
          <a:r>
            <a:rPr lang="en-AT" sz="1600" kern="1200" dirty="0">
              <a:latin typeface="Arial"/>
              <a:ea typeface="Arial"/>
              <a:cs typeface="Arial"/>
              <a:sym typeface="Arial"/>
            </a:rPr>
            <a:t>Geron, A. (2019). </a:t>
          </a:r>
          <a:endParaRPr lang="en-US" sz="1600" kern="1200" dirty="0"/>
        </a:p>
      </dsp:txBody>
      <dsp:txXfrm>
        <a:off x="1323562" y="2867115"/>
        <a:ext cx="4966663" cy="1145941"/>
      </dsp:txXfrm>
    </dsp:sp>
    <dsp:sp modelId="{E8EB42AC-99A8-428C-B2F4-1461DA1E0CBD}">
      <dsp:nvSpPr>
        <dsp:cNvPr id="0" name=""/>
        <dsp:cNvSpPr/>
      </dsp:nvSpPr>
      <dsp:spPr>
        <a:xfrm>
          <a:off x="0" y="4301803"/>
          <a:ext cx="6290226" cy="11459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F8FBEC-FB78-4005-9D8D-81738F0CFC1B}">
      <dsp:nvSpPr>
        <dsp:cNvPr id="0" name=""/>
        <dsp:cNvSpPr/>
      </dsp:nvSpPr>
      <dsp:spPr>
        <a:xfrm>
          <a:off x="346647" y="4557379"/>
          <a:ext cx="630267" cy="63026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4F4542-293A-4DCF-9408-76C56429E2D4}">
      <dsp:nvSpPr>
        <dsp:cNvPr id="0" name=""/>
        <dsp:cNvSpPr/>
      </dsp:nvSpPr>
      <dsp:spPr>
        <a:xfrm>
          <a:off x="1323562" y="4299542"/>
          <a:ext cx="4966663" cy="11459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279" tIns="121279" rIns="121279" bIns="121279" numCol="1" spcCol="1270" anchor="ctr" anchorCtr="0">
          <a:noAutofit/>
        </a:bodyPr>
        <a:lstStyle/>
        <a:p>
          <a:pPr marL="0" lvl="0" indent="0" algn="l" defTabSz="711200">
            <a:lnSpc>
              <a:spcPct val="90000"/>
            </a:lnSpc>
            <a:spcBef>
              <a:spcPct val="0"/>
            </a:spcBef>
            <a:spcAft>
              <a:spcPct val="35000"/>
            </a:spcAft>
            <a:buNone/>
          </a:pPr>
          <a:r>
            <a:rPr lang="en-GB" sz="1600" b="1" kern="1200" dirty="0"/>
            <a:t>Reinforcement</a:t>
          </a:r>
          <a:r>
            <a:rPr lang="en-GB" sz="1600" kern="1200" dirty="0"/>
            <a:t>: Self-interpreting but based on award system and punishments learned from errors and trial seeking maximum reward </a:t>
          </a:r>
          <a:r>
            <a:rPr lang="en-AT" sz="1600" kern="1200" dirty="0">
              <a:latin typeface="Arial"/>
              <a:ea typeface="Arial"/>
              <a:cs typeface="Arial"/>
              <a:sym typeface="Arial"/>
            </a:rPr>
            <a:t>Geron, A. (2019). </a:t>
          </a:r>
          <a:endParaRPr lang="en-US" sz="1600" kern="1200" dirty="0"/>
        </a:p>
      </dsp:txBody>
      <dsp:txXfrm>
        <a:off x="1323562" y="4299542"/>
        <a:ext cx="4966663" cy="11459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5849C9-F255-B949-9FBA-8D73B58A6CD8}">
      <dsp:nvSpPr>
        <dsp:cNvPr id="0" name=""/>
        <dsp:cNvSpPr/>
      </dsp:nvSpPr>
      <dsp:spPr>
        <a:xfrm>
          <a:off x="0" y="0"/>
          <a:ext cx="5446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D31BA7-6B91-154A-958E-7188EBFDF3C3}">
      <dsp:nvSpPr>
        <dsp:cNvPr id="0" name=""/>
        <dsp:cNvSpPr/>
      </dsp:nvSpPr>
      <dsp:spPr>
        <a:xfrm>
          <a:off x="0" y="0"/>
          <a:ext cx="5446800" cy="108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AT" sz="2500" kern="1200" dirty="0"/>
            <a:t>widely used clustering algorithm</a:t>
          </a:r>
          <a:endParaRPr lang="en-US" sz="2500" kern="1200" dirty="0"/>
        </a:p>
      </dsp:txBody>
      <dsp:txXfrm>
        <a:off x="0" y="0"/>
        <a:ext cx="5446800" cy="1087800"/>
      </dsp:txXfrm>
    </dsp:sp>
    <dsp:sp modelId="{F81D8B71-E48D-AF40-AA96-8595DBEBA076}">
      <dsp:nvSpPr>
        <dsp:cNvPr id="0" name=""/>
        <dsp:cNvSpPr/>
      </dsp:nvSpPr>
      <dsp:spPr>
        <a:xfrm>
          <a:off x="0" y="1087800"/>
          <a:ext cx="5446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66AA76-0C6C-6243-A7CC-67C239A42491}">
      <dsp:nvSpPr>
        <dsp:cNvPr id="0" name=""/>
        <dsp:cNvSpPr/>
      </dsp:nvSpPr>
      <dsp:spPr>
        <a:xfrm>
          <a:off x="0" y="1087800"/>
          <a:ext cx="5446800" cy="108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de-DE" sz="2500" kern="1200" dirty="0" err="1"/>
            <a:t>centroid-based</a:t>
          </a:r>
          <a:r>
            <a:rPr lang="de-DE" sz="2500" kern="1200" dirty="0"/>
            <a:t> </a:t>
          </a:r>
          <a:r>
            <a:rPr lang="de-DE" sz="2500" kern="1200" dirty="0" err="1"/>
            <a:t>clustering</a:t>
          </a:r>
          <a:r>
            <a:rPr lang="de-DE" sz="2500" kern="1200" dirty="0"/>
            <a:t> </a:t>
          </a:r>
          <a:r>
            <a:rPr lang="de-DE" sz="2500" kern="1200" dirty="0" err="1"/>
            <a:t>method</a:t>
          </a:r>
          <a:endParaRPr lang="en-US" sz="2500" kern="1200" dirty="0"/>
        </a:p>
      </dsp:txBody>
      <dsp:txXfrm>
        <a:off x="0" y="1087800"/>
        <a:ext cx="5446800" cy="1087800"/>
      </dsp:txXfrm>
    </dsp:sp>
    <dsp:sp modelId="{A5240DEE-2928-0E4F-8EA2-D0869A848696}">
      <dsp:nvSpPr>
        <dsp:cNvPr id="0" name=""/>
        <dsp:cNvSpPr/>
      </dsp:nvSpPr>
      <dsp:spPr>
        <a:xfrm>
          <a:off x="0" y="2175600"/>
          <a:ext cx="5446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2C0A3B-6BC4-544A-8F63-D28765A41CA8}">
      <dsp:nvSpPr>
        <dsp:cNvPr id="0" name=""/>
        <dsp:cNvSpPr/>
      </dsp:nvSpPr>
      <dsp:spPr>
        <a:xfrm>
          <a:off x="0" y="2175600"/>
          <a:ext cx="5446800" cy="108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AT" sz="2500" kern="1200" dirty="0"/>
            <a:t>generally used in data minig and pattern recognition problems</a:t>
          </a:r>
          <a:endParaRPr lang="en-US" sz="2500" kern="1200" dirty="0"/>
        </a:p>
      </dsp:txBody>
      <dsp:txXfrm>
        <a:off x="0" y="2175600"/>
        <a:ext cx="5446800" cy="1087800"/>
      </dsp:txXfrm>
    </dsp:sp>
    <dsp:sp modelId="{9B6B99F2-0466-8140-9B76-9A8C6F27FEE8}">
      <dsp:nvSpPr>
        <dsp:cNvPr id="0" name=""/>
        <dsp:cNvSpPr/>
      </dsp:nvSpPr>
      <dsp:spPr>
        <a:xfrm>
          <a:off x="0" y="3263399"/>
          <a:ext cx="54468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2035B17-060E-FB4E-8E8B-38176824700E}">
      <dsp:nvSpPr>
        <dsp:cNvPr id="0" name=""/>
        <dsp:cNvSpPr/>
      </dsp:nvSpPr>
      <dsp:spPr>
        <a:xfrm>
          <a:off x="0" y="3263400"/>
          <a:ext cx="5446800" cy="108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AT" sz="2500" kern="1200" dirty="0"/>
            <a:t>These are called centroids (?) (Bob, 2014, p7)</a:t>
          </a:r>
          <a:endParaRPr lang="en-US" sz="2500" kern="1200" dirty="0"/>
        </a:p>
      </dsp:txBody>
      <dsp:txXfrm>
        <a:off x="0" y="3263400"/>
        <a:ext cx="5446800" cy="10878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215EE0-F110-EC47-9794-7650FFA9222F}">
      <dsp:nvSpPr>
        <dsp:cNvPr id="0" name=""/>
        <dsp:cNvSpPr/>
      </dsp:nvSpPr>
      <dsp:spPr>
        <a:xfrm>
          <a:off x="0" y="97050"/>
          <a:ext cx="6290226" cy="99312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AT" sz="2500" kern="1200"/>
            <a:t>Seen a few different paradigms</a:t>
          </a:r>
          <a:endParaRPr lang="en-US" sz="2500" kern="1200"/>
        </a:p>
      </dsp:txBody>
      <dsp:txXfrm>
        <a:off x="48481" y="145531"/>
        <a:ext cx="6193264" cy="896166"/>
      </dsp:txXfrm>
    </dsp:sp>
    <dsp:sp modelId="{26580CE1-15F4-5748-B4CA-9D020DC6E637}">
      <dsp:nvSpPr>
        <dsp:cNvPr id="0" name=""/>
        <dsp:cNvSpPr/>
      </dsp:nvSpPr>
      <dsp:spPr>
        <a:xfrm>
          <a:off x="0" y="1162179"/>
          <a:ext cx="6290226" cy="993128"/>
        </a:xfrm>
        <a:prstGeom prst="roundRect">
          <a:avLst/>
        </a:prstGeom>
        <a:solidFill>
          <a:schemeClr val="accent2">
            <a:hueOff val="287373"/>
            <a:satOff val="-4693"/>
            <a:lumOff val="29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AT" sz="2500" kern="1200"/>
            <a:t>Identified how kmeans works</a:t>
          </a:r>
          <a:endParaRPr lang="en-US" sz="2500" kern="1200"/>
        </a:p>
      </dsp:txBody>
      <dsp:txXfrm>
        <a:off x="48481" y="1210660"/>
        <a:ext cx="6193264" cy="896166"/>
      </dsp:txXfrm>
    </dsp:sp>
    <dsp:sp modelId="{56EDB54B-186C-944D-B146-507019F0379D}">
      <dsp:nvSpPr>
        <dsp:cNvPr id="0" name=""/>
        <dsp:cNvSpPr/>
      </dsp:nvSpPr>
      <dsp:spPr>
        <a:xfrm>
          <a:off x="0" y="2227308"/>
          <a:ext cx="6290226" cy="993128"/>
        </a:xfrm>
        <a:prstGeom prst="roundRect">
          <a:avLst/>
        </a:prstGeom>
        <a:solidFill>
          <a:schemeClr val="accent2">
            <a:hueOff val="574745"/>
            <a:satOff val="-9386"/>
            <a:lumOff val="58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AT" sz="2500" kern="1200"/>
            <a:t>Based on that, determined which paradigm kmeans is</a:t>
          </a:r>
          <a:endParaRPr lang="en-US" sz="2500" kern="1200"/>
        </a:p>
      </dsp:txBody>
      <dsp:txXfrm>
        <a:off x="48481" y="2275789"/>
        <a:ext cx="6193264" cy="896166"/>
      </dsp:txXfrm>
    </dsp:sp>
    <dsp:sp modelId="{2C3D73A2-CEC9-DC49-B895-32B666226D09}">
      <dsp:nvSpPr>
        <dsp:cNvPr id="0" name=""/>
        <dsp:cNvSpPr/>
      </dsp:nvSpPr>
      <dsp:spPr>
        <a:xfrm>
          <a:off x="0" y="3292436"/>
          <a:ext cx="6290226" cy="993128"/>
        </a:xfrm>
        <a:prstGeom prst="roundRect">
          <a:avLst/>
        </a:prstGeom>
        <a:solidFill>
          <a:schemeClr val="accent2">
            <a:hueOff val="862118"/>
            <a:satOff val="-14079"/>
            <a:lumOff val="882"/>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AT" sz="2500" kern="1200"/>
            <a:t>Seen a few exams of kmeans in the ‘real world’</a:t>
          </a:r>
          <a:endParaRPr lang="en-US" sz="2500" kern="1200"/>
        </a:p>
      </dsp:txBody>
      <dsp:txXfrm>
        <a:off x="48481" y="3340917"/>
        <a:ext cx="6193264" cy="896166"/>
      </dsp:txXfrm>
    </dsp:sp>
    <dsp:sp modelId="{2F514309-73D0-D94F-B63B-C927FF28325E}">
      <dsp:nvSpPr>
        <dsp:cNvPr id="0" name=""/>
        <dsp:cNvSpPr/>
      </dsp:nvSpPr>
      <dsp:spPr>
        <a:xfrm>
          <a:off x="0" y="4357565"/>
          <a:ext cx="6290226" cy="993128"/>
        </a:xfrm>
        <a:prstGeom prst="roundRect">
          <a:avLst/>
        </a:prstGeom>
        <a:solidFill>
          <a:schemeClr val="accent2">
            <a:hueOff val="1149490"/>
            <a:satOff val="-18772"/>
            <a:lumOff val="117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AT" sz="2500" kern="1200"/>
            <a:t>Open ended questions (must be in the scope)</a:t>
          </a:r>
          <a:endParaRPr lang="en-US" sz="2500" kern="1200"/>
        </a:p>
      </dsp:txBody>
      <dsp:txXfrm>
        <a:off x="48481" y="4406046"/>
        <a:ext cx="6193264" cy="896166"/>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9" name="Google Shape;11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34640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3ceeb5eaa4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13ceeb5eaa4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3ceeb5eaa4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g13ceeb5eaa4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3ceeb5eaa4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g13ceeb5eaa4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1217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3ceeb5eaa4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g13ceeb5eaa4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542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3ceeb5eaa4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g13ceeb5eaa4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5761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3ceeb5eaa4_1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g13ceeb5eaa4_1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3ceeb5eaa4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g13ceeb5eaa4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3ceeb5eaa4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13ceeb5eaa4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13ceeb5eaa4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13ceeb5eaa4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502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3ceeb5eaa4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13ceeb5eaa4_1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2" name="Google Shape;18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GB"/>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endParaRPr lang="en-AT"/>
          </a:p>
        </p:txBody>
      </p:sp>
      <p:sp>
        <p:nvSpPr>
          <p:cNvPr id="5" name="Footer Placeholder 4"/>
          <p:cNvSpPr>
            <a:spLocks noGrp="1"/>
          </p:cNvSpPr>
          <p:nvPr>
            <p:ph type="ftr" sz="quarter" idx="11"/>
          </p:nvPr>
        </p:nvSpPr>
        <p:spPr>
          <a:xfrm>
            <a:off x="1371600" y="4323845"/>
            <a:ext cx="6400800" cy="365125"/>
          </a:xfrm>
        </p:spPr>
        <p:txBody>
          <a:bodyPr/>
          <a:lstStyle/>
          <a:p>
            <a:endParaRPr lang="en-AT"/>
          </a:p>
        </p:txBody>
      </p:sp>
      <p:sp>
        <p:nvSpPr>
          <p:cNvPr id="6" name="Slide Number Placeholder 5"/>
          <p:cNvSpPr>
            <a:spLocks noGrp="1"/>
          </p:cNvSpPr>
          <p:nvPr>
            <p:ph type="sldNum" sz="quarter" idx="12"/>
          </p:nvPr>
        </p:nvSpPr>
        <p:spPr>
          <a:xfrm>
            <a:off x="8077200" y="1430866"/>
            <a:ext cx="2743200" cy="365125"/>
          </a:xfrm>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4081318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21518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GB"/>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endParaRPr lang="en-AT"/>
          </a:p>
        </p:txBody>
      </p:sp>
      <p:sp>
        <p:nvSpPr>
          <p:cNvPr id="5" name="Footer Placeholder 4"/>
          <p:cNvSpPr>
            <a:spLocks noGrp="1"/>
          </p:cNvSpPr>
          <p:nvPr>
            <p:ph type="ftr" sz="quarter" idx="11"/>
          </p:nvPr>
        </p:nvSpPr>
        <p:spPr>
          <a:xfrm>
            <a:off x="685800" y="381001"/>
            <a:ext cx="6991492" cy="364065"/>
          </a:xfrm>
        </p:spPr>
        <p:txBody>
          <a:bodyPr/>
          <a:lstStyle/>
          <a:p>
            <a:endParaRPr lang="en-AT"/>
          </a:p>
        </p:txBody>
      </p:sp>
      <p:sp>
        <p:nvSpPr>
          <p:cNvPr id="6" name="Slide Number Placeholder 5"/>
          <p:cNvSpPr>
            <a:spLocks noGrp="1"/>
          </p:cNvSpPr>
          <p:nvPr>
            <p:ph type="sldNum" sz="quarter" idx="12"/>
          </p:nvPr>
        </p:nvSpPr>
        <p:spPr>
          <a:xfrm>
            <a:off x="10862452" y="381000"/>
            <a:ext cx="643748" cy="365125"/>
          </a:xfrm>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4079891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1173926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GB"/>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endParaRPr lang="en-AT"/>
          </a:p>
        </p:txBody>
      </p:sp>
      <p:sp>
        <p:nvSpPr>
          <p:cNvPr id="8" name="Footer Placeholder 7"/>
          <p:cNvSpPr>
            <a:spLocks noGrp="1"/>
          </p:cNvSpPr>
          <p:nvPr>
            <p:ph type="ftr" sz="quarter" idx="11"/>
          </p:nvPr>
        </p:nvSpPr>
        <p:spPr/>
        <p:txBody>
          <a:bodyPr/>
          <a:lstStyle/>
          <a:p>
            <a:endParaRPr lang="en-A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257327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1673593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AT"/>
          </a:p>
        </p:txBody>
      </p:sp>
      <p:sp>
        <p:nvSpPr>
          <p:cNvPr id="3" name="Footer Placeholder 2"/>
          <p:cNvSpPr>
            <a:spLocks noGrp="1"/>
          </p:cNvSpPr>
          <p:nvPr>
            <p:ph type="ftr" sz="quarter" idx="11"/>
          </p:nvPr>
        </p:nvSpPr>
        <p:spPr/>
        <p:txBody>
          <a:bodyPr/>
          <a:lstStyle/>
          <a:p>
            <a:endParaRPr lang="en-AT"/>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3732295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GB"/>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3086928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424455141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13805661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endParaRPr lang="en-AT"/>
          </a:p>
        </p:txBody>
      </p:sp>
      <p:sp>
        <p:nvSpPr>
          <p:cNvPr id="6" name="Footer Placeholder 5"/>
          <p:cNvSpPr>
            <a:spLocks noGrp="1"/>
          </p:cNvSpPr>
          <p:nvPr>
            <p:ph type="ftr" sz="quarter" idx="11"/>
          </p:nvPr>
        </p:nvSpPr>
        <p:spPr>
          <a:xfrm>
            <a:off x="685800" y="379941"/>
            <a:ext cx="6991492" cy="365125"/>
          </a:xfrm>
        </p:spPr>
        <p:txBody>
          <a:bodyPr/>
          <a:lstStyle/>
          <a:p>
            <a:endParaRPr lang="en-AT"/>
          </a:p>
        </p:txBody>
      </p:sp>
      <p:sp>
        <p:nvSpPr>
          <p:cNvPr id="7" name="Slide Number Placeholder 6"/>
          <p:cNvSpPr>
            <a:spLocks noGrp="1"/>
          </p:cNvSpPr>
          <p:nvPr>
            <p:ph type="sldNum" sz="quarter" idx="12"/>
          </p:nvPr>
        </p:nvSpPr>
        <p:spPr>
          <a:xfrm>
            <a:off x="10862452" y="381000"/>
            <a:ext cx="643748" cy="365125"/>
          </a:xfrm>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300841161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endParaRPr lang="en-AT"/>
          </a:p>
        </p:txBody>
      </p:sp>
      <p:sp>
        <p:nvSpPr>
          <p:cNvPr id="6" name="Footer Placeholder 5"/>
          <p:cNvSpPr>
            <a:spLocks noGrp="1"/>
          </p:cNvSpPr>
          <p:nvPr>
            <p:ph type="ftr" sz="quarter" idx="11"/>
          </p:nvPr>
        </p:nvSpPr>
        <p:spPr>
          <a:xfrm>
            <a:off x="685800" y="379941"/>
            <a:ext cx="6991492" cy="365125"/>
          </a:xfrm>
        </p:spPr>
        <p:txBody>
          <a:bodyPr/>
          <a:lstStyle/>
          <a:p>
            <a:endParaRPr lang="en-AT"/>
          </a:p>
        </p:txBody>
      </p:sp>
      <p:sp>
        <p:nvSpPr>
          <p:cNvPr id="7" name="Slide Number Placeholder 6"/>
          <p:cNvSpPr>
            <a:spLocks noGrp="1"/>
          </p:cNvSpPr>
          <p:nvPr>
            <p:ph type="sldNum" sz="quarter" idx="12"/>
          </p:nvPr>
        </p:nvSpPr>
        <p:spPr>
          <a:xfrm>
            <a:off x="10862452" y="381000"/>
            <a:ext cx="643748" cy="365125"/>
          </a:xfrm>
        </p:spPr>
        <p:txBody>
          <a:bodyPr/>
          <a:lstStyle/>
          <a:p>
            <a:pPr marL="0" lvl="0" indent="0" algn="r" rtl="0">
              <a:spcBef>
                <a:spcPts val="0"/>
              </a:spcBef>
              <a:spcAft>
                <a:spcPts val="0"/>
              </a:spcAft>
              <a:buNone/>
            </a:pPr>
            <a:fld id="{00000000-1234-1234-1234-123412341234}" type="slidenum">
              <a:rPr lang="en-AT" smtClean="0"/>
              <a:t>‹#›</a:t>
            </a:fld>
            <a:endParaRPr lang="en-AT"/>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1504871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endParaRPr lang="en-AT"/>
          </a:p>
        </p:txBody>
      </p:sp>
      <p:sp>
        <p:nvSpPr>
          <p:cNvPr id="6" name="Footer Placeholder 5"/>
          <p:cNvSpPr>
            <a:spLocks noGrp="1"/>
          </p:cNvSpPr>
          <p:nvPr>
            <p:ph type="ftr" sz="quarter" idx="11"/>
          </p:nvPr>
        </p:nvSpPr>
        <p:spPr>
          <a:xfrm>
            <a:off x="685800" y="378883"/>
            <a:ext cx="6991492" cy="365125"/>
          </a:xfrm>
        </p:spPr>
        <p:txBody>
          <a:bodyPr/>
          <a:lstStyle/>
          <a:p>
            <a:endParaRPr lang="en-AT"/>
          </a:p>
        </p:txBody>
      </p:sp>
      <p:sp>
        <p:nvSpPr>
          <p:cNvPr id="7" name="Slide Number Placeholder 6"/>
          <p:cNvSpPr>
            <a:spLocks noGrp="1"/>
          </p:cNvSpPr>
          <p:nvPr>
            <p:ph type="sldNum" sz="quarter" idx="12"/>
          </p:nvPr>
        </p:nvSpPr>
        <p:spPr>
          <a:xfrm>
            <a:off x="10862452" y="381000"/>
            <a:ext cx="643748" cy="365125"/>
          </a:xfrm>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296062705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GB"/>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1108829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169741711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8877748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endParaRPr lang="en-AT"/>
          </a:p>
        </p:txBody>
      </p:sp>
      <p:sp>
        <p:nvSpPr>
          <p:cNvPr id="5" name="Footer Placeholder 4"/>
          <p:cNvSpPr>
            <a:spLocks noGrp="1"/>
          </p:cNvSpPr>
          <p:nvPr>
            <p:ph type="ftr" sz="quarter" idx="11"/>
          </p:nvPr>
        </p:nvSpPr>
        <p:spPr>
          <a:xfrm>
            <a:off x="685800" y="381000"/>
            <a:ext cx="6991492" cy="365125"/>
          </a:xfrm>
        </p:spPr>
        <p:txBody>
          <a:bodyPr/>
          <a:lstStyle/>
          <a:p>
            <a:endParaRPr lang="en-AT"/>
          </a:p>
        </p:txBody>
      </p:sp>
      <p:sp>
        <p:nvSpPr>
          <p:cNvPr id="6" name="Slide Number Placeholder 5"/>
          <p:cNvSpPr>
            <a:spLocks noGrp="1"/>
          </p:cNvSpPr>
          <p:nvPr>
            <p:ph type="sldNum" sz="quarter" idx="12"/>
          </p:nvPr>
        </p:nvSpPr>
        <p:spPr>
          <a:xfrm>
            <a:off x="10862452" y="381000"/>
            <a:ext cx="643748" cy="365125"/>
          </a:xfrm>
        </p:spPr>
        <p:txBody>
          <a:body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3602347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3000"/>
                <a:shade val="98000"/>
                <a:satMod val="150000"/>
                <a:lumMod val="102000"/>
              </a:schemeClr>
            </a:gs>
            <a:gs pos="50000">
              <a:schemeClr val="bg2">
                <a:tint val="98000"/>
                <a:shade val="90000"/>
                <a:satMod val="130000"/>
                <a:lumMod val="103000"/>
              </a:schemeClr>
            </a:gs>
            <a:gs pos="100000">
              <a:schemeClr val="bg2">
                <a:shade val="63000"/>
                <a:satMod val="120000"/>
              </a:schemeClr>
            </a:gs>
          </a:gsLst>
          <a:lin ang="5400000" scaled="0"/>
          <a:tileRect/>
        </a:gradFill>
        <a:effectLst/>
      </p:bgPr>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endParaRPr lang="en-AT"/>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AT"/>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marL="0" lvl="0" indent="0" algn="r" rtl="0">
              <a:spcBef>
                <a:spcPts val="0"/>
              </a:spcBef>
              <a:spcAft>
                <a:spcPts val="0"/>
              </a:spcAft>
              <a:buNone/>
            </a:pPr>
            <a:fld id="{00000000-1234-1234-1234-123412341234}" type="slidenum">
              <a:rPr lang="en-AT" smtClean="0"/>
              <a:t>‹#›</a:t>
            </a:fld>
            <a:endParaRPr lang="en-AT"/>
          </a:p>
        </p:txBody>
      </p:sp>
    </p:spTree>
    <p:extLst>
      <p:ext uri="{BB962C8B-B14F-4D97-AF65-F5344CB8AC3E}">
        <p14:creationId xmlns:p14="http://schemas.microsoft.com/office/powerpoint/2010/main" val="19896217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pn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1.png"/><Relationship Id="rId7" Type="http://schemas.openxmlformats.org/officeDocument/2006/relationships/diagramQuickStyle" Target="../diagrams/quickStyle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2.png"/><Relationship Id="rId9" Type="http://schemas.microsoft.com/office/2007/relationships/diagramDrawing" Target="../diagrams/drawing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doi.org/10.3390/jtaer17020024"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hyperlink" Target="https://doi.org/10.1155/2022/4703975" TargetMode="External"/><Relationship Id="rId5" Type="http://schemas.openxmlformats.org/officeDocument/2006/relationships/hyperlink" Target="https://doi.org/10.1109/SERVICES.2018.00024" TargetMode="External"/><Relationship Id="rId4" Type="http://schemas.openxmlformats.org/officeDocument/2006/relationships/hyperlink" Target="https://doi.org/10.7472/jksii.2022.23.2.4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useBgFill="1">
        <p:nvSpPr>
          <p:cNvPr id="91" name="Rectangle 90">
            <a:extLst>
              <a:ext uri="{FF2B5EF4-FFF2-40B4-BE49-F238E27FC236}">
                <a16:creationId xmlns:a16="http://schemas.microsoft.com/office/drawing/2014/main" id="{50496C6C-A85F-426B-9ED1-3444166C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Google Shape;84;p13"/>
          <p:cNvSpPr txBox="1">
            <a:spLocks noGrp="1"/>
          </p:cNvSpPr>
          <p:nvPr>
            <p:ph type="ctrTitle"/>
          </p:nvPr>
        </p:nvSpPr>
        <p:spPr>
          <a:xfrm>
            <a:off x="792483" y="821265"/>
            <a:ext cx="6098705" cy="5222117"/>
          </a:xfrm>
          <a:prstGeom prst="rect">
            <a:avLst/>
          </a:prstGeom>
        </p:spPr>
        <p:txBody>
          <a:bodyPr spcFirstLastPara="1" lIns="91425" tIns="45700" rIns="91425" bIns="45700" anchor="ctr" anchorCtr="0">
            <a:normAutofit/>
          </a:bodyPr>
          <a:lstStyle/>
          <a:p>
            <a:pPr marL="0" lvl="0" indent="0" algn="r" rtl="0">
              <a:spcBef>
                <a:spcPts val="0"/>
              </a:spcBef>
              <a:spcAft>
                <a:spcPts val="0"/>
              </a:spcAft>
              <a:buClr>
                <a:schemeClr val="dk1"/>
              </a:buClr>
              <a:buSzPts val="6000"/>
              <a:buFont typeface="Calibri"/>
              <a:buNone/>
            </a:pPr>
            <a:r>
              <a:rPr lang="en-GB" sz="5400" dirty="0"/>
              <a:t>An Introduction to K-Means</a:t>
            </a:r>
          </a:p>
        </p:txBody>
      </p:sp>
      <p:cxnSp>
        <p:nvCxnSpPr>
          <p:cNvPr id="93" name="Straight Connector 92">
            <a:extLst>
              <a:ext uri="{FF2B5EF4-FFF2-40B4-BE49-F238E27FC236}">
                <a16:creationId xmlns:a16="http://schemas.microsoft.com/office/drawing/2014/main" id="{AD0EF22F-5D3C-4240-8C32-1B20803E5A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397108" y="1923563"/>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pic>
        <p:nvPicPr>
          <p:cNvPr id="95" name="Picture 94">
            <a:extLst>
              <a:ext uri="{FF2B5EF4-FFF2-40B4-BE49-F238E27FC236}">
                <a16:creationId xmlns:a16="http://schemas.microsoft.com/office/drawing/2014/main" id="{D912EF34-0253-41FD-9940-D8FBB7DE74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531" r="43746" b="531"/>
          <a:stretch/>
        </p:blipFill>
        <p:spPr>
          <a:xfrm rot="5400000" flipH="1" flipV="1">
            <a:off x="7545075" y="2187578"/>
            <a:ext cx="6857999" cy="2482850"/>
          </a:xfrm>
          <a:prstGeom prst="rect">
            <a:avLst/>
          </a:prstGeom>
        </p:spPr>
      </p:pic>
      <p:sp>
        <p:nvSpPr>
          <p:cNvPr id="85" name="Google Shape;85;p13"/>
          <p:cNvSpPr txBox="1">
            <a:spLocks noGrp="1"/>
          </p:cNvSpPr>
          <p:nvPr>
            <p:ph type="subTitle" idx="1"/>
          </p:nvPr>
        </p:nvSpPr>
        <p:spPr>
          <a:xfrm>
            <a:off x="7903028" y="821265"/>
            <a:ext cx="3265713" cy="5222117"/>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2400"/>
              <a:buNone/>
            </a:pPr>
            <a:r>
              <a:rPr lang="en-AT" dirty="0"/>
              <a:t>Introduction to Data Science</a:t>
            </a:r>
          </a:p>
          <a:p>
            <a:pPr marL="0" lvl="0" indent="0" rtl="0">
              <a:spcBef>
                <a:spcPts val="1000"/>
              </a:spcBef>
              <a:spcAft>
                <a:spcPts val="0"/>
              </a:spcAft>
              <a:buClr>
                <a:schemeClr val="dk1"/>
              </a:buClr>
              <a:buSzPts val="2400"/>
              <a:buNone/>
            </a:pPr>
            <a:r>
              <a:rPr lang="en-AT" sz="1400" dirty="0"/>
              <a:t>Horia-Iulian State</a:t>
            </a:r>
          </a:p>
          <a:p>
            <a:pPr marL="0" lvl="0" indent="0" rtl="0">
              <a:spcBef>
                <a:spcPts val="1000"/>
              </a:spcBef>
              <a:spcAft>
                <a:spcPts val="0"/>
              </a:spcAft>
              <a:buClr>
                <a:schemeClr val="dk1"/>
              </a:buClr>
              <a:buSzPts val="2400"/>
              <a:buNone/>
            </a:pPr>
            <a:r>
              <a:rPr lang="en-AT" sz="1400" dirty="0"/>
              <a:t>32204606</a:t>
            </a:r>
          </a:p>
        </p:txBody>
      </p:sp>
      <p:pic>
        <p:nvPicPr>
          <p:cNvPr id="3" name="Picture 2">
            <a:extLst>
              <a:ext uri="{FF2B5EF4-FFF2-40B4-BE49-F238E27FC236}">
                <a16:creationId xmlns:a16="http://schemas.microsoft.com/office/drawing/2014/main" id="{11A0A1FF-6160-B61E-4AD2-186CB10CF8D0}"/>
              </a:ext>
            </a:extLst>
          </p:cNvPr>
          <p:cNvPicPr>
            <a:picLocks noChangeAspect="1"/>
          </p:cNvPicPr>
          <p:nvPr/>
        </p:nvPicPr>
        <p:blipFill>
          <a:blip r:embed="rId4"/>
          <a:stretch>
            <a:fillRect/>
          </a:stretch>
        </p:blipFill>
        <p:spPr>
          <a:xfrm>
            <a:off x="0" y="132893"/>
            <a:ext cx="2235200" cy="107950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2895600" y="764373"/>
            <a:ext cx="8610600" cy="1293028"/>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a:t>Topic </a:t>
            </a:r>
            <a:endParaRPr lang="en-GB" dirty="0"/>
          </a:p>
        </p:txBody>
      </p:sp>
      <p:graphicFrame>
        <p:nvGraphicFramePr>
          <p:cNvPr id="94" name="Google Shape;92;p14">
            <a:extLst>
              <a:ext uri="{FF2B5EF4-FFF2-40B4-BE49-F238E27FC236}">
                <a16:creationId xmlns:a16="http://schemas.microsoft.com/office/drawing/2014/main" id="{4475425F-110C-2E2A-FD5C-CFCA03334E98}"/>
              </a:ext>
            </a:extLst>
          </p:cNvPr>
          <p:cNvGraphicFramePr>
            <a:graphicFrameLocks noGrp="1"/>
          </p:cNvGraphicFramePr>
          <p:nvPr>
            <p:ph idx="1"/>
            <p:extLst>
              <p:ext uri="{D42A27DB-BD31-4B8C-83A1-F6EECF244321}">
                <p14:modId xmlns:p14="http://schemas.microsoft.com/office/powerpoint/2010/main" val="4038991050"/>
              </p:ext>
            </p:extLst>
          </p:nvPr>
        </p:nvGraphicFramePr>
        <p:xfrm>
          <a:off x="685800" y="2441051"/>
          <a:ext cx="10820400" cy="3530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03" name="Rounded Rectangle 14">
            <a:extLst>
              <a:ext uri="{FF2B5EF4-FFF2-40B4-BE49-F238E27FC236}">
                <a16:creationId xmlns:a16="http://schemas.microsoft.com/office/drawing/2014/main" id="{637BD688-14A6-4B96-B8A2-3CD81C054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useBgFill="1">
        <p:nvSpPr>
          <p:cNvPr id="105" name="Rectangle 104">
            <a:extLst>
              <a:ext uri="{FF2B5EF4-FFF2-40B4-BE49-F238E27FC236}">
                <a16:creationId xmlns:a16="http://schemas.microsoft.com/office/drawing/2014/main" id="{B7B2544F-CA5E-40F6-9525-716A90C83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07" name="Picture 106">
            <a:extLst>
              <a:ext uri="{FF2B5EF4-FFF2-40B4-BE49-F238E27FC236}">
                <a16:creationId xmlns:a16="http://schemas.microsoft.com/office/drawing/2014/main" id="{D2B93162-635C-46F5-97EC-E98C1659F1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97" name="Google Shape;97;p15"/>
          <p:cNvSpPr txBox="1">
            <a:spLocks noGrp="1"/>
          </p:cNvSpPr>
          <p:nvPr>
            <p:ph type="title"/>
          </p:nvPr>
        </p:nvSpPr>
        <p:spPr>
          <a:xfrm>
            <a:off x="665922" y="987287"/>
            <a:ext cx="3548269" cy="469789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3600"/>
              <a:t>Scope of Presentation</a:t>
            </a:r>
          </a:p>
        </p:txBody>
      </p:sp>
      <p:sp>
        <p:nvSpPr>
          <p:cNvPr id="108" name="Google Shape;98;p15"/>
          <p:cNvSpPr txBox="1">
            <a:spLocks noGrp="1"/>
          </p:cNvSpPr>
          <p:nvPr>
            <p:ph idx="1"/>
          </p:nvPr>
        </p:nvSpPr>
        <p:spPr>
          <a:xfrm>
            <a:off x="5057825" y="987287"/>
            <a:ext cx="5755949" cy="4697895"/>
          </a:xfrm>
          <a:prstGeom prst="rect">
            <a:avLst/>
          </a:prstGeom>
        </p:spPr>
        <p:txBody>
          <a:bodyPr spcFirstLastPara="1" lIns="91425" tIns="45700" rIns="91425" bIns="45700" anchor="ctr" anchorCtr="0">
            <a:normAutofit/>
          </a:bodyPr>
          <a:lstStyle/>
          <a:p>
            <a:pPr marL="228600" lvl="0" indent="-190500" rtl="0">
              <a:spcBef>
                <a:spcPts val="1000"/>
              </a:spcBef>
              <a:spcAft>
                <a:spcPts val="0"/>
              </a:spcAft>
              <a:buClr>
                <a:schemeClr val="dk1"/>
              </a:buClr>
              <a:buSzPts val="2200"/>
              <a:buChar char="•"/>
            </a:pPr>
            <a:r>
              <a:rPr lang="en-AT" sz="1500" dirty="0"/>
              <a:t>Not discussing most other types or factors in ML such as Active vs Passive, Helpfulness of the teacher, online vs batch learning due to time constraints.  Will be including reinforcement learning due to its immediate relevance</a:t>
            </a:r>
            <a:endParaRPr sz="1500" dirty="0"/>
          </a:p>
          <a:p>
            <a:pPr marL="228600" lvl="0" indent="-190500" rtl="0">
              <a:spcBef>
                <a:spcPts val="1000"/>
              </a:spcBef>
              <a:spcAft>
                <a:spcPts val="0"/>
              </a:spcAft>
              <a:buSzPts val="2200"/>
              <a:buChar char="•"/>
            </a:pPr>
            <a:r>
              <a:rPr lang="en-AT" sz="1500" dirty="0"/>
              <a:t>Not investigating multi dimensional data sets or any potential adaptations to K-Means from sources other than the recommended text.  This is simply a 15 minute introduction assuming no prior knowledge..</a:t>
            </a:r>
            <a:endParaRPr sz="1500" dirty="0"/>
          </a:p>
          <a:p>
            <a:pPr marL="228600" lvl="0" indent="-190500" rtl="0">
              <a:spcBef>
                <a:spcPts val="1000"/>
              </a:spcBef>
              <a:spcAft>
                <a:spcPts val="0"/>
              </a:spcAft>
              <a:buSzPts val="2200"/>
              <a:buChar char="•"/>
            </a:pPr>
            <a:r>
              <a:rPr lang="en-AT" sz="1500" dirty="0"/>
              <a:t>There are a number of “open” questions regarding improving K-Means to mitigate the variance in results which will be proposed in the conclusion as areas for “further research”.  These may include making it more supervised / controlled, or running the process numerous times with varying numbers of clusters to see how results may converge.</a:t>
            </a:r>
            <a:endParaRPr sz="1500" dirty="0"/>
          </a:p>
          <a:p>
            <a:pPr marL="228600" lvl="0" indent="-190500" rtl="0">
              <a:spcBef>
                <a:spcPts val="1000"/>
              </a:spcBef>
              <a:spcAft>
                <a:spcPts val="0"/>
              </a:spcAft>
              <a:buSzPts val="2200"/>
              <a:buChar char="•"/>
            </a:pPr>
            <a:r>
              <a:rPr lang="en-AT" sz="1500" dirty="0"/>
              <a:t>The formulae provided in the recommended text are not within the scope of introducing this topic, and neither is how to actually plot using K-Means in an app / program</a:t>
            </a:r>
            <a:endParaRPr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11" name="Rectangle 110">
            <a:extLst>
              <a:ext uri="{FF2B5EF4-FFF2-40B4-BE49-F238E27FC236}">
                <a16:creationId xmlns:a16="http://schemas.microsoft.com/office/drawing/2014/main" id="{1EA5387D-64D8-4D6C-B109-FF4E81DF6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6319FFD2-07B5-4029-BFB3-26FCFCC2F1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103" name="Google Shape;103;p16"/>
          <p:cNvSpPr txBox="1">
            <a:spLocks noGrp="1"/>
          </p:cNvSpPr>
          <p:nvPr>
            <p:ph type="title"/>
          </p:nvPr>
        </p:nvSpPr>
        <p:spPr>
          <a:xfrm>
            <a:off x="2895600" y="764373"/>
            <a:ext cx="8610600" cy="1293028"/>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a:t>Structure</a:t>
            </a:r>
          </a:p>
        </p:txBody>
      </p:sp>
      <p:graphicFrame>
        <p:nvGraphicFramePr>
          <p:cNvPr id="106" name="Google Shape;104;p16">
            <a:extLst>
              <a:ext uri="{FF2B5EF4-FFF2-40B4-BE49-F238E27FC236}">
                <a16:creationId xmlns:a16="http://schemas.microsoft.com/office/drawing/2014/main" id="{C0E95F8A-4A3B-5F0F-8EA5-FCC7426F82F9}"/>
              </a:ext>
            </a:extLst>
          </p:cNvPr>
          <p:cNvGraphicFramePr>
            <a:graphicFrameLocks noGrp="1"/>
          </p:cNvGraphicFramePr>
          <p:nvPr>
            <p:ph idx="1"/>
            <p:extLst>
              <p:ext uri="{D42A27DB-BD31-4B8C-83A1-F6EECF244321}">
                <p14:modId xmlns:p14="http://schemas.microsoft.com/office/powerpoint/2010/main" val="4090063091"/>
              </p:ext>
            </p:extLst>
          </p:nvPr>
        </p:nvGraphicFramePr>
        <p:xfrm>
          <a:off x="685800" y="2194560"/>
          <a:ext cx="10820400" cy="40241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useBgFill="1">
        <p:nvSpPr>
          <p:cNvPr id="127" name="Rounded Rectangle 14">
            <a:extLst>
              <a:ext uri="{FF2B5EF4-FFF2-40B4-BE49-F238E27FC236}">
                <a16:creationId xmlns:a16="http://schemas.microsoft.com/office/drawing/2014/main" id="{843DD86A-8FAA-443F-9211-42A2AE8A7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C2A13AAE-18EB-4BDF-BAF7-F2F97B8D0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1" name="Picture 130">
            <a:extLst>
              <a:ext uri="{FF2B5EF4-FFF2-40B4-BE49-F238E27FC236}">
                <a16:creationId xmlns:a16="http://schemas.microsoft.com/office/drawing/2014/main" id="{0F5C1B21-B0DB-4206-99EE-C13D67038B9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0"/>
            <a:ext cx="4636008" cy="1441450"/>
          </a:xfrm>
          <a:prstGeom prst="rect">
            <a:avLst/>
          </a:prstGeom>
        </p:spPr>
      </p:pic>
      <p:pic>
        <p:nvPicPr>
          <p:cNvPr id="133" name="Picture 132">
            <a:extLst>
              <a:ext uri="{FF2B5EF4-FFF2-40B4-BE49-F238E27FC236}">
                <a16:creationId xmlns:a16="http://schemas.microsoft.com/office/drawing/2014/main" id="{49261589-06E9-4B7C-A8F1-26648507B7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109" name="Google Shape;109;p17"/>
          <p:cNvSpPr txBox="1">
            <a:spLocks noGrp="1"/>
          </p:cNvSpPr>
          <p:nvPr>
            <p:ph type="title"/>
          </p:nvPr>
        </p:nvSpPr>
        <p:spPr>
          <a:xfrm>
            <a:off x="685800" y="1066163"/>
            <a:ext cx="3306744" cy="5148371"/>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a:solidFill>
                  <a:schemeClr val="bg1"/>
                </a:solidFill>
              </a:rPr>
              <a:t>Different Machine Learning Paradigms</a:t>
            </a:r>
          </a:p>
        </p:txBody>
      </p:sp>
      <p:graphicFrame>
        <p:nvGraphicFramePr>
          <p:cNvPr id="123" name="Google Shape;110;p17">
            <a:extLst>
              <a:ext uri="{FF2B5EF4-FFF2-40B4-BE49-F238E27FC236}">
                <a16:creationId xmlns:a16="http://schemas.microsoft.com/office/drawing/2014/main" id="{F9DD1AD8-7F67-F245-213A-D8BDB6A8EF63}"/>
              </a:ext>
            </a:extLst>
          </p:cNvPr>
          <p:cNvGraphicFramePr>
            <a:graphicFrameLocks noGrp="1"/>
          </p:cNvGraphicFramePr>
          <p:nvPr>
            <p:ph idx="1"/>
            <p:extLst>
              <p:ext uri="{D42A27DB-BD31-4B8C-83A1-F6EECF244321}">
                <p14:modId xmlns:p14="http://schemas.microsoft.com/office/powerpoint/2010/main" val="4162546990"/>
              </p:ext>
            </p:extLst>
          </p:nvPr>
        </p:nvGraphicFramePr>
        <p:xfrm>
          <a:off x="5279472" y="746125"/>
          <a:ext cx="6290226" cy="54477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5008766" y="33370"/>
            <a:ext cx="8610600" cy="12930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dirty="0"/>
              <a:t>What is K-Mean ?</a:t>
            </a:r>
            <a:endParaRPr dirty="0"/>
          </a:p>
        </p:txBody>
      </p:sp>
      <p:graphicFrame>
        <p:nvGraphicFramePr>
          <p:cNvPr id="126" name="Google Shape;122;p19">
            <a:extLst>
              <a:ext uri="{FF2B5EF4-FFF2-40B4-BE49-F238E27FC236}">
                <a16:creationId xmlns:a16="http://schemas.microsoft.com/office/drawing/2014/main" id="{545AECFE-51FC-2CB5-0C92-1E51EC66E225}"/>
              </a:ext>
            </a:extLst>
          </p:cNvPr>
          <p:cNvGraphicFramePr>
            <a:graphicFrameLocks noGrp="1"/>
          </p:cNvGraphicFramePr>
          <p:nvPr>
            <p:ph idx="1"/>
            <p:extLst>
              <p:ext uri="{D42A27DB-BD31-4B8C-83A1-F6EECF244321}">
                <p14:modId xmlns:p14="http://schemas.microsoft.com/office/powerpoint/2010/main" val="142736194"/>
              </p:ext>
            </p:extLst>
          </p:nvPr>
        </p:nvGraphicFramePr>
        <p:xfrm>
          <a:off x="603378" y="1571383"/>
          <a:ext cx="5446800" cy="435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4" name="Google Shape;124;p19"/>
          <p:cNvSpPr txBox="1"/>
          <p:nvPr/>
        </p:nvSpPr>
        <p:spPr>
          <a:xfrm>
            <a:off x="5986550" y="5922583"/>
            <a:ext cx="3151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AT" sz="1600" dirty="0">
                <a:latin typeface="Calibri"/>
                <a:ea typeface="Calibri"/>
                <a:cs typeface="Calibri"/>
                <a:sym typeface="Calibri"/>
              </a:rPr>
              <a:t>Fig. 1. - Initial Scenario Concept</a:t>
            </a:r>
            <a:endParaRPr sz="1600" dirty="0">
              <a:latin typeface="Calibri"/>
              <a:ea typeface="Calibri"/>
              <a:cs typeface="Calibri"/>
              <a:sym typeface="Calibri"/>
            </a:endParaRPr>
          </a:p>
        </p:txBody>
      </p:sp>
      <p:sp>
        <p:nvSpPr>
          <p:cNvPr id="2" name="TextBox 1">
            <a:extLst>
              <a:ext uri="{FF2B5EF4-FFF2-40B4-BE49-F238E27FC236}">
                <a16:creationId xmlns:a16="http://schemas.microsoft.com/office/drawing/2014/main" id="{206ED113-B5D7-DB1D-D400-5472CB205822}"/>
              </a:ext>
            </a:extLst>
          </p:cNvPr>
          <p:cNvSpPr txBox="1"/>
          <p:nvPr/>
        </p:nvSpPr>
        <p:spPr>
          <a:xfrm>
            <a:off x="7150655" y="1382300"/>
            <a:ext cx="725172" cy="369332"/>
          </a:xfrm>
          <a:prstGeom prst="rect">
            <a:avLst/>
          </a:prstGeom>
          <a:solidFill>
            <a:schemeClr val="accent1"/>
          </a:solidFill>
        </p:spPr>
        <p:txBody>
          <a:bodyPr wrap="square" rtlCol="0">
            <a:spAutoFit/>
          </a:bodyPr>
          <a:lstStyle/>
          <a:p>
            <a:r>
              <a:rPr lang="en-AT" dirty="0"/>
              <a:t>Start</a:t>
            </a:r>
          </a:p>
        </p:txBody>
      </p:sp>
      <p:sp>
        <p:nvSpPr>
          <p:cNvPr id="5" name="TextBox 4">
            <a:extLst>
              <a:ext uri="{FF2B5EF4-FFF2-40B4-BE49-F238E27FC236}">
                <a16:creationId xmlns:a16="http://schemas.microsoft.com/office/drawing/2014/main" id="{43DED2A7-1807-3B42-4FED-BCE7DAC9CF35}"/>
              </a:ext>
            </a:extLst>
          </p:cNvPr>
          <p:cNvSpPr txBox="1"/>
          <p:nvPr/>
        </p:nvSpPr>
        <p:spPr>
          <a:xfrm>
            <a:off x="6326621" y="2060663"/>
            <a:ext cx="2438400" cy="338554"/>
          </a:xfrm>
          <a:prstGeom prst="rect">
            <a:avLst/>
          </a:prstGeom>
          <a:solidFill>
            <a:schemeClr val="accent2">
              <a:lumMod val="75000"/>
            </a:schemeClr>
          </a:solidFill>
        </p:spPr>
        <p:txBody>
          <a:bodyPr wrap="square" rtlCol="0">
            <a:spAutoFit/>
          </a:bodyPr>
          <a:lstStyle/>
          <a:p>
            <a:r>
              <a:rPr lang="en-AT" sz="1600" dirty="0"/>
              <a:t>Choose Nr. of clusters</a:t>
            </a:r>
          </a:p>
        </p:txBody>
      </p:sp>
      <p:cxnSp>
        <p:nvCxnSpPr>
          <p:cNvPr id="7" name="Straight Arrow Connector 6">
            <a:extLst>
              <a:ext uri="{FF2B5EF4-FFF2-40B4-BE49-F238E27FC236}">
                <a16:creationId xmlns:a16="http://schemas.microsoft.com/office/drawing/2014/main" id="{DF9A7A40-F0D7-0FBD-1544-3D6A550A3E67}"/>
              </a:ext>
            </a:extLst>
          </p:cNvPr>
          <p:cNvCxnSpPr>
            <a:cxnSpLocks/>
            <a:stCxn id="5" idx="2"/>
          </p:cNvCxnSpPr>
          <p:nvPr/>
        </p:nvCxnSpPr>
        <p:spPr>
          <a:xfrm>
            <a:off x="7545821" y="2399217"/>
            <a:ext cx="0" cy="470884"/>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F443895-9EB4-FF18-2BBD-DF40CB6EB71C}"/>
              </a:ext>
            </a:extLst>
          </p:cNvPr>
          <p:cNvSpPr txBox="1"/>
          <p:nvPr/>
        </p:nvSpPr>
        <p:spPr>
          <a:xfrm>
            <a:off x="6294041" y="2731602"/>
            <a:ext cx="2438400" cy="646331"/>
          </a:xfrm>
          <a:prstGeom prst="rect">
            <a:avLst/>
          </a:prstGeom>
          <a:solidFill>
            <a:schemeClr val="accent2">
              <a:lumMod val="60000"/>
              <a:lumOff val="40000"/>
            </a:schemeClr>
          </a:solidFill>
        </p:spPr>
        <p:txBody>
          <a:bodyPr wrap="square" rtlCol="0" anchor="ctr" anchorCtr="1">
            <a:spAutoFit/>
          </a:bodyPr>
          <a:lstStyle/>
          <a:p>
            <a:r>
              <a:rPr lang="en-AT" dirty="0"/>
              <a:t>Randomly set Centroid</a:t>
            </a:r>
          </a:p>
        </p:txBody>
      </p:sp>
      <p:sp>
        <p:nvSpPr>
          <p:cNvPr id="11" name="TextBox 10">
            <a:extLst>
              <a:ext uri="{FF2B5EF4-FFF2-40B4-BE49-F238E27FC236}">
                <a16:creationId xmlns:a16="http://schemas.microsoft.com/office/drawing/2014/main" id="{CC1BFAA0-64BE-FEF1-2142-0665BDFC7A5D}"/>
              </a:ext>
            </a:extLst>
          </p:cNvPr>
          <p:cNvSpPr txBox="1"/>
          <p:nvPr/>
        </p:nvSpPr>
        <p:spPr>
          <a:xfrm>
            <a:off x="6283027" y="3555595"/>
            <a:ext cx="2438401" cy="646331"/>
          </a:xfrm>
          <a:prstGeom prst="rect">
            <a:avLst/>
          </a:prstGeom>
          <a:solidFill>
            <a:schemeClr val="accent3">
              <a:lumMod val="75000"/>
            </a:schemeClr>
          </a:solidFill>
        </p:spPr>
        <p:txBody>
          <a:bodyPr wrap="square" rtlCol="0" anchor="ctr" anchorCtr="1">
            <a:spAutoFit/>
          </a:bodyPr>
          <a:lstStyle/>
          <a:p>
            <a:r>
              <a:rPr lang="en-AT" dirty="0"/>
              <a:t>Distance of obj. to centroids</a:t>
            </a:r>
          </a:p>
        </p:txBody>
      </p:sp>
      <p:sp>
        <p:nvSpPr>
          <p:cNvPr id="12" name="TextBox 11">
            <a:extLst>
              <a:ext uri="{FF2B5EF4-FFF2-40B4-BE49-F238E27FC236}">
                <a16:creationId xmlns:a16="http://schemas.microsoft.com/office/drawing/2014/main" id="{598E26B7-8473-D02E-7B22-DB38E53CF5D9}"/>
              </a:ext>
            </a:extLst>
          </p:cNvPr>
          <p:cNvSpPr txBox="1"/>
          <p:nvPr/>
        </p:nvSpPr>
        <p:spPr>
          <a:xfrm>
            <a:off x="6283027" y="4518089"/>
            <a:ext cx="2449414" cy="646331"/>
          </a:xfrm>
          <a:prstGeom prst="rect">
            <a:avLst/>
          </a:prstGeom>
          <a:solidFill>
            <a:schemeClr val="accent3">
              <a:lumMod val="60000"/>
              <a:lumOff val="40000"/>
            </a:schemeClr>
          </a:solidFill>
        </p:spPr>
        <p:txBody>
          <a:bodyPr wrap="square" rtlCol="0" anchor="ctr" anchorCtr="1">
            <a:spAutoFit/>
          </a:bodyPr>
          <a:lstStyle/>
          <a:p>
            <a:r>
              <a:rPr lang="en-AT" dirty="0"/>
              <a:t>Groupe on min. distance</a:t>
            </a:r>
          </a:p>
        </p:txBody>
      </p:sp>
      <p:cxnSp>
        <p:nvCxnSpPr>
          <p:cNvPr id="14" name="Elbow Connector 13">
            <a:extLst>
              <a:ext uri="{FF2B5EF4-FFF2-40B4-BE49-F238E27FC236}">
                <a16:creationId xmlns:a16="http://schemas.microsoft.com/office/drawing/2014/main" id="{C213D6A6-A397-6B82-E8FA-935686931EA6}"/>
              </a:ext>
            </a:extLst>
          </p:cNvPr>
          <p:cNvCxnSpPr>
            <a:cxnSpLocks/>
            <a:stCxn id="12" idx="2"/>
          </p:cNvCxnSpPr>
          <p:nvPr/>
        </p:nvCxnSpPr>
        <p:spPr>
          <a:xfrm rot="16200000" flipH="1">
            <a:off x="8102415" y="4569739"/>
            <a:ext cx="268194" cy="1457556"/>
          </a:xfrm>
          <a:prstGeom prst="bentConnector2">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5" name="Diamond 14">
            <a:extLst>
              <a:ext uri="{FF2B5EF4-FFF2-40B4-BE49-F238E27FC236}">
                <a16:creationId xmlns:a16="http://schemas.microsoft.com/office/drawing/2014/main" id="{51CB3754-715F-939F-3063-9B7CA587C984}"/>
              </a:ext>
            </a:extLst>
          </p:cNvPr>
          <p:cNvSpPr/>
          <p:nvPr/>
        </p:nvSpPr>
        <p:spPr>
          <a:xfrm>
            <a:off x="8965290" y="4479692"/>
            <a:ext cx="2174227" cy="190584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r>
              <a:rPr lang="en-AT" dirty="0"/>
              <a:t>ny objects left?</a:t>
            </a:r>
          </a:p>
        </p:txBody>
      </p:sp>
      <p:cxnSp>
        <p:nvCxnSpPr>
          <p:cNvPr id="17" name="Elbow Connector 16">
            <a:extLst>
              <a:ext uri="{FF2B5EF4-FFF2-40B4-BE49-F238E27FC236}">
                <a16:creationId xmlns:a16="http://schemas.microsoft.com/office/drawing/2014/main" id="{F824AFF3-EECA-95E2-488D-A3BD2AE41254}"/>
              </a:ext>
            </a:extLst>
          </p:cNvPr>
          <p:cNvCxnSpPr>
            <a:cxnSpLocks/>
            <a:stCxn id="15" idx="0"/>
          </p:cNvCxnSpPr>
          <p:nvPr/>
        </p:nvCxnSpPr>
        <p:spPr>
          <a:xfrm rot="16200000" flipV="1">
            <a:off x="7822404" y="2249692"/>
            <a:ext cx="1969897" cy="2490104"/>
          </a:xfrm>
          <a:prstGeom prst="bentConnector2">
            <a:avLst/>
          </a:prstGeom>
          <a:ln w="412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2939B15-F16D-EACD-E051-8BFFD825CDF4}"/>
              </a:ext>
            </a:extLst>
          </p:cNvPr>
          <p:cNvCxnSpPr>
            <a:cxnSpLocks/>
          </p:cNvCxnSpPr>
          <p:nvPr/>
        </p:nvCxnSpPr>
        <p:spPr>
          <a:xfrm>
            <a:off x="7562300" y="1746738"/>
            <a:ext cx="0" cy="33985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F2E658C-EB0A-B50F-FF7D-C049077C3C85}"/>
              </a:ext>
            </a:extLst>
          </p:cNvPr>
          <p:cNvCxnSpPr>
            <a:stCxn id="10" idx="2"/>
            <a:endCxn id="11" idx="0"/>
          </p:cNvCxnSpPr>
          <p:nvPr/>
        </p:nvCxnSpPr>
        <p:spPr>
          <a:xfrm flipH="1">
            <a:off x="7502228" y="3377933"/>
            <a:ext cx="11013" cy="177662"/>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FC3B7D7-C93E-EDC7-F69D-7A851B6F31F1}"/>
              </a:ext>
            </a:extLst>
          </p:cNvPr>
          <p:cNvCxnSpPr>
            <a:stCxn id="11" idx="2"/>
            <a:endCxn id="12" idx="0"/>
          </p:cNvCxnSpPr>
          <p:nvPr/>
        </p:nvCxnSpPr>
        <p:spPr>
          <a:xfrm>
            <a:off x="7502228" y="4201926"/>
            <a:ext cx="5506" cy="316163"/>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B3883240-D2B5-B86B-05E1-205A79B668E8}"/>
              </a:ext>
            </a:extLst>
          </p:cNvPr>
          <p:cNvCxnSpPr>
            <a:cxnSpLocks/>
          </p:cNvCxnSpPr>
          <p:nvPr/>
        </p:nvCxnSpPr>
        <p:spPr>
          <a:xfrm>
            <a:off x="11139517" y="5432612"/>
            <a:ext cx="0" cy="70552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2DE7A40-DA86-B187-CE0C-26A2370BF0AC}"/>
              </a:ext>
            </a:extLst>
          </p:cNvPr>
          <p:cNvSpPr txBox="1"/>
          <p:nvPr/>
        </p:nvSpPr>
        <p:spPr>
          <a:xfrm>
            <a:off x="10776931" y="6138133"/>
            <a:ext cx="725172" cy="369332"/>
          </a:xfrm>
          <a:prstGeom prst="rect">
            <a:avLst/>
          </a:prstGeom>
          <a:solidFill>
            <a:schemeClr val="accent1"/>
          </a:solidFill>
        </p:spPr>
        <p:txBody>
          <a:bodyPr wrap="square" rtlCol="0">
            <a:spAutoFit/>
          </a:bodyPr>
          <a:lstStyle/>
          <a:p>
            <a:r>
              <a:rPr lang="en-AT" dirty="0"/>
              <a:t>Stop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a:spLocks noGrp="1"/>
          </p:cNvSpPr>
          <p:nvPr>
            <p:ph type="title"/>
          </p:nvPr>
        </p:nvSpPr>
        <p:spPr>
          <a:xfrm>
            <a:off x="6936259" y="463877"/>
            <a:ext cx="2912076" cy="10042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de-DE" sz="2800" dirty="0" err="1"/>
              <a:t>How</a:t>
            </a:r>
            <a:r>
              <a:rPr lang="de-DE" sz="2800" dirty="0"/>
              <a:t> </a:t>
            </a:r>
            <a:r>
              <a:rPr lang="de-DE" sz="2800" dirty="0" err="1"/>
              <a:t>It</a:t>
            </a:r>
            <a:r>
              <a:rPr lang="de-DE" sz="2800" dirty="0"/>
              <a:t> </a:t>
            </a:r>
            <a:r>
              <a:rPr lang="de-DE" sz="2800" dirty="0" err="1"/>
              <a:t>works</a:t>
            </a:r>
            <a:endParaRPr sz="2800" dirty="0"/>
          </a:p>
        </p:txBody>
      </p:sp>
      <p:sp>
        <p:nvSpPr>
          <p:cNvPr id="122" name="Google Shape;122;p19"/>
          <p:cNvSpPr txBox="1">
            <a:spLocks noGrp="1"/>
          </p:cNvSpPr>
          <p:nvPr>
            <p:ph idx="1"/>
          </p:nvPr>
        </p:nvSpPr>
        <p:spPr>
          <a:xfrm>
            <a:off x="475476" y="1977200"/>
            <a:ext cx="5446800" cy="4351200"/>
          </a:xfrm>
          <a:prstGeom prst="rect">
            <a:avLst/>
          </a:prstGeom>
          <a:noFill/>
          <a:ln>
            <a:noFill/>
          </a:ln>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ct val="45833"/>
              <a:buNone/>
            </a:pPr>
            <a:r>
              <a:rPr lang="de-DE" sz="2400" dirty="0"/>
              <a:t>Main </a:t>
            </a:r>
            <a:r>
              <a:rPr lang="de-DE" sz="2400" dirty="0" err="1"/>
              <a:t>goal</a:t>
            </a:r>
            <a:r>
              <a:rPr lang="de-DE" sz="2400" dirty="0"/>
              <a:t> </a:t>
            </a:r>
            <a:r>
              <a:rPr lang="de-DE" sz="2400" dirty="0" err="1"/>
              <a:t>is</a:t>
            </a:r>
            <a:r>
              <a:rPr lang="de-DE" sz="2400" dirty="0"/>
              <a:t> </a:t>
            </a:r>
            <a:r>
              <a:rPr lang="de-DE" sz="2400" dirty="0" err="1"/>
              <a:t>to</a:t>
            </a:r>
            <a:r>
              <a:rPr lang="de-DE" sz="2400" dirty="0"/>
              <a:t> </a:t>
            </a:r>
            <a:r>
              <a:rPr lang="de-DE" sz="2400" dirty="0" err="1"/>
              <a:t>put</a:t>
            </a:r>
            <a:r>
              <a:rPr lang="de-DE" sz="2400" dirty="0"/>
              <a:t> </a:t>
            </a:r>
            <a:r>
              <a:rPr lang="de-DE" sz="2400" dirty="0" err="1"/>
              <a:t>members</a:t>
            </a:r>
            <a:r>
              <a:rPr lang="de-DE" sz="2400" dirty="0"/>
              <a:t> </a:t>
            </a:r>
            <a:r>
              <a:rPr lang="de-DE" sz="2400" dirty="0" err="1"/>
              <a:t>of</a:t>
            </a:r>
            <a:r>
              <a:rPr lang="de-DE" sz="2400" dirty="0"/>
              <a:t> </a:t>
            </a:r>
            <a:r>
              <a:rPr lang="de-DE" sz="2400" dirty="0" err="1"/>
              <a:t>dataset</a:t>
            </a:r>
            <a:r>
              <a:rPr lang="de-DE" sz="2400" dirty="0"/>
              <a:t> </a:t>
            </a:r>
            <a:r>
              <a:rPr lang="de-DE" sz="2400" dirty="0" err="1"/>
              <a:t>into</a:t>
            </a:r>
            <a:r>
              <a:rPr lang="de-DE" sz="2400" dirty="0"/>
              <a:t> </a:t>
            </a:r>
            <a:r>
              <a:rPr lang="de-DE" sz="2400" dirty="0" err="1"/>
              <a:t>smaller</a:t>
            </a:r>
            <a:r>
              <a:rPr lang="de-DE" sz="2400" dirty="0"/>
              <a:t> </a:t>
            </a:r>
            <a:r>
              <a:rPr lang="de-DE" sz="2400" dirty="0" err="1"/>
              <a:t>clusters</a:t>
            </a:r>
            <a:r>
              <a:rPr lang="de-DE" sz="2400" dirty="0"/>
              <a:t> </a:t>
            </a:r>
            <a:r>
              <a:rPr lang="de-DE" sz="2400" dirty="0" err="1"/>
              <a:t>that</a:t>
            </a:r>
            <a:r>
              <a:rPr lang="de-DE" sz="2400" dirty="0"/>
              <a:t> </a:t>
            </a:r>
            <a:r>
              <a:rPr lang="de-DE" sz="2400" dirty="0" err="1"/>
              <a:t>are</a:t>
            </a:r>
            <a:r>
              <a:rPr lang="de-DE" sz="2400" dirty="0"/>
              <a:t> </a:t>
            </a:r>
            <a:r>
              <a:rPr lang="de-DE" sz="2400" dirty="0" err="1"/>
              <a:t>diffrent</a:t>
            </a:r>
            <a:r>
              <a:rPr lang="de-DE" sz="2400" dirty="0"/>
              <a:t> </a:t>
            </a:r>
            <a:r>
              <a:rPr lang="de-DE" sz="2400" dirty="0" err="1"/>
              <a:t>from</a:t>
            </a:r>
            <a:r>
              <a:rPr lang="de-DE" sz="2400" dirty="0"/>
              <a:t> </a:t>
            </a:r>
            <a:r>
              <a:rPr lang="de-DE" sz="2400" dirty="0" err="1"/>
              <a:t>each</a:t>
            </a:r>
            <a:r>
              <a:rPr lang="de-DE" sz="2400" dirty="0"/>
              <a:t> </a:t>
            </a:r>
            <a:r>
              <a:rPr lang="de-DE" sz="2400" dirty="0" err="1"/>
              <a:t>other</a:t>
            </a:r>
            <a:r>
              <a:rPr lang="de-DE" sz="2400" dirty="0"/>
              <a:t>,</a:t>
            </a:r>
          </a:p>
          <a:p>
            <a:pPr marL="0" lvl="0" indent="0" algn="l" rtl="0">
              <a:lnSpc>
                <a:spcPct val="115000"/>
              </a:lnSpc>
              <a:spcBef>
                <a:spcPts val="0"/>
              </a:spcBef>
              <a:spcAft>
                <a:spcPts val="0"/>
              </a:spcAft>
              <a:buClr>
                <a:schemeClr val="dk1"/>
              </a:buClr>
              <a:buSzPct val="45833"/>
              <a:buNone/>
            </a:pPr>
            <a:endParaRPr sz="2400" dirty="0"/>
          </a:p>
          <a:p>
            <a:pPr marL="0" lvl="0" indent="0" algn="l" rtl="0">
              <a:lnSpc>
                <a:spcPct val="115000"/>
              </a:lnSpc>
              <a:spcBef>
                <a:spcPts val="0"/>
              </a:spcBef>
              <a:spcAft>
                <a:spcPts val="0"/>
              </a:spcAft>
              <a:buClr>
                <a:schemeClr val="dk1"/>
              </a:buClr>
              <a:buSzPct val="45833"/>
              <a:buFont typeface="Arial"/>
              <a:buNone/>
            </a:pPr>
            <a:r>
              <a:rPr lang="de-DE" sz="2400" dirty="0" err="1"/>
              <a:t>While</a:t>
            </a:r>
            <a:r>
              <a:rPr lang="de-DE" sz="2400" dirty="0"/>
              <a:t> </a:t>
            </a:r>
            <a:r>
              <a:rPr lang="de-DE" sz="2400" dirty="0" err="1"/>
              <a:t>members</a:t>
            </a:r>
            <a:r>
              <a:rPr lang="de-DE" sz="2400" dirty="0"/>
              <a:t> </a:t>
            </a:r>
            <a:r>
              <a:rPr lang="de-DE" sz="2400" dirty="0" err="1"/>
              <a:t>within</a:t>
            </a:r>
            <a:r>
              <a:rPr lang="de-DE" sz="2400" dirty="0"/>
              <a:t> </a:t>
            </a:r>
            <a:r>
              <a:rPr lang="de-DE" sz="2400" dirty="0" err="1"/>
              <a:t>clusters</a:t>
            </a:r>
            <a:r>
              <a:rPr lang="de-DE" sz="2400" dirty="0"/>
              <a:t> </a:t>
            </a:r>
            <a:r>
              <a:rPr lang="de-DE" sz="2400" dirty="0" err="1"/>
              <a:t>are</a:t>
            </a:r>
            <a:r>
              <a:rPr lang="de-DE" sz="2400" dirty="0"/>
              <a:t> </a:t>
            </a:r>
            <a:r>
              <a:rPr lang="de-DE" sz="2400" dirty="0" err="1"/>
              <a:t>similar</a:t>
            </a:r>
            <a:r>
              <a:rPr lang="de-DE" sz="2400" dirty="0"/>
              <a:t> </a:t>
            </a:r>
            <a:r>
              <a:rPr lang="de-DE" sz="2400" dirty="0" err="1"/>
              <a:t>to</a:t>
            </a:r>
            <a:r>
              <a:rPr lang="de-DE" sz="2400" dirty="0"/>
              <a:t> </a:t>
            </a:r>
            <a:r>
              <a:rPr lang="de-DE" sz="2400" dirty="0" err="1"/>
              <a:t>each</a:t>
            </a:r>
            <a:r>
              <a:rPr lang="de-DE" sz="2400" dirty="0"/>
              <a:t> </a:t>
            </a:r>
            <a:r>
              <a:rPr lang="de-DE" sz="2400" dirty="0" err="1"/>
              <a:t>other</a:t>
            </a:r>
            <a:endParaRPr sz="2400" dirty="0"/>
          </a:p>
          <a:p>
            <a:pPr marL="0" lvl="0" indent="0" algn="l" rtl="0">
              <a:lnSpc>
                <a:spcPct val="115000"/>
              </a:lnSpc>
              <a:spcBef>
                <a:spcPts val="0"/>
              </a:spcBef>
              <a:spcAft>
                <a:spcPts val="0"/>
              </a:spcAft>
              <a:buClr>
                <a:schemeClr val="dk1"/>
              </a:buClr>
              <a:buSzPct val="45833"/>
              <a:buNone/>
            </a:pPr>
            <a:endParaRPr sz="2400" dirty="0"/>
          </a:p>
          <a:p>
            <a:pPr marL="0" lvl="0" indent="0" algn="l" rtl="0">
              <a:lnSpc>
                <a:spcPct val="115000"/>
              </a:lnSpc>
              <a:spcBef>
                <a:spcPts val="0"/>
              </a:spcBef>
              <a:spcAft>
                <a:spcPts val="0"/>
              </a:spcAft>
              <a:buClr>
                <a:schemeClr val="dk1"/>
              </a:buClr>
              <a:buSzPct val="45833"/>
              <a:buFont typeface="Arial"/>
              <a:buNone/>
            </a:pPr>
            <a:r>
              <a:rPr lang="en-AT" sz="2400" dirty="0"/>
              <a:t>These are called centroids (?) </a:t>
            </a:r>
            <a:r>
              <a:rPr lang="en-AT" sz="2400" dirty="0">
                <a:highlight>
                  <a:srgbClr val="FFFF00"/>
                </a:highlight>
              </a:rPr>
              <a:t>(Bob,2014, p7)</a:t>
            </a:r>
            <a:endParaRPr sz="2400" dirty="0">
              <a:highlight>
                <a:srgbClr val="FFFF00"/>
              </a:highlight>
            </a:endParaRPr>
          </a:p>
        </p:txBody>
      </p:sp>
      <p:sp>
        <p:nvSpPr>
          <p:cNvPr id="124" name="Google Shape;124;p19"/>
          <p:cNvSpPr txBox="1"/>
          <p:nvPr/>
        </p:nvSpPr>
        <p:spPr>
          <a:xfrm>
            <a:off x="7601997" y="6426900"/>
            <a:ext cx="3151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AT" sz="1600" dirty="0">
                <a:latin typeface="Calibri"/>
                <a:ea typeface="Calibri"/>
                <a:cs typeface="Calibri"/>
                <a:sym typeface="Calibri"/>
              </a:rPr>
              <a:t>Fig. 2.1 - Initial Scenario Concept</a:t>
            </a:r>
            <a:endParaRPr sz="1600" dirty="0">
              <a:latin typeface="Calibri"/>
              <a:ea typeface="Calibri"/>
              <a:cs typeface="Calibri"/>
              <a:sym typeface="Calibri"/>
            </a:endParaRPr>
          </a:p>
        </p:txBody>
      </p:sp>
      <p:pic>
        <p:nvPicPr>
          <p:cNvPr id="5" name="Picture 4" descr="Chart, bubble chart&#10;&#10;Description automatically generated">
            <a:extLst>
              <a:ext uri="{FF2B5EF4-FFF2-40B4-BE49-F238E27FC236}">
                <a16:creationId xmlns:a16="http://schemas.microsoft.com/office/drawing/2014/main" id="{A8974C39-696E-3F9D-ADD0-9410927F3D9E}"/>
              </a:ext>
            </a:extLst>
          </p:cNvPr>
          <p:cNvPicPr>
            <a:picLocks noChangeAspect="1"/>
          </p:cNvPicPr>
          <p:nvPr/>
        </p:nvPicPr>
        <p:blipFill>
          <a:blip r:embed="rId3"/>
          <a:stretch>
            <a:fillRect/>
          </a:stretch>
        </p:blipFill>
        <p:spPr>
          <a:xfrm>
            <a:off x="7318579" y="2292419"/>
            <a:ext cx="3718336" cy="2808074"/>
          </a:xfrm>
          <a:prstGeom prst="rect">
            <a:avLst/>
          </a:prstGeom>
        </p:spPr>
      </p:pic>
    </p:spTree>
    <p:extLst>
      <p:ext uri="{BB962C8B-B14F-4D97-AF65-F5344CB8AC3E}">
        <p14:creationId xmlns:p14="http://schemas.microsoft.com/office/powerpoint/2010/main" val="675365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20"/>
          <p:cNvSpPr txBox="1">
            <a:spLocks noGrp="1"/>
          </p:cNvSpPr>
          <p:nvPr>
            <p:ph type="title"/>
          </p:nvPr>
        </p:nvSpPr>
        <p:spPr>
          <a:xfrm>
            <a:off x="3505375" y="318034"/>
            <a:ext cx="8610600" cy="12930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sz="3200" dirty="0"/>
              <a:t>How Many Clusters and Start Points?</a:t>
            </a:r>
            <a:endParaRPr sz="3200" dirty="0"/>
          </a:p>
        </p:txBody>
      </p:sp>
      <p:sp>
        <p:nvSpPr>
          <p:cNvPr id="131" name="Google Shape;131;p20"/>
          <p:cNvSpPr txBox="1">
            <a:spLocks noGrp="1"/>
          </p:cNvSpPr>
          <p:nvPr>
            <p:ph idx="1"/>
          </p:nvPr>
        </p:nvSpPr>
        <p:spPr>
          <a:xfrm>
            <a:off x="129838" y="1611062"/>
            <a:ext cx="7255200" cy="4815300"/>
          </a:xfrm>
          <a:prstGeom prst="rect">
            <a:avLst/>
          </a:prstGeom>
          <a:noFill/>
          <a:ln>
            <a:noFill/>
          </a:ln>
        </p:spPr>
        <p:txBody>
          <a:bodyPr spcFirstLastPara="1" wrap="square" lIns="91425" tIns="45700" rIns="91425" bIns="45700" anchor="t" anchorCtr="0">
            <a:normAutofit fontScale="92500"/>
          </a:bodyPr>
          <a:lstStyle/>
          <a:p>
            <a:pPr marL="0" lvl="0" indent="0" algn="l" rtl="0">
              <a:lnSpc>
                <a:spcPct val="115000"/>
              </a:lnSpc>
              <a:spcBef>
                <a:spcPts val="0"/>
              </a:spcBef>
              <a:spcAft>
                <a:spcPts val="0"/>
              </a:spcAft>
              <a:buClr>
                <a:schemeClr val="dk1"/>
              </a:buClr>
              <a:buSzPts val="1100"/>
              <a:buNone/>
            </a:pPr>
            <a:r>
              <a:rPr lang="en-AT" sz="2400" dirty="0"/>
              <a:t>1. </a:t>
            </a:r>
            <a:r>
              <a:rPr lang="en-AT" sz="2400" b="1" dirty="0"/>
              <a:t>pick how many clusters</a:t>
            </a:r>
            <a:r>
              <a:rPr lang="en-AT" sz="2400" dirty="0"/>
              <a:t> we’d like.  This choice is a potential problem according to (recommended) as it has a massive effect on the result.</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r>
              <a:rPr lang="en-AT" sz="2400" dirty="0"/>
              <a:t>Two </a:t>
            </a:r>
            <a:r>
              <a:rPr lang="en-AT" sz="2400" b="1" dirty="0"/>
              <a:t>completely random points</a:t>
            </a:r>
            <a:r>
              <a:rPr lang="en-AT" sz="2400" dirty="0"/>
              <a:t> are then chosen as the cluster focal points or  centroid</a:t>
            </a:r>
            <a:r>
              <a:rPr lang="en-AT" sz="2400" dirty="0">
                <a:highlight>
                  <a:srgbClr val="FFFF00"/>
                </a:highlight>
              </a:rPr>
              <a:t> (source)</a:t>
            </a:r>
            <a:r>
              <a:rPr lang="en-AT" sz="2400" dirty="0"/>
              <a:t>.</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r>
              <a:rPr lang="en-AT" sz="2400" dirty="0"/>
              <a:t>In </a:t>
            </a:r>
            <a:r>
              <a:rPr lang="en-AT" sz="2400" dirty="0">
                <a:highlight>
                  <a:srgbClr val="FFFF00"/>
                </a:highlight>
              </a:rPr>
              <a:t>Fig. 2.2</a:t>
            </a:r>
            <a:r>
              <a:rPr lang="en-AT" sz="2400" dirty="0"/>
              <a:t>, they are the green circle on the rightest area and the blue circle on the left area.</a:t>
            </a:r>
          </a:p>
          <a:p>
            <a:pPr marL="0" indent="0">
              <a:lnSpc>
                <a:spcPct val="115000"/>
              </a:lnSpc>
              <a:spcBef>
                <a:spcPts val="0"/>
              </a:spcBef>
              <a:buClr>
                <a:schemeClr val="dk1"/>
              </a:buClr>
              <a:buSzPts val="1100"/>
              <a:buNone/>
            </a:pPr>
            <a:endParaRPr lang="en-GB" sz="2400" dirty="0"/>
          </a:p>
          <a:p>
            <a:pPr marL="0" indent="0">
              <a:lnSpc>
                <a:spcPct val="115000"/>
              </a:lnSpc>
              <a:spcBef>
                <a:spcPts val="0"/>
              </a:spcBef>
              <a:buClr>
                <a:schemeClr val="dk1"/>
              </a:buClr>
              <a:buSzPts val="1100"/>
              <a:buNone/>
            </a:pPr>
            <a:r>
              <a:rPr lang="en-GB" sz="2400" dirty="0"/>
              <a:t>Each centroid is then </a:t>
            </a:r>
            <a:r>
              <a:rPr lang="en-GB" sz="2400" b="1" dirty="0"/>
              <a:t>evaluated individually</a:t>
            </a:r>
            <a:r>
              <a:rPr lang="en-GB" sz="2400" dirty="0"/>
              <a:t>.</a:t>
            </a:r>
          </a:p>
          <a:p>
            <a:pPr marL="0" lvl="0" indent="0" algn="l" rtl="0">
              <a:lnSpc>
                <a:spcPct val="115000"/>
              </a:lnSpc>
              <a:spcBef>
                <a:spcPts val="0"/>
              </a:spcBef>
              <a:spcAft>
                <a:spcPts val="0"/>
              </a:spcAft>
              <a:buClr>
                <a:schemeClr val="dk1"/>
              </a:buClr>
              <a:buSzPts val="1100"/>
              <a:buNone/>
            </a:pPr>
            <a:endParaRPr sz="2400" dirty="0"/>
          </a:p>
        </p:txBody>
      </p:sp>
      <p:cxnSp>
        <p:nvCxnSpPr>
          <p:cNvPr id="132" name="Google Shape;132;p20"/>
          <p:cNvCxnSpPr/>
          <p:nvPr/>
        </p:nvCxnSpPr>
        <p:spPr>
          <a:xfrm rot="10800000">
            <a:off x="9776625" y="3214050"/>
            <a:ext cx="984900" cy="429900"/>
          </a:xfrm>
          <a:prstGeom prst="straightConnector1">
            <a:avLst/>
          </a:prstGeom>
          <a:noFill/>
          <a:ln w="9525" cap="flat" cmpd="sng">
            <a:solidFill>
              <a:schemeClr val="dk2"/>
            </a:solidFill>
            <a:prstDash val="solid"/>
            <a:round/>
            <a:headEnd type="none" w="med" len="med"/>
            <a:tailEnd type="triangle" w="med" len="med"/>
          </a:ln>
        </p:spPr>
      </p:cxnSp>
      <p:cxnSp>
        <p:nvCxnSpPr>
          <p:cNvPr id="133" name="Google Shape;133;p20"/>
          <p:cNvCxnSpPr/>
          <p:nvPr/>
        </p:nvCxnSpPr>
        <p:spPr>
          <a:xfrm rot="10800000" flipH="1">
            <a:off x="8317550" y="5702925"/>
            <a:ext cx="653400" cy="886500"/>
          </a:xfrm>
          <a:prstGeom prst="straightConnector1">
            <a:avLst/>
          </a:prstGeom>
          <a:noFill/>
          <a:ln w="9525" cap="flat" cmpd="sng">
            <a:solidFill>
              <a:schemeClr val="dk2"/>
            </a:solidFill>
            <a:prstDash val="solid"/>
            <a:round/>
            <a:headEnd type="none" w="med" len="med"/>
            <a:tailEnd type="triangle" w="med" len="med"/>
          </a:ln>
        </p:spPr>
      </p:cxnSp>
      <p:pic>
        <p:nvPicPr>
          <p:cNvPr id="2" name="Picture 1">
            <a:extLst>
              <a:ext uri="{FF2B5EF4-FFF2-40B4-BE49-F238E27FC236}">
                <a16:creationId xmlns:a16="http://schemas.microsoft.com/office/drawing/2014/main" id="{3C77A908-3CB5-4887-5E42-597157CB8B43}"/>
              </a:ext>
            </a:extLst>
          </p:cNvPr>
          <p:cNvPicPr>
            <a:picLocks noChangeAspect="1"/>
          </p:cNvPicPr>
          <p:nvPr/>
        </p:nvPicPr>
        <p:blipFill>
          <a:blip r:embed="rId3"/>
          <a:srcRect/>
          <a:stretch/>
        </p:blipFill>
        <p:spPr>
          <a:xfrm>
            <a:off x="7631400" y="2252956"/>
            <a:ext cx="3718336" cy="2808073"/>
          </a:xfrm>
          <a:prstGeom prst="rect">
            <a:avLst/>
          </a:prstGeom>
        </p:spPr>
      </p:pic>
      <p:sp>
        <p:nvSpPr>
          <p:cNvPr id="3" name="TextBox 2">
            <a:extLst>
              <a:ext uri="{FF2B5EF4-FFF2-40B4-BE49-F238E27FC236}">
                <a16:creationId xmlns:a16="http://schemas.microsoft.com/office/drawing/2014/main" id="{3047E903-5F8A-517E-ABCE-C07EA13C4FF0}"/>
              </a:ext>
            </a:extLst>
          </p:cNvPr>
          <p:cNvSpPr txBox="1"/>
          <p:nvPr/>
        </p:nvSpPr>
        <p:spPr>
          <a:xfrm>
            <a:off x="8097253" y="5510463"/>
            <a:ext cx="2827421" cy="369332"/>
          </a:xfrm>
          <a:prstGeom prst="rect">
            <a:avLst/>
          </a:prstGeom>
          <a:noFill/>
        </p:spPr>
        <p:txBody>
          <a:bodyPr wrap="square" rtlCol="0">
            <a:spAutoFit/>
          </a:bodyPr>
          <a:lstStyle/>
          <a:p>
            <a:r>
              <a:rPr lang="en-AT" dirty="0"/>
              <a:t>Fig 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9" name="Google Shape;139;p21"/>
          <p:cNvSpPr txBox="1">
            <a:spLocks noGrp="1"/>
          </p:cNvSpPr>
          <p:nvPr>
            <p:ph type="title"/>
          </p:nvPr>
        </p:nvSpPr>
        <p:spPr>
          <a:xfrm>
            <a:off x="1292578" y="365125"/>
            <a:ext cx="8610600" cy="12930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dirty="0"/>
              <a:t>Evaluating and Adding to a Cluster</a:t>
            </a:r>
            <a:endParaRPr dirty="0"/>
          </a:p>
        </p:txBody>
      </p:sp>
      <p:sp>
        <p:nvSpPr>
          <p:cNvPr id="140" name="Google Shape;140;p21"/>
          <p:cNvSpPr txBox="1">
            <a:spLocks noGrp="1"/>
          </p:cNvSpPr>
          <p:nvPr>
            <p:ph idx="1"/>
          </p:nvPr>
        </p:nvSpPr>
        <p:spPr>
          <a:xfrm>
            <a:off x="480075" y="1559250"/>
            <a:ext cx="7184041" cy="5118276"/>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en-AT" sz="2400" dirty="0"/>
              <a:t>In simplified terms, we look at every point in a random order and decide if it is closer to the green cluster focal point or the blue.</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r>
              <a:rPr lang="en-AT" sz="2400" dirty="0"/>
              <a:t>Using the euclidean distance, in </a:t>
            </a:r>
            <a:r>
              <a:rPr lang="en-AT" sz="2400" dirty="0">
                <a:highlight>
                  <a:srgbClr val="FFFF00"/>
                </a:highlight>
              </a:rPr>
              <a:t>Fig. 2.3</a:t>
            </a:r>
            <a:r>
              <a:rPr lang="en-AT" sz="2400" dirty="0"/>
              <a:t> is clearly closer to the green circle than it is the blue one.  Therefore  </a:t>
            </a:r>
            <a:r>
              <a:rPr lang="en-AT" sz="2400" b="1" dirty="0"/>
              <a:t>it will be added to the ‘green’ cluster</a:t>
            </a:r>
            <a:r>
              <a:rPr lang="en-AT" sz="2400" dirty="0"/>
              <a:t>.</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r>
              <a:rPr lang="en-AT" sz="2400" dirty="0"/>
              <a:t>This will be shown by colouring data points as a green.</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p:txBody>
      </p:sp>
      <p:cxnSp>
        <p:nvCxnSpPr>
          <p:cNvPr id="141" name="Google Shape;141;p21"/>
          <p:cNvCxnSpPr/>
          <p:nvPr/>
        </p:nvCxnSpPr>
        <p:spPr>
          <a:xfrm rot="10800000">
            <a:off x="10958555" y="1728532"/>
            <a:ext cx="1128000" cy="1360800"/>
          </a:xfrm>
          <a:prstGeom prst="straightConnector1">
            <a:avLst/>
          </a:prstGeom>
          <a:noFill/>
          <a:ln w="9525" cap="flat" cmpd="sng">
            <a:solidFill>
              <a:schemeClr val="dk2"/>
            </a:solidFill>
            <a:prstDash val="solid"/>
            <a:round/>
            <a:headEnd type="none" w="med" len="med"/>
            <a:tailEnd type="triangle" w="med" len="med"/>
          </a:ln>
        </p:spPr>
      </p:cxnSp>
      <p:pic>
        <p:nvPicPr>
          <p:cNvPr id="3" name="Picture 2">
            <a:extLst>
              <a:ext uri="{FF2B5EF4-FFF2-40B4-BE49-F238E27FC236}">
                <a16:creationId xmlns:a16="http://schemas.microsoft.com/office/drawing/2014/main" id="{F7A85096-9237-58B0-E97A-68B21A7B648E}"/>
              </a:ext>
            </a:extLst>
          </p:cNvPr>
          <p:cNvPicPr>
            <a:picLocks noChangeAspect="1"/>
          </p:cNvPicPr>
          <p:nvPr/>
        </p:nvPicPr>
        <p:blipFill>
          <a:blip r:embed="rId3"/>
          <a:srcRect/>
          <a:stretch/>
        </p:blipFill>
        <p:spPr>
          <a:xfrm>
            <a:off x="7760995" y="2083040"/>
            <a:ext cx="3950930" cy="2976853"/>
          </a:xfrm>
          <a:prstGeom prst="rect">
            <a:avLst/>
          </a:prstGeom>
        </p:spPr>
      </p:pic>
      <p:sp>
        <p:nvSpPr>
          <p:cNvPr id="2" name="TextBox 1">
            <a:extLst>
              <a:ext uri="{FF2B5EF4-FFF2-40B4-BE49-F238E27FC236}">
                <a16:creationId xmlns:a16="http://schemas.microsoft.com/office/drawing/2014/main" id="{7E8B25BF-94D9-ED1D-2F34-0EF2FD3C118F}"/>
              </a:ext>
            </a:extLst>
          </p:cNvPr>
          <p:cNvSpPr txBox="1"/>
          <p:nvPr/>
        </p:nvSpPr>
        <p:spPr>
          <a:xfrm>
            <a:off x="8441473" y="5553307"/>
            <a:ext cx="1895707" cy="369332"/>
          </a:xfrm>
          <a:prstGeom prst="rect">
            <a:avLst/>
          </a:prstGeom>
          <a:noFill/>
        </p:spPr>
        <p:txBody>
          <a:bodyPr wrap="square" rtlCol="0">
            <a:spAutoFit/>
          </a:bodyPr>
          <a:lstStyle/>
          <a:p>
            <a:r>
              <a:rPr lang="en-AT" dirty="0"/>
              <a:t>Fig 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9" name="Google Shape;139;p21"/>
          <p:cNvSpPr txBox="1">
            <a:spLocks noGrp="1"/>
          </p:cNvSpPr>
          <p:nvPr>
            <p:ph type="title"/>
          </p:nvPr>
        </p:nvSpPr>
        <p:spPr>
          <a:xfrm>
            <a:off x="5533758" y="288847"/>
            <a:ext cx="4803422" cy="12930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dirty="0"/>
              <a:t> next iteration</a:t>
            </a:r>
            <a:endParaRPr dirty="0"/>
          </a:p>
        </p:txBody>
      </p:sp>
      <p:sp>
        <p:nvSpPr>
          <p:cNvPr id="140" name="Google Shape;140;p21"/>
          <p:cNvSpPr txBox="1">
            <a:spLocks noGrp="1"/>
          </p:cNvSpPr>
          <p:nvPr>
            <p:ph idx="1"/>
          </p:nvPr>
        </p:nvSpPr>
        <p:spPr>
          <a:xfrm>
            <a:off x="480075" y="1559250"/>
            <a:ext cx="7184041" cy="5118276"/>
          </a:xfrm>
          <a:prstGeom prst="rect">
            <a:avLst/>
          </a:prstGeom>
          <a:noFill/>
          <a:ln>
            <a:noFill/>
          </a:ln>
        </p:spPr>
        <p:txBody>
          <a:bodyPr spcFirstLastPara="1" wrap="square" lIns="91425" tIns="45700" rIns="91425" bIns="45700" anchor="t" anchorCtr="0">
            <a:noAutofit/>
          </a:bodyPr>
          <a:lstStyle/>
          <a:p>
            <a:pPr marL="0" indent="0">
              <a:lnSpc>
                <a:spcPct val="115000"/>
              </a:lnSpc>
              <a:spcBef>
                <a:spcPts val="0"/>
              </a:spcBef>
              <a:buClr>
                <a:schemeClr val="dk1"/>
              </a:buClr>
              <a:buSzPts val="1100"/>
              <a:buNone/>
            </a:pPr>
            <a:r>
              <a:rPr lang="de-DE" sz="2400" dirty="0"/>
              <a:t>As </a:t>
            </a:r>
            <a:r>
              <a:rPr lang="de-DE" sz="2400" dirty="0" err="1"/>
              <a:t>we</a:t>
            </a:r>
            <a:r>
              <a:rPr lang="de-DE" sz="2400" dirty="0"/>
              <a:t> </a:t>
            </a:r>
            <a:r>
              <a:rPr lang="de-DE" sz="2400" dirty="0" err="1"/>
              <a:t>can</a:t>
            </a:r>
            <a:r>
              <a:rPr lang="de-DE" sz="2400" dirty="0"/>
              <a:t> </a:t>
            </a:r>
            <a:r>
              <a:rPr lang="de-DE" sz="2400" dirty="0" err="1"/>
              <a:t>see</a:t>
            </a:r>
            <a:r>
              <a:rPr lang="de-DE" sz="2400" dirty="0"/>
              <a:t> </a:t>
            </a:r>
            <a:r>
              <a:rPr lang="de-DE" sz="2400" dirty="0" err="1"/>
              <a:t>with</a:t>
            </a:r>
            <a:r>
              <a:rPr lang="de-DE" sz="2400" dirty="0"/>
              <a:t> </a:t>
            </a:r>
            <a:r>
              <a:rPr lang="de-DE" sz="2400" dirty="0" err="1"/>
              <a:t>the</a:t>
            </a:r>
            <a:r>
              <a:rPr lang="de-DE" sz="2400" dirty="0"/>
              <a:t> </a:t>
            </a:r>
            <a:r>
              <a:rPr lang="de-DE" sz="2400" dirty="0" err="1"/>
              <a:t>free</a:t>
            </a:r>
            <a:r>
              <a:rPr lang="de-DE" sz="2400" dirty="0"/>
              <a:t> </a:t>
            </a:r>
            <a:r>
              <a:rPr lang="de-DE" sz="2400" dirty="0" err="1"/>
              <a:t>eye</a:t>
            </a:r>
            <a:r>
              <a:rPr lang="de-DE" sz="2400" dirty="0"/>
              <a:t>, </a:t>
            </a:r>
            <a:r>
              <a:rPr lang="de-DE" sz="2400" dirty="0" err="1"/>
              <a:t>the</a:t>
            </a:r>
            <a:r>
              <a:rPr lang="de-DE" sz="2400" dirty="0"/>
              <a:t> </a:t>
            </a:r>
            <a:r>
              <a:rPr lang="de-DE" sz="2400" dirty="0" err="1"/>
              <a:t>cluster</a:t>
            </a:r>
            <a:r>
              <a:rPr lang="de-DE" sz="2400" dirty="0"/>
              <a:t> </a:t>
            </a:r>
            <a:r>
              <a:rPr lang="de-DE" sz="2400" dirty="0" err="1"/>
              <a:t>arn‘t</a:t>
            </a:r>
            <a:r>
              <a:rPr lang="de-DE" sz="2400" dirty="0"/>
              <a:t> </a:t>
            </a:r>
            <a:r>
              <a:rPr lang="de-DE" sz="2400" dirty="0" err="1"/>
              <a:t>correctly</a:t>
            </a:r>
            <a:r>
              <a:rPr lang="de-DE" sz="2400" dirty="0"/>
              <a:t> </a:t>
            </a:r>
            <a:r>
              <a:rPr lang="de-DE" sz="2400" dirty="0" err="1"/>
              <a:t>grouped</a:t>
            </a:r>
            <a:r>
              <a:rPr lang="de-DE" sz="2400" dirty="0"/>
              <a:t>.</a:t>
            </a:r>
            <a:r>
              <a:rPr lang="en-GB" sz="2400" dirty="0"/>
              <a:t> We do however have two obvious clusters forming that to the human eye look as you’d expect them to.</a:t>
            </a:r>
          </a:p>
          <a:p>
            <a:pPr marL="0" lvl="0" indent="0" algn="l" rtl="0">
              <a:lnSpc>
                <a:spcPct val="115000"/>
              </a:lnSpc>
              <a:spcBef>
                <a:spcPts val="0"/>
              </a:spcBef>
              <a:spcAft>
                <a:spcPts val="0"/>
              </a:spcAft>
              <a:buClr>
                <a:schemeClr val="dk1"/>
              </a:buClr>
              <a:buSzPts val="1100"/>
              <a:buNone/>
            </a:pPr>
            <a:endParaRPr lang="de-DE" sz="2400" dirty="0"/>
          </a:p>
          <a:p>
            <a:pPr marL="0" lvl="0" indent="0" algn="l" rtl="0">
              <a:lnSpc>
                <a:spcPct val="115000"/>
              </a:lnSpc>
              <a:spcBef>
                <a:spcPts val="0"/>
              </a:spcBef>
              <a:spcAft>
                <a:spcPts val="0"/>
              </a:spcAft>
              <a:buClr>
                <a:schemeClr val="dk1"/>
              </a:buClr>
              <a:buSzPts val="1100"/>
              <a:buNone/>
            </a:pPr>
            <a:endParaRPr lang="de-DE" sz="2400" dirty="0"/>
          </a:p>
          <a:p>
            <a:pPr marL="0" lvl="0" indent="0" algn="l" rtl="0">
              <a:lnSpc>
                <a:spcPct val="115000"/>
              </a:lnSpc>
              <a:spcBef>
                <a:spcPts val="0"/>
              </a:spcBef>
              <a:spcAft>
                <a:spcPts val="0"/>
              </a:spcAft>
              <a:buClr>
                <a:schemeClr val="dk1"/>
              </a:buClr>
              <a:buSzPts val="1100"/>
              <a:buNone/>
            </a:pPr>
            <a:r>
              <a:rPr lang="de-DE" sz="2400" dirty="0" err="1"/>
              <a:t>Previous</a:t>
            </a:r>
            <a:r>
              <a:rPr lang="de-DE" sz="2400" dirty="0"/>
              <a:t> </a:t>
            </a:r>
            <a:r>
              <a:rPr lang="de-DE" sz="2400" dirty="0" err="1"/>
              <a:t>steps</a:t>
            </a:r>
            <a:r>
              <a:rPr lang="de-DE" sz="2400" dirty="0"/>
              <a:t> </a:t>
            </a:r>
            <a:r>
              <a:rPr lang="de-DE" sz="2400" dirty="0" err="1"/>
              <a:t>are</a:t>
            </a:r>
            <a:r>
              <a:rPr lang="de-DE" sz="2400" dirty="0"/>
              <a:t> </a:t>
            </a:r>
            <a:r>
              <a:rPr lang="de-DE" sz="2400" dirty="0" err="1"/>
              <a:t>repeated</a:t>
            </a:r>
            <a:endParaRPr lang="de-DE" sz="2400" dirty="0"/>
          </a:p>
          <a:p>
            <a:pPr marL="0" lvl="0" indent="0" algn="l" rtl="0">
              <a:lnSpc>
                <a:spcPct val="115000"/>
              </a:lnSpc>
              <a:spcBef>
                <a:spcPts val="0"/>
              </a:spcBef>
              <a:spcAft>
                <a:spcPts val="0"/>
              </a:spcAft>
              <a:buClr>
                <a:schemeClr val="dk1"/>
              </a:buClr>
              <a:buSzPts val="1100"/>
              <a:buNone/>
            </a:pPr>
            <a:endParaRPr lang="de-DE" sz="2400" dirty="0"/>
          </a:p>
          <a:p>
            <a:pPr marL="0" lvl="0" indent="0" algn="l" rtl="0">
              <a:lnSpc>
                <a:spcPct val="115000"/>
              </a:lnSpc>
              <a:spcBef>
                <a:spcPts val="0"/>
              </a:spcBef>
              <a:spcAft>
                <a:spcPts val="0"/>
              </a:spcAft>
              <a:buClr>
                <a:schemeClr val="dk1"/>
              </a:buClr>
              <a:buSzPts val="1100"/>
              <a:buNone/>
            </a:pPr>
            <a:r>
              <a:rPr lang="de-DE" sz="2400" dirty="0" err="1"/>
              <a:t>Therefore</a:t>
            </a:r>
            <a:r>
              <a:rPr lang="de-DE" sz="2400" dirty="0"/>
              <a:t> </a:t>
            </a:r>
            <a:r>
              <a:rPr lang="de-DE" sz="2400" dirty="0" err="1"/>
              <a:t>the</a:t>
            </a:r>
            <a:r>
              <a:rPr lang="de-DE" sz="2400" dirty="0"/>
              <a:t> </a:t>
            </a:r>
            <a:r>
              <a:rPr lang="de-DE" sz="2400" dirty="0" err="1"/>
              <a:t>euclidean</a:t>
            </a:r>
            <a:r>
              <a:rPr lang="de-DE" sz="2400" dirty="0"/>
              <a:t> </a:t>
            </a:r>
            <a:r>
              <a:rPr lang="de-DE" sz="2400" dirty="0" err="1"/>
              <a:t>distance</a:t>
            </a:r>
            <a:r>
              <a:rPr lang="de-DE" sz="2400" dirty="0"/>
              <a:t> </a:t>
            </a:r>
            <a:r>
              <a:rPr lang="de-DE" sz="2400" dirty="0" err="1"/>
              <a:t>help</a:t>
            </a:r>
            <a:r>
              <a:rPr lang="de-DE" sz="2400" dirty="0"/>
              <a:t> </a:t>
            </a:r>
            <a:r>
              <a:rPr lang="de-DE" sz="2400" dirty="0" err="1"/>
              <a:t>move</a:t>
            </a:r>
            <a:r>
              <a:rPr lang="de-DE" sz="2400" dirty="0"/>
              <a:t> </a:t>
            </a:r>
            <a:r>
              <a:rPr lang="de-DE" sz="2400" dirty="0" err="1"/>
              <a:t>the</a:t>
            </a:r>
            <a:r>
              <a:rPr lang="de-DE" sz="2400" dirty="0"/>
              <a:t> </a:t>
            </a:r>
            <a:r>
              <a:rPr lang="de-DE" sz="2400" dirty="0" err="1"/>
              <a:t>centroid</a:t>
            </a:r>
            <a:r>
              <a:rPr lang="de-DE" sz="2400" dirty="0"/>
              <a:t>. And </a:t>
            </a:r>
            <a:r>
              <a:rPr lang="de-DE" sz="2400" dirty="0" err="1"/>
              <a:t>reiterate</a:t>
            </a:r>
            <a:r>
              <a:rPr lang="de-DE" sz="2400" dirty="0"/>
              <a:t> </a:t>
            </a:r>
            <a:r>
              <a:rPr lang="de-DE" sz="2400" dirty="0" err="1"/>
              <a:t>the</a:t>
            </a:r>
            <a:r>
              <a:rPr lang="de-DE" sz="2400" dirty="0"/>
              <a:t> </a:t>
            </a:r>
            <a:r>
              <a:rPr lang="de-DE" sz="2400" dirty="0" err="1"/>
              <a:t>algorithm</a:t>
            </a:r>
            <a:r>
              <a:rPr lang="de-DE" sz="2400" dirty="0"/>
              <a:t> on </a:t>
            </a:r>
            <a:r>
              <a:rPr lang="de-DE" sz="2400" dirty="0" err="1"/>
              <a:t>more</a:t>
            </a:r>
            <a:r>
              <a:rPr lang="de-DE" sz="2400" dirty="0"/>
              <a:t> time</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p:txBody>
      </p:sp>
      <p:cxnSp>
        <p:nvCxnSpPr>
          <p:cNvPr id="141" name="Google Shape;141;p21"/>
          <p:cNvCxnSpPr/>
          <p:nvPr/>
        </p:nvCxnSpPr>
        <p:spPr>
          <a:xfrm rot="10800000">
            <a:off x="10958555" y="1728532"/>
            <a:ext cx="1128000" cy="1360800"/>
          </a:xfrm>
          <a:prstGeom prst="straightConnector1">
            <a:avLst/>
          </a:prstGeom>
          <a:noFill/>
          <a:ln w="9525" cap="flat" cmpd="sng">
            <a:solidFill>
              <a:schemeClr val="dk2"/>
            </a:solidFill>
            <a:prstDash val="solid"/>
            <a:round/>
            <a:headEnd type="none" w="med" len="med"/>
            <a:tailEnd type="triangle" w="med" len="med"/>
          </a:ln>
        </p:spPr>
      </p:cxnSp>
      <p:pic>
        <p:nvPicPr>
          <p:cNvPr id="3" name="Picture 2">
            <a:extLst>
              <a:ext uri="{FF2B5EF4-FFF2-40B4-BE49-F238E27FC236}">
                <a16:creationId xmlns:a16="http://schemas.microsoft.com/office/drawing/2014/main" id="{F7A85096-9237-58B0-E97A-68B21A7B648E}"/>
              </a:ext>
            </a:extLst>
          </p:cNvPr>
          <p:cNvPicPr>
            <a:picLocks noChangeAspect="1"/>
          </p:cNvPicPr>
          <p:nvPr/>
        </p:nvPicPr>
        <p:blipFill>
          <a:blip r:embed="rId3"/>
          <a:srcRect/>
          <a:stretch/>
        </p:blipFill>
        <p:spPr>
          <a:xfrm>
            <a:off x="7762577" y="2083040"/>
            <a:ext cx="3947765" cy="2976853"/>
          </a:xfrm>
          <a:prstGeom prst="rect">
            <a:avLst/>
          </a:prstGeom>
        </p:spPr>
      </p:pic>
      <p:sp>
        <p:nvSpPr>
          <p:cNvPr id="2" name="TextBox 1">
            <a:extLst>
              <a:ext uri="{FF2B5EF4-FFF2-40B4-BE49-F238E27FC236}">
                <a16:creationId xmlns:a16="http://schemas.microsoft.com/office/drawing/2014/main" id="{7E8B25BF-94D9-ED1D-2F34-0EF2FD3C118F}"/>
              </a:ext>
            </a:extLst>
          </p:cNvPr>
          <p:cNvSpPr txBox="1"/>
          <p:nvPr/>
        </p:nvSpPr>
        <p:spPr>
          <a:xfrm>
            <a:off x="8441473" y="5553307"/>
            <a:ext cx="1895707" cy="369332"/>
          </a:xfrm>
          <a:prstGeom prst="rect">
            <a:avLst/>
          </a:prstGeom>
          <a:noFill/>
        </p:spPr>
        <p:txBody>
          <a:bodyPr wrap="square" rtlCol="0">
            <a:spAutoFit/>
          </a:bodyPr>
          <a:lstStyle/>
          <a:p>
            <a:r>
              <a:rPr lang="en-AT" dirty="0"/>
              <a:t>Fig 2.4</a:t>
            </a:r>
          </a:p>
        </p:txBody>
      </p:sp>
      <p:pic>
        <p:nvPicPr>
          <p:cNvPr id="4" name="Picture 3">
            <a:extLst>
              <a:ext uri="{FF2B5EF4-FFF2-40B4-BE49-F238E27FC236}">
                <a16:creationId xmlns:a16="http://schemas.microsoft.com/office/drawing/2014/main" id="{D0DD0227-E031-E7B7-8243-BAA3F4D91307}"/>
              </a:ext>
            </a:extLst>
          </p:cNvPr>
          <p:cNvPicPr>
            <a:picLocks noChangeAspect="1"/>
          </p:cNvPicPr>
          <p:nvPr/>
        </p:nvPicPr>
        <p:blipFill>
          <a:blip r:embed="rId3"/>
          <a:srcRect/>
          <a:stretch/>
        </p:blipFill>
        <p:spPr>
          <a:xfrm>
            <a:off x="7675267" y="2071889"/>
            <a:ext cx="3947765" cy="2976852"/>
          </a:xfrm>
          <a:prstGeom prst="rect">
            <a:avLst/>
          </a:prstGeom>
        </p:spPr>
      </p:pic>
    </p:spTree>
    <p:extLst>
      <p:ext uri="{BB962C8B-B14F-4D97-AF65-F5344CB8AC3E}">
        <p14:creationId xmlns:p14="http://schemas.microsoft.com/office/powerpoint/2010/main" val="1321304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9" name="Google Shape;139;p21"/>
          <p:cNvSpPr txBox="1">
            <a:spLocks noGrp="1"/>
          </p:cNvSpPr>
          <p:nvPr>
            <p:ph type="title"/>
          </p:nvPr>
        </p:nvSpPr>
        <p:spPr>
          <a:xfrm>
            <a:off x="5533758" y="288847"/>
            <a:ext cx="4803422" cy="12930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dirty="0"/>
              <a:t> next iteration</a:t>
            </a:r>
            <a:endParaRPr dirty="0"/>
          </a:p>
        </p:txBody>
      </p:sp>
      <p:sp>
        <p:nvSpPr>
          <p:cNvPr id="140" name="Google Shape;140;p21"/>
          <p:cNvSpPr txBox="1">
            <a:spLocks noGrp="1"/>
          </p:cNvSpPr>
          <p:nvPr>
            <p:ph idx="1"/>
          </p:nvPr>
        </p:nvSpPr>
        <p:spPr>
          <a:xfrm>
            <a:off x="492085" y="2500755"/>
            <a:ext cx="7184041" cy="5118276"/>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de-DE" sz="2400" dirty="0"/>
              <a:t>Other </a:t>
            </a:r>
            <a:r>
              <a:rPr lang="de-DE" sz="2400" dirty="0" err="1"/>
              <a:t>groups</a:t>
            </a:r>
            <a:r>
              <a:rPr lang="de-DE" sz="2400" dirty="0"/>
              <a:t> </a:t>
            </a:r>
            <a:r>
              <a:rPr lang="de-DE" sz="2400" dirty="0" err="1"/>
              <a:t>are</a:t>
            </a:r>
            <a:r>
              <a:rPr lang="de-DE" sz="2400" dirty="0"/>
              <a:t> </a:t>
            </a:r>
            <a:r>
              <a:rPr lang="de-DE" sz="2400" dirty="0" err="1"/>
              <a:t>formed</a:t>
            </a:r>
            <a:r>
              <a:rPr lang="de-DE" sz="2400" dirty="0"/>
              <a:t>, and </a:t>
            </a:r>
            <a:r>
              <a:rPr lang="de-DE" sz="2400" dirty="0" err="1"/>
              <a:t>the</a:t>
            </a:r>
            <a:r>
              <a:rPr lang="de-DE" sz="2400" dirty="0"/>
              <a:t> </a:t>
            </a:r>
            <a:r>
              <a:rPr lang="de-DE" sz="2400" dirty="0" err="1"/>
              <a:t>euclidean</a:t>
            </a:r>
            <a:r>
              <a:rPr lang="de-DE" sz="2400" dirty="0"/>
              <a:t> </a:t>
            </a:r>
            <a:r>
              <a:rPr lang="de-DE" sz="2400" dirty="0" err="1"/>
              <a:t>distance</a:t>
            </a:r>
            <a:r>
              <a:rPr lang="de-DE" sz="2400" dirty="0"/>
              <a:t> </a:t>
            </a:r>
            <a:r>
              <a:rPr lang="de-DE" sz="2400" dirty="0" err="1"/>
              <a:t>managed</a:t>
            </a:r>
            <a:r>
              <a:rPr lang="de-DE" sz="2400" dirty="0"/>
              <a:t> </a:t>
            </a:r>
            <a:r>
              <a:rPr lang="de-DE" sz="2400" dirty="0" err="1"/>
              <a:t>to</a:t>
            </a:r>
            <a:r>
              <a:rPr lang="de-DE" sz="2400" dirty="0"/>
              <a:t> find </a:t>
            </a:r>
            <a:r>
              <a:rPr lang="de-DE" sz="2400" dirty="0" err="1"/>
              <a:t>the</a:t>
            </a:r>
            <a:r>
              <a:rPr lang="de-DE" sz="2400" dirty="0"/>
              <a:t> </a:t>
            </a:r>
            <a:r>
              <a:rPr lang="de-DE" sz="2400" dirty="0" err="1"/>
              <a:t>best</a:t>
            </a:r>
            <a:r>
              <a:rPr lang="de-DE" sz="2400" dirty="0"/>
              <a:t> </a:t>
            </a:r>
            <a:r>
              <a:rPr lang="de-DE" sz="2400" dirty="0" err="1"/>
              <a:t>groups</a:t>
            </a:r>
            <a:r>
              <a:rPr lang="de-DE" sz="2400" dirty="0"/>
              <a:t> </a:t>
            </a:r>
          </a:p>
          <a:p>
            <a:pPr marL="0" lvl="0" indent="0" algn="l" rtl="0">
              <a:lnSpc>
                <a:spcPct val="115000"/>
              </a:lnSpc>
              <a:spcBef>
                <a:spcPts val="0"/>
              </a:spcBef>
              <a:spcAft>
                <a:spcPts val="0"/>
              </a:spcAft>
              <a:buClr>
                <a:schemeClr val="dk1"/>
              </a:buClr>
              <a:buSzPts val="1100"/>
              <a:buNone/>
            </a:pPr>
            <a:endParaRPr lang="de-DE" sz="2400" dirty="0"/>
          </a:p>
          <a:p>
            <a:pPr marL="0" lvl="0" indent="0" algn="l" rtl="0">
              <a:lnSpc>
                <a:spcPct val="115000"/>
              </a:lnSpc>
              <a:spcBef>
                <a:spcPts val="0"/>
              </a:spcBef>
              <a:spcAft>
                <a:spcPts val="0"/>
              </a:spcAft>
              <a:buClr>
                <a:schemeClr val="dk1"/>
              </a:buClr>
              <a:buSzPts val="1100"/>
              <a:buNone/>
            </a:pPr>
            <a:r>
              <a:rPr lang="de-DE" sz="2400" dirty="0" err="1"/>
              <a:t>If</a:t>
            </a:r>
            <a:r>
              <a:rPr lang="de-DE" sz="2400" dirty="0"/>
              <a:t> </a:t>
            </a:r>
            <a:r>
              <a:rPr lang="de-DE" sz="2400" dirty="0" err="1"/>
              <a:t>the</a:t>
            </a:r>
            <a:r>
              <a:rPr lang="de-DE" sz="2400" dirty="0"/>
              <a:t> </a:t>
            </a:r>
            <a:r>
              <a:rPr lang="de-DE" sz="2400" dirty="0" err="1"/>
              <a:t>classification</a:t>
            </a:r>
            <a:r>
              <a:rPr lang="de-DE" sz="2400" dirty="0"/>
              <a:t> </a:t>
            </a:r>
            <a:r>
              <a:rPr lang="de-DE" sz="2400" dirty="0" err="1"/>
              <a:t>is</a:t>
            </a:r>
            <a:r>
              <a:rPr lang="de-DE" sz="2400" dirty="0"/>
              <a:t> </a:t>
            </a:r>
            <a:r>
              <a:rPr lang="de-DE" sz="2400" dirty="0" err="1"/>
              <a:t>well</a:t>
            </a:r>
            <a:r>
              <a:rPr lang="de-DE" sz="2400" dirty="0"/>
              <a:t> </a:t>
            </a:r>
            <a:r>
              <a:rPr lang="de-DE" sz="2400" dirty="0" err="1"/>
              <a:t>enough</a:t>
            </a:r>
            <a:r>
              <a:rPr lang="de-DE" sz="2400" dirty="0"/>
              <a:t>, </a:t>
            </a:r>
            <a:r>
              <a:rPr lang="de-DE" sz="2400" dirty="0" err="1"/>
              <a:t>the</a:t>
            </a:r>
            <a:r>
              <a:rPr lang="de-DE" sz="2400" dirty="0"/>
              <a:t> </a:t>
            </a:r>
            <a:r>
              <a:rPr lang="de-DE" sz="2400" dirty="0" err="1"/>
              <a:t>process</a:t>
            </a:r>
            <a:r>
              <a:rPr lang="de-DE" sz="2400" dirty="0"/>
              <a:t> will </a:t>
            </a:r>
            <a:r>
              <a:rPr lang="de-DE" sz="2400" dirty="0" err="1"/>
              <a:t>stop</a:t>
            </a:r>
            <a:r>
              <a:rPr lang="de-DE" sz="2400" dirty="0"/>
              <a:t> </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p:txBody>
      </p:sp>
      <p:cxnSp>
        <p:nvCxnSpPr>
          <p:cNvPr id="141" name="Google Shape;141;p21"/>
          <p:cNvCxnSpPr/>
          <p:nvPr/>
        </p:nvCxnSpPr>
        <p:spPr>
          <a:xfrm rot="10800000">
            <a:off x="10958555" y="1728532"/>
            <a:ext cx="1128000" cy="1360800"/>
          </a:xfrm>
          <a:prstGeom prst="straightConnector1">
            <a:avLst/>
          </a:prstGeom>
          <a:noFill/>
          <a:ln w="9525" cap="flat" cmpd="sng">
            <a:solidFill>
              <a:schemeClr val="dk2"/>
            </a:solidFill>
            <a:prstDash val="solid"/>
            <a:round/>
            <a:headEnd type="none" w="med" len="med"/>
            <a:tailEnd type="triangle" w="med" len="med"/>
          </a:ln>
        </p:spPr>
      </p:cxnSp>
      <p:pic>
        <p:nvPicPr>
          <p:cNvPr id="3" name="Picture 2">
            <a:extLst>
              <a:ext uri="{FF2B5EF4-FFF2-40B4-BE49-F238E27FC236}">
                <a16:creationId xmlns:a16="http://schemas.microsoft.com/office/drawing/2014/main" id="{F7A85096-9237-58B0-E97A-68B21A7B648E}"/>
              </a:ext>
            </a:extLst>
          </p:cNvPr>
          <p:cNvPicPr>
            <a:picLocks noChangeAspect="1"/>
          </p:cNvPicPr>
          <p:nvPr/>
        </p:nvPicPr>
        <p:blipFill>
          <a:blip r:embed="rId3"/>
          <a:srcRect/>
          <a:stretch/>
        </p:blipFill>
        <p:spPr>
          <a:xfrm>
            <a:off x="7773003" y="2083040"/>
            <a:ext cx="3926912" cy="2976853"/>
          </a:xfrm>
          <a:prstGeom prst="rect">
            <a:avLst/>
          </a:prstGeom>
        </p:spPr>
      </p:pic>
      <p:sp>
        <p:nvSpPr>
          <p:cNvPr id="2" name="TextBox 1">
            <a:extLst>
              <a:ext uri="{FF2B5EF4-FFF2-40B4-BE49-F238E27FC236}">
                <a16:creationId xmlns:a16="http://schemas.microsoft.com/office/drawing/2014/main" id="{7E8B25BF-94D9-ED1D-2F34-0EF2FD3C118F}"/>
              </a:ext>
            </a:extLst>
          </p:cNvPr>
          <p:cNvSpPr txBox="1"/>
          <p:nvPr/>
        </p:nvSpPr>
        <p:spPr>
          <a:xfrm>
            <a:off x="8441473" y="5564881"/>
            <a:ext cx="1895707" cy="369332"/>
          </a:xfrm>
          <a:prstGeom prst="rect">
            <a:avLst/>
          </a:prstGeom>
          <a:noFill/>
        </p:spPr>
        <p:txBody>
          <a:bodyPr wrap="square" rtlCol="0">
            <a:spAutoFit/>
          </a:bodyPr>
          <a:lstStyle/>
          <a:p>
            <a:r>
              <a:rPr lang="en-AT" dirty="0"/>
              <a:t>Fig 2.5</a:t>
            </a:r>
          </a:p>
        </p:txBody>
      </p:sp>
    </p:spTree>
    <p:extLst>
      <p:ext uri="{BB962C8B-B14F-4D97-AF65-F5344CB8AC3E}">
        <p14:creationId xmlns:p14="http://schemas.microsoft.com/office/powerpoint/2010/main" val="2164778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9" name="Google Shape;139;p21"/>
          <p:cNvSpPr txBox="1">
            <a:spLocks noGrp="1"/>
          </p:cNvSpPr>
          <p:nvPr>
            <p:ph type="title"/>
          </p:nvPr>
        </p:nvSpPr>
        <p:spPr>
          <a:xfrm>
            <a:off x="5533758" y="288847"/>
            <a:ext cx="4803422" cy="12930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dirty="0"/>
              <a:t> next iteration</a:t>
            </a:r>
            <a:endParaRPr dirty="0"/>
          </a:p>
        </p:txBody>
      </p:sp>
      <p:sp>
        <p:nvSpPr>
          <p:cNvPr id="140" name="Google Shape;140;p21"/>
          <p:cNvSpPr txBox="1">
            <a:spLocks noGrp="1"/>
          </p:cNvSpPr>
          <p:nvPr>
            <p:ph idx="1"/>
          </p:nvPr>
        </p:nvSpPr>
        <p:spPr>
          <a:xfrm>
            <a:off x="480075" y="1559250"/>
            <a:ext cx="7184041" cy="5118276"/>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de-DE" sz="2400" dirty="0"/>
              <a:t>As final </a:t>
            </a:r>
            <a:r>
              <a:rPr lang="de-DE" sz="2400" dirty="0" err="1"/>
              <a:t>results</a:t>
            </a:r>
            <a:r>
              <a:rPr lang="de-DE" sz="2400" dirty="0"/>
              <a:t> </a:t>
            </a:r>
            <a:r>
              <a:rPr lang="de-DE" sz="2400" dirty="0" err="1"/>
              <a:t>we</a:t>
            </a:r>
            <a:r>
              <a:rPr lang="de-DE" sz="2400" dirty="0"/>
              <a:t> </a:t>
            </a:r>
            <a:r>
              <a:rPr lang="de-DE" sz="2400" dirty="0" err="1"/>
              <a:t>have</a:t>
            </a:r>
            <a:r>
              <a:rPr lang="de-DE" sz="2400" dirty="0"/>
              <a:t> </a:t>
            </a:r>
            <a:r>
              <a:rPr lang="de-DE" sz="2400" dirty="0" err="1"/>
              <a:t>the</a:t>
            </a:r>
            <a:r>
              <a:rPr lang="de-DE" sz="2400" dirty="0"/>
              <a:t> </a:t>
            </a:r>
            <a:r>
              <a:rPr lang="de-DE" sz="2400" dirty="0" err="1"/>
              <a:t>best</a:t>
            </a:r>
            <a:r>
              <a:rPr lang="de-DE" sz="2400" dirty="0"/>
              <a:t> </a:t>
            </a:r>
            <a:r>
              <a:rPr lang="de-DE" sz="2400" dirty="0" err="1"/>
              <a:t>two</a:t>
            </a:r>
            <a:r>
              <a:rPr lang="de-DE" sz="2400" dirty="0"/>
              <a:t> </a:t>
            </a:r>
            <a:r>
              <a:rPr lang="de-DE" sz="2400" dirty="0" err="1"/>
              <a:t>groups</a:t>
            </a:r>
            <a:r>
              <a:rPr lang="de-DE" sz="2400" dirty="0"/>
              <a:t> </a:t>
            </a:r>
            <a:r>
              <a:rPr lang="de-DE" sz="2400" dirty="0" err="1"/>
              <a:t>formed</a:t>
            </a:r>
            <a:r>
              <a:rPr lang="de-DE" sz="2400" dirty="0"/>
              <a:t>.</a:t>
            </a:r>
          </a:p>
          <a:p>
            <a:pPr marL="0" lvl="0" indent="0" algn="l" rtl="0">
              <a:lnSpc>
                <a:spcPct val="115000"/>
              </a:lnSpc>
              <a:spcBef>
                <a:spcPts val="0"/>
              </a:spcBef>
              <a:spcAft>
                <a:spcPts val="0"/>
              </a:spcAft>
              <a:buClr>
                <a:schemeClr val="dk1"/>
              </a:buClr>
              <a:buSzPts val="1100"/>
              <a:buNone/>
            </a:pPr>
            <a:endParaRPr lang="de-DE" sz="2400" dirty="0"/>
          </a:p>
          <a:p>
            <a:pPr marL="0" lvl="0" indent="0" algn="l" rtl="0">
              <a:lnSpc>
                <a:spcPct val="115000"/>
              </a:lnSpc>
              <a:spcBef>
                <a:spcPts val="0"/>
              </a:spcBef>
              <a:spcAft>
                <a:spcPts val="0"/>
              </a:spcAft>
              <a:buClr>
                <a:schemeClr val="dk1"/>
              </a:buClr>
              <a:buSzPts val="1100"/>
              <a:buNone/>
            </a:pPr>
            <a:r>
              <a:rPr lang="en-GB" sz="2400" dirty="0"/>
              <a:t>The end result would likely be that every point in the upper left area  is in the blue cluster with every point  in the lower right area is the green cluster.  </a:t>
            </a:r>
          </a:p>
          <a:p>
            <a:pPr marL="0" lvl="0" indent="0" algn="l" rtl="0">
              <a:lnSpc>
                <a:spcPct val="115000"/>
              </a:lnSpc>
              <a:spcBef>
                <a:spcPts val="0"/>
              </a:spcBef>
              <a:spcAft>
                <a:spcPts val="0"/>
              </a:spcAft>
              <a:buClr>
                <a:schemeClr val="dk1"/>
              </a:buClr>
              <a:buSzPts val="1100"/>
              <a:buNone/>
            </a:pPr>
            <a:endParaRPr lang="en-GB" sz="2400" dirty="0"/>
          </a:p>
          <a:p>
            <a:pPr marL="0" lvl="0" indent="0" algn="l" rtl="0">
              <a:lnSpc>
                <a:spcPct val="115000"/>
              </a:lnSpc>
              <a:spcBef>
                <a:spcPts val="0"/>
              </a:spcBef>
              <a:spcAft>
                <a:spcPts val="0"/>
              </a:spcAft>
              <a:buClr>
                <a:schemeClr val="dk1"/>
              </a:buClr>
              <a:buSzPts val="1100"/>
              <a:buNone/>
            </a:pPr>
            <a:r>
              <a:rPr lang="en-GB" sz="2400" dirty="0"/>
              <a:t>This is a reasonable characterisation and K-Means has been successful on this occasion.</a:t>
            </a:r>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p:txBody>
      </p:sp>
      <p:cxnSp>
        <p:nvCxnSpPr>
          <p:cNvPr id="141" name="Google Shape;141;p21"/>
          <p:cNvCxnSpPr/>
          <p:nvPr/>
        </p:nvCxnSpPr>
        <p:spPr>
          <a:xfrm rot="10800000">
            <a:off x="10958555" y="1728532"/>
            <a:ext cx="1128000" cy="1360800"/>
          </a:xfrm>
          <a:prstGeom prst="straightConnector1">
            <a:avLst/>
          </a:prstGeom>
          <a:noFill/>
          <a:ln w="9525" cap="flat" cmpd="sng">
            <a:solidFill>
              <a:schemeClr val="dk2"/>
            </a:solidFill>
            <a:prstDash val="solid"/>
            <a:round/>
            <a:headEnd type="none" w="med" len="med"/>
            <a:tailEnd type="triangle" w="med" len="med"/>
          </a:ln>
        </p:spPr>
      </p:cxnSp>
      <p:pic>
        <p:nvPicPr>
          <p:cNvPr id="3" name="Picture 2">
            <a:extLst>
              <a:ext uri="{FF2B5EF4-FFF2-40B4-BE49-F238E27FC236}">
                <a16:creationId xmlns:a16="http://schemas.microsoft.com/office/drawing/2014/main" id="{F7A85096-9237-58B0-E97A-68B21A7B648E}"/>
              </a:ext>
            </a:extLst>
          </p:cNvPr>
          <p:cNvPicPr>
            <a:picLocks noChangeAspect="1"/>
          </p:cNvPicPr>
          <p:nvPr/>
        </p:nvPicPr>
        <p:blipFill>
          <a:blip r:embed="rId3"/>
          <a:srcRect/>
          <a:stretch/>
        </p:blipFill>
        <p:spPr>
          <a:xfrm>
            <a:off x="7762577" y="2083114"/>
            <a:ext cx="3947765" cy="2976705"/>
          </a:xfrm>
          <a:prstGeom prst="rect">
            <a:avLst/>
          </a:prstGeom>
        </p:spPr>
      </p:pic>
      <p:sp>
        <p:nvSpPr>
          <p:cNvPr id="2" name="TextBox 1">
            <a:extLst>
              <a:ext uri="{FF2B5EF4-FFF2-40B4-BE49-F238E27FC236}">
                <a16:creationId xmlns:a16="http://schemas.microsoft.com/office/drawing/2014/main" id="{7E8B25BF-94D9-ED1D-2F34-0EF2FD3C118F}"/>
              </a:ext>
            </a:extLst>
          </p:cNvPr>
          <p:cNvSpPr txBox="1"/>
          <p:nvPr/>
        </p:nvSpPr>
        <p:spPr>
          <a:xfrm>
            <a:off x="8441473" y="5553307"/>
            <a:ext cx="1895707" cy="369332"/>
          </a:xfrm>
          <a:prstGeom prst="rect">
            <a:avLst/>
          </a:prstGeom>
          <a:noFill/>
        </p:spPr>
        <p:txBody>
          <a:bodyPr wrap="square" rtlCol="0">
            <a:spAutoFit/>
          </a:bodyPr>
          <a:lstStyle/>
          <a:p>
            <a:r>
              <a:rPr lang="en-AT" dirty="0"/>
              <a:t>Fig 2.6</a:t>
            </a:r>
          </a:p>
        </p:txBody>
      </p:sp>
    </p:spTree>
    <p:extLst>
      <p:ext uri="{BB962C8B-B14F-4D97-AF65-F5344CB8AC3E}">
        <p14:creationId xmlns:p14="http://schemas.microsoft.com/office/powerpoint/2010/main" val="78981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23"/>
          <p:cNvSpPr txBox="1">
            <a:spLocks noGrp="1"/>
          </p:cNvSpPr>
          <p:nvPr>
            <p:ph type="title"/>
          </p:nvPr>
        </p:nvSpPr>
        <p:spPr>
          <a:xfrm>
            <a:off x="838200" y="365125"/>
            <a:ext cx="11262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a:t>A Potential Problem</a:t>
            </a:r>
            <a:endParaRPr/>
          </a:p>
        </p:txBody>
      </p:sp>
      <p:sp>
        <p:nvSpPr>
          <p:cNvPr id="155" name="Google Shape;155;p23"/>
          <p:cNvSpPr txBox="1">
            <a:spLocks noGrp="1"/>
          </p:cNvSpPr>
          <p:nvPr>
            <p:ph idx="1"/>
          </p:nvPr>
        </p:nvSpPr>
        <p:spPr>
          <a:xfrm>
            <a:off x="462175" y="1774125"/>
            <a:ext cx="9404100" cy="4815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en-GB" sz="2300" dirty="0"/>
              <a:t>The problem with the scenario is that for demonstration purposes the points I originally chose </a:t>
            </a:r>
            <a:r>
              <a:rPr lang="en-GB" sz="2300" b="1" dirty="0"/>
              <a:t>were not random</a:t>
            </a:r>
            <a:r>
              <a:rPr lang="en-GB" sz="2300" dirty="0"/>
              <a:t>.  </a:t>
            </a:r>
          </a:p>
          <a:p>
            <a:pPr marL="0" lvl="0" indent="0" algn="l" rtl="0">
              <a:lnSpc>
                <a:spcPct val="115000"/>
              </a:lnSpc>
              <a:spcBef>
                <a:spcPts val="0"/>
              </a:spcBef>
              <a:spcAft>
                <a:spcPts val="0"/>
              </a:spcAft>
              <a:buClr>
                <a:schemeClr val="dk1"/>
              </a:buClr>
              <a:buSzPts val="1100"/>
              <a:buNone/>
            </a:pPr>
            <a:endParaRPr lang="en-GB" sz="2300" dirty="0"/>
          </a:p>
          <a:p>
            <a:pPr marL="0" lvl="0" indent="0" algn="l" rtl="0">
              <a:lnSpc>
                <a:spcPct val="115000"/>
              </a:lnSpc>
              <a:spcBef>
                <a:spcPts val="0"/>
              </a:spcBef>
              <a:spcAft>
                <a:spcPts val="0"/>
              </a:spcAft>
              <a:buClr>
                <a:schemeClr val="dk1"/>
              </a:buClr>
              <a:buSzPts val="1100"/>
              <a:buNone/>
            </a:pPr>
            <a:endParaRPr lang="en-GB" sz="2300" dirty="0"/>
          </a:p>
          <a:p>
            <a:pPr marL="0" lvl="0" indent="0" algn="l" rtl="0">
              <a:lnSpc>
                <a:spcPct val="115000"/>
              </a:lnSpc>
              <a:spcBef>
                <a:spcPts val="0"/>
              </a:spcBef>
              <a:spcAft>
                <a:spcPts val="0"/>
              </a:spcAft>
              <a:buClr>
                <a:schemeClr val="dk1"/>
              </a:buClr>
              <a:buSzPts val="1100"/>
              <a:buNone/>
            </a:pPr>
            <a:r>
              <a:rPr lang="en-GB" sz="2300" dirty="0"/>
              <a:t>As a reminder though, a key element is that </a:t>
            </a:r>
            <a:r>
              <a:rPr lang="en-GB" sz="2300" b="1" dirty="0"/>
              <a:t>the points are chosen randomly</a:t>
            </a:r>
            <a:r>
              <a:rPr lang="en-GB" sz="2300" dirty="0"/>
              <a:t>.  </a:t>
            </a:r>
          </a:p>
          <a:p>
            <a:pPr marL="0" lvl="0" indent="0" algn="l" rtl="0">
              <a:lnSpc>
                <a:spcPct val="115000"/>
              </a:lnSpc>
              <a:spcBef>
                <a:spcPts val="0"/>
              </a:spcBef>
              <a:spcAft>
                <a:spcPts val="0"/>
              </a:spcAft>
              <a:buClr>
                <a:schemeClr val="dk1"/>
              </a:buClr>
              <a:buSzPts val="1100"/>
              <a:buNone/>
            </a:pPr>
            <a:endParaRPr lang="en-AT" sz="2300" b="1" dirty="0"/>
          </a:p>
          <a:p>
            <a:pPr marL="0" lvl="0" indent="0" algn="l" rtl="0">
              <a:lnSpc>
                <a:spcPct val="115000"/>
              </a:lnSpc>
              <a:spcBef>
                <a:spcPts val="0"/>
              </a:spcBef>
              <a:spcAft>
                <a:spcPts val="0"/>
              </a:spcAft>
              <a:buClr>
                <a:schemeClr val="dk1"/>
              </a:buClr>
              <a:buSzPts val="1100"/>
              <a:buNone/>
            </a:pPr>
            <a:r>
              <a:rPr lang="en-GB" sz="2300" dirty="0"/>
              <a:t>It is quite possible both cluster focal points are actually </a:t>
            </a:r>
            <a:r>
              <a:rPr lang="en-GB" sz="2300" b="1" dirty="0"/>
              <a:t>on the same island</a:t>
            </a:r>
            <a:r>
              <a:rPr lang="en-GB" sz="2300" dirty="0"/>
              <a:t> as shown in </a:t>
            </a:r>
            <a:r>
              <a:rPr lang="en-GB" sz="2300" dirty="0">
                <a:highlight>
                  <a:srgbClr val="FFFF00"/>
                </a:highlight>
              </a:rPr>
              <a:t>Fig. 2.5</a:t>
            </a:r>
            <a:r>
              <a:rPr lang="en-GB" sz="2300"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4"/>
          <p:cNvSpPr txBox="1">
            <a:spLocks noGrp="1"/>
          </p:cNvSpPr>
          <p:nvPr>
            <p:ph type="title"/>
          </p:nvPr>
        </p:nvSpPr>
        <p:spPr>
          <a:xfrm>
            <a:off x="838200" y="365125"/>
            <a:ext cx="11262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a:t>Variance in Result</a:t>
            </a:r>
            <a:endParaRPr/>
          </a:p>
        </p:txBody>
      </p:sp>
      <p:sp>
        <p:nvSpPr>
          <p:cNvPr id="163" name="Google Shape;163;p24"/>
          <p:cNvSpPr txBox="1">
            <a:spLocks noGrp="1"/>
          </p:cNvSpPr>
          <p:nvPr>
            <p:ph idx="1"/>
          </p:nvPr>
        </p:nvSpPr>
        <p:spPr>
          <a:xfrm>
            <a:off x="462175" y="1774125"/>
            <a:ext cx="9493500" cy="4815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en-AT" sz="2400"/>
              <a:t>Following the same process as before, this would result in a very different clustering, as shown in </a:t>
            </a:r>
            <a:r>
              <a:rPr lang="en-AT" sz="2400">
                <a:highlight>
                  <a:srgbClr val="FFFF00"/>
                </a:highlight>
              </a:rPr>
              <a:t>Fig. 2.6</a:t>
            </a:r>
            <a:r>
              <a:rPr lang="en-AT" sz="2400"/>
              <a:t>.</a:t>
            </a:r>
            <a:endParaRPr sz="2400"/>
          </a:p>
          <a:p>
            <a:pPr marL="0" lvl="0" indent="0" algn="l" rtl="0">
              <a:lnSpc>
                <a:spcPct val="115000"/>
              </a:lnSpc>
              <a:spcBef>
                <a:spcPts val="0"/>
              </a:spcBef>
              <a:spcAft>
                <a:spcPts val="0"/>
              </a:spcAft>
              <a:buClr>
                <a:schemeClr val="dk1"/>
              </a:buClr>
              <a:buSzPts val="1100"/>
              <a:buNone/>
            </a:pPr>
            <a:endParaRPr sz="2400"/>
          </a:p>
          <a:p>
            <a:pPr marL="0" lvl="0" indent="0" algn="l" rtl="0">
              <a:lnSpc>
                <a:spcPct val="115000"/>
              </a:lnSpc>
              <a:spcBef>
                <a:spcPts val="0"/>
              </a:spcBef>
              <a:spcAft>
                <a:spcPts val="0"/>
              </a:spcAft>
              <a:buClr>
                <a:schemeClr val="dk1"/>
              </a:buClr>
              <a:buSzPts val="1100"/>
              <a:buNone/>
            </a:pPr>
            <a:r>
              <a:rPr lang="en-AT" sz="2400"/>
              <a:t>In this result, the clusters aren’t evenly sized or broken down. </a:t>
            </a:r>
            <a:endParaRPr sz="2400"/>
          </a:p>
          <a:p>
            <a:pPr marL="0" lvl="0" indent="0" algn="l" rtl="0">
              <a:lnSpc>
                <a:spcPct val="115000"/>
              </a:lnSpc>
              <a:spcBef>
                <a:spcPts val="0"/>
              </a:spcBef>
              <a:spcAft>
                <a:spcPts val="0"/>
              </a:spcAft>
              <a:buClr>
                <a:schemeClr val="dk1"/>
              </a:buClr>
              <a:buSzPts val="1100"/>
              <a:buNone/>
            </a:pPr>
            <a:endParaRPr sz="2400"/>
          </a:p>
          <a:p>
            <a:pPr marL="0" lvl="0" indent="0" algn="l" rtl="0">
              <a:lnSpc>
                <a:spcPct val="115000"/>
              </a:lnSpc>
              <a:spcBef>
                <a:spcPts val="0"/>
              </a:spcBef>
              <a:spcAft>
                <a:spcPts val="0"/>
              </a:spcAft>
              <a:buClr>
                <a:schemeClr val="dk1"/>
              </a:buClr>
              <a:buSzPts val="1100"/>
              <a:buNone/>
            </a:pPr>
            <a:r>
              <a:rPr lang="en-AT" sz="2400"/>
              <a:t>This result is very different to the previous one.  We don’t know if this is a problem or not, as it is </a:t>
            </a:r>
            <a:r>
              <a:rPr lang="en-AT" sz="2400" b="1"/>
              <a:t>scenario specific</a:t>
            </a:r>
            <a:r>
              <a:rPr lang="en-AT" sz="2400"/>
              <a:t>.  </a:t>
            </a:r>
            <a:endParaRPr sz="2400"/>
          </a:p>
          <a:p>
            <a:pPr marL="0" lvl="0" indent="0" algn="l" rtl="0">
              <a:lnSpc>
                <a:spcPct val="115000"/>
              </a:lnSpc>
              <a:spcBef>
                <a:spcPts val="0"/>
              </a:spcBef>
              <a:spcAft>
                <a:spcPts val="0"/>
              </a:spcAft>
              <a:buClr>
                <a:schemeClr val="dk1"/>
              </a:buClr>
              <a:buSzPts val="1100"/>
              <a:buNone/>
            </a:pPr>
            <a:endParaRPr sz="2400"/>
          </a:p>
          <a:p>
            <a:pPr marL="0" lvl="0" indent="0" algn="l" rtl="0">
              <a:lnSpc>
                <a:spcPct val="115000"/>
              </a:lnSpc>
              <a:spcBef>
                <a:spcPts val="0"/>
              </a:spcBef>
              <a:spcAft>
                <a:spcPts val="0"/>
              </a:spcAft>
              <a:buClr>
                <a:schemeClr val="dk1"/>
              </a:buClr>
              <a:buSzPts val="1100"/>
              <a:buNone/>
            </a:pPr>
            <a:r>
              <a:rPr lang="en-AT" sz="2400"/>
              <a:t>This is somewhat exacerbated in multidimensional data sets.</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838200" y="365125"/>
            <a:ext cx="11262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a:t>A Potential Problem - Variance in Result</a:t>
            </a:r>
            <a:endParaRPr/>
          </a:p>
        </p:txBody>
      </p:sp>
      <p:sp>
        <p:nvSpPr>
          <p:cNvPr id="170" name="Google Shape;170;p25"/>
          <p:cNvSpPr txBox="1">
            <a:spLocks noGrp="1"/>
          </p:cNvSpPr>
          <p:nvPr>
            <p:ph idx="1"/>
          </p:nvPr>
        </p:nvSpPr>
        <p:spPr>
          <a:xfrm>
            <a:off x="462175" y="1774125"/>
            <a:ext cx="6951000" cy="4815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en-AT" sz="2400"/>
              <a:t>In </a:t>
            </a:r>
            <a:r>
              <a:rPr lang="en-AT" sz="2400">
                <a:highlight>
                  <a:srgbClr val="FFFF00"/>
                </a:highlight>
              </a:rPr>
              <a:t>Fig. 2.7</a:t>
            </a:r>
            <a:r>
              <a:rPr lang="en-AT" sz="2400"/>
              <a:t> we can see is that our result is entirely dependent on “whether we got lucky” with the starting points chosen.</a:t>
            </a:r>
            <a:endParaRPr sz="2400"/>
          </a:p>
          <a:p>
            <a:pPr marL="0" lvl="0" indent="0" algn="l" rtl="0">
              <a:lnSpc>
                <a:spcPct val="115000"/>
              </a:lnSpc>
              <a:spcBef>
                <a:spcPts val="0"/>
              </a:spcBef>
              <a:spcAft>
                <a:spcPts val="0"/>
              </a:spcAft>
              <a:buClr>
                <a:schemeClr val="dk1"/>
              </a:buClr>
              <a:buSzPts val="1100"/>
              <a:buNone/>
            </a:pPr>
            <a:endParaRPr sz="2400"/>
          </a:p>
          <a:p>
            <a:pPr marL="0" lvl="0" indent="0" algn="l" rtl="0">
              <a:lnSpc>
                <a:spcPct val="115000"/>
              </a:lnSpc>
              <a:spcBef>
                <a:spcPts val="0"/>
              </a:spcBef>
              <a:spcAft>
                <a:spcPts val="0"/>
              </a:spcAft>
              <a:buClr>
                <a:schemeClr val="dk1"/>
              </a:buClr>
              <a:buSzPts val="1100"/>
              <a:buNone/>
            </a:pPr>
            <a:r>
              <a:rPr lang="en-AT" sz="2400"/>
              <a:t>Ultimately though, both results return two clusters.  </a:t>
            </a:r>
            <a:endParaRPr sz="2400"/>
          </a:p>
          <a:p>
            <a:pPr marL="0" lvl="0" indent="0" algn="l" rtl="0">
              <a:lnSpc>
                <a:spcPct val="115000"/>
              </a:lnSpc>
              <a:spcBef>
                <a:spcPts val="0"/>
              </a:spcBef>
              <a:spcAft>
                <a:spcPts val="0"/>
              </a:spcAft>
              <a:buClr>
                <a:schemeClr val="dk1"/>
              </a:buClr>
              <a:buSzPts val="1100"/>
              <a:buNone/>
            </a:pPr>
            <a:endParaRPr sz="2400"/>
          </a:p>
          <a:p>
            <a:pPr marL="0" lvl="0" indent="0" algn="l" rtl="0">
              <a:lnSpc>
                <a:spcPct val="115000"/>
              </a:lnSpc>
              <a:spcBef>
                <a:spcPts val="0"/>
              </a:spcBef>
              <a:spcAft>
                <a:spcPts val="0"/>
              </a:spcAft>
              <a:buClr>
                <a:schemeClr val="dk1"/>
              </a:buClr>
              <a:buSzPts val="1100"/>
              <a:buNone/>
            </a:pPr>
            <a:r>
              <a:rPr lang="en-AT" sz="2400"/>
              <a:t>The interpretation of the result relevant to the scenario would then be vitally important.</a:t>
            </a:r>
            <a:endParaRPr sz="2400"/>
          </a:p>
          <a:p>
            <a:pPr marL="0" lvl="0" indent="0" algn="l" rtl="0">
              <a:lnSpc>
                <a:spcPct val="115000"/>
              </a:lnSpc>
              <a:spcBef>
                <a:spcPts val="0"/>
              </a:spcBef>
              <a:spcAft>
                <a:spcPts val="0"/>
              </a:spcAft>
              <a:buClr>
                <a:schemeClr val="dk1"/>
              </a:buClr>
              <a:buSzPts val="1100"/>
              <a:buNone/>
            </a:pPr>
            <a:endParaRPr sz="2400"/>
          </a:p>
          <a:p>
            <a:pPr marL="0" lvl="0" indent="0" algn="l" rtl="0">
              <a:lnSpc>
                <a:spcPct val="115000"/>
              </a:lnSpc>
              <a:spcBef>
                <a:spcPts val="0"/>
              </a:spcBef>
              <a:spcAft>
                <a:spcPts val="0"/>
              </a:spcAft>
              <a:buClr>
                <a:schemeClr val="dk1"/>
              </a:buClr>
              <a:buSzPts val="1100"/>
              <a:buNone/>
            </a:pPr>
            <a:r>
              <a:rPr lang="en-AT" sz="2400"/>
              <a:t>Some results are more “appropriate” than others in certain scenarios.</a:t>
            </a:r>
            <a:endParaRPr sz="2400"/>
          </a:p>
        </p:txBody>
      </p:sp>
      <p:pic>
        <p:nvPicPr>
          <p:cNvPr id="171" name="Google Shape;171;p25"/>
          <p:cNvPicPr preferRelativeResize="0"/>
          <p:nvPr/>
        </p:nvPicPr>
        <p:blipFill rotWithShape="1">
          <a:blip r:embed="rId3">
            <a:alphaModFix/>
          </a:blip>
          <a:srcRect r="76420"/>
          <a:stretch/>
        </p:blipFill>
        <p:spPr>
          <a:xfrm>
            <a:off x="7506049" y="1690825"/>
            <a:ext cx="1508039" cy="5018600"/>
          </a:xfrm>
          <a:prstGeom prst="rect">
            <a:avLst/>
          </a:prstGeom>
          <a:noFill/>
          <a:ln>
            <a:noFill/>
          </a:ln>
        </p:spPr>
      </p:pic>
      <p:pic>
        <p:nvPicPr>
          <p:cNvPr id="172" name="Google Shape;172;p25"/>
          <p:cNvPicPr preferRelativeResize="0"/>
          <p:nvPr/>
        </p:nvPicPr>
        <p:blipFill rotWithShape="1">
          <a:blip r:embed="rId4">
            <a:alphaModFix/>
          </a:blip>
          <a:srcRect r="77453"/>
          <a:stretch/>
        </p:blipFill>
        <p:spPr>
          <a:xfrm>
            <a:off x="10206425" y="1672475"/>
            <a:ext cx="1446950" cy="5018601"/>
          </a:xfrm>
          <a:prstGeom prst="rect">
            <a:avLst/>
          </a:prstGeom>
          <a:noFill/>
          <a:ln>
            <a:noFill/>
          </a:ln>
        </p:spPr>
      </p:pic>
      <p:sp>
        <p:nvSpPr>
          <p:cNvPr id="173" name="Google Shape;173;p25"/>
          <p:cNvSpPr txBox="1"/>
          <p:nvPr/>
        </p:nvSpPr>
        <p:spPr>
          <a:xfrm>
            <a:off x="9171500" y="3706500"/>
            <a:ext cx="877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AT" sz="2800">
                <a:latin typeface="Calibri"/>
                <a:ea typeface="Calibri"/>
                <a:cs typeface="Calibri"/>
                <a:sym typeface="Calibri"/>
              </a:rPr>
              <a:t>VS</a:t>
            </a:r>
            <a:endParaRPr sz="28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a:spLocks noGrp="1"/>
          </p:cNvSpPr>
          <p:nvPr>
            <p:ph type="title"/>
          </p:nvPr>
        </p:nvSpPr>
        <p:spPr>
          <a:xfrm>
            <a:off x="838200" y="365125"/>
            <a:ext cx="11262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dirty="0"/>
              <a:t>A Potential Problem - Variance in Result</a:t>
            </a:r>
            <a:endParaRPr dirty="0"/>
          </a:p>
        </p:txBody>
      </p:sp>
      <p:sp>
        <p:nvSpPr>
          <p:cNvPr id="170" name="Google Shape;170;p25"/>
          <p:cNvSpPr txBox="1">
            <a:spLocks noGrp="1"/>
          </p:cNvSpPr>
          <p:nvPr>
            <p:ph idx="1"/>
          </p:nvPr>
        </p:nvSpPr>
        <p:spPr>
          <a:xfrm>
            <a:off x="462175" y="1774125"/>
            <a:ext cx="6951000" cy="4815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en-AT" sz="2400" dirty="0"/>
              <a:t>In </a:t>
            </a:r>
            <a:r>
              <a:rPr lang="en-AT" sz="2400" dirty="0">
                <a:highlight>
                  <a:srgbClr val="FFFF00"/>
                </a:highlight>
              </a:rPr>
              <a:t>Fig. 2.7</a:t>
            </a:r>
            <a:r>
              <a:rPr lang="en-AT" sz="2400" dirty="0"/>
              <a:t> we can see is that our result is entirely dependent on “whether we got lucky” with the starting points chosen.</a:t>
            </a:r>
            <a:endParaRPr sz="2400"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r>
              <a:rPr lang="de-DE" sz="2400" dirty="0"/>
              <a:t>The </a:t>
            </a:r>
            <a:r>
              <a:rPr lang="de-DE" sz="2400" dirty="0" err="1"/>
              <a:t>algorithm</a:t>
            </a:r>
            <a:r>
              <a:rPr lang="de-DE" sz="2400" dirty="0"/>
              <a:t> </a:t>
            </a:r>
            <a:r>
              <a:rPr lang="de-DE" sz="2400" dirty="0" err="1"/>
              <a:t>does</a:t>
            </a:r>
            <a:r>
              <a:rPr lang="de-DE" sz="2400" dirty="0"/>
              <a:t> not </a:t>
            </a:r>
            <a:r>
              <a:rPr lang="de-DE" sz="2400" dirty="0" err="1"/>
              <a:t>behave</a:t>
            </a:r>
            <a:r>
              <a:rPr lang="de-DE" sz="2400" dirty="0"/>
              <a:t> </a:t>
            </a:r>
            <a:r>
              <a:rPr lang="de-DE" sz="2400" dirty="0" err="1"/>
              <a:t>very</a:t>
            </a:r>
            <a:r>
              <a:rPr lang="de-DE" sz="2400" dirty="0"/>
              <a:t> </a:t>
            </a:r>
            <a:r>
              <a:rPr lang="de-DE" sz="2400" dirty="0" err="1"/>
              <a:t>well</a:t>
            </a:r>
            <a:r>
              <a:rPr lang="de-DE" sz="2400" dirty="0"/>
              <a:t> </a:t>
            </a:r>
            <a:r>
              <a:rPr lang="de-DE" sz="2400" dirty="0" err="1"/>
              <a:t>when</a:t>
            </a:r>
            <a:r>
              <a:rPr lang="de-DE" sz="2400" dirty="0"/>
              <a:t> </a:t>
            </a:r>
            <a:r>
              <a:rPr lang="de-DE" sz="2400" dirty="0" err="1"/>
              <a:t>clusters</a:t>
            </a:r>
            <a:r>
              <a:rPr lang="de-DE" sz="2400" dirty="0"/>
              <a:t> </a:t>
            </a:r>
            <a:r>
              <a:rPr lang="de-DE" sz="2400" dirty="0" err="1"/>
              <a:t>have</a:t>
            </a:r>
            <a:r>
              <a:rPr lang="de-DE" sz="2400" dirty="0"/>
              <a:t> </a:t>
            </a:r>
            <a:r>
              <a:rPr lang="de-DE" sz="2400" b="1" dirty="0" err="1"/>
              <a:t>varying</a:t>
            </a:r>
            <a:r>
              <a:rPr lang="de-DE" sz="2400" b="1" dirty="0"/>
              <a:t> </a:t>
            </a:r>
            <a:r>
              <a:rPr lang="de-DE" sz="2400" b="1" dirty="0" err="1"/>
              <a:t>sizes</a:t>
            </a:r>
            <a:r>
              <a:rPr lang="de-DE" sz="2400" dirty="0"/>
              <a:t>, </a:t>
            </a:r>
            <a:r>
              <a:rPr lang="de-DE" sz="2400" b="1" dirty="0"/>
              <a:t>different </a:t>
            </a:r>
            <a:r>
              <a:rPr lang="de-DE" sz="2400" b="1" dirty="0" err="1"/>
              <a:t>densities</a:t>
            </a:r>
            <a:r>
              <a:rPr lang="de-DE" sz="2400" b="1" dirty="0"/>
              <a:t>, </a:t>
            </a:r>
            <a:r>
              <a:rPr lang="de-DE" sz="2400" b="1" dirty="0" err="1"/>
              <a:t>or</a:t>
            </a:r>
            <a:r>
              <a:rPr lang="de-DE" sz="2400" b="1" dirty="0"/>
              <a:t> </a:t>
            </a:r>
            <a:r>
              <a:rPr lang="de-DE" sz="2400" b="1" dirty="0" err="1"/>
              <a:t>nonshperical</a:t>
            </a:r>
            <a:r>
              <a:rPr lang="de-DE" sz="2400" b="1" dirty="0"/>
              <a:t> </a:t>
            </a:r>
            <a:r>
              <a:rPr lang="de-DE" sz="2400" b="1" dirty="0" err="1"/>
              <a:t>shapes</a:t>
            </a:r>
            <a:endParaRPr sz="2400" b="1" dirty="0"/>
          </a:p>
          <a:p>
            <a:pPr marL="0" lvl="0" indent="0" algn="l" rtl="0">
              <a:lnSpc>
                <a:spcPct val="115000"/>
              </a:lnSpc>
              <a:spcBef>
                <a:spcPts val="0"/>
              </a:spcBef>
              <a:spcAft>
                <a:spcPts val="0"/>
              </a:spcAft>
              <a:buClr>
                <a:schemeClr val="dk1"/>
              </a:buClr>
              <a:buSzPts val="1100"/>
              <a:buNone/>
            </a:pPr>
            <a:endParaRPr sz="2400" dirty="0"/>
          </a:p>
          <a:p>
            <a:pPr marL="0" lvl="0" indent="0" algn="l" rtl="0">
              <a:lnSpc>
                <a:spcPct val="115000"/>
              </a:lnSpc>
              <a:spcBef>
                <a:spcPts val="0"/>
              </a:spcBef>
              <a:spcAft>
                <a:spcPts val="0"/>
              </a:spcAft>
              <a:buClr>
                <a:schemeClr val="dk1"/>
              </a:buClr>
              <a:buSzPts val="1100"/>
              <a:buNone/>
            </a:pPr>
            <a:endParaRPr sz="2400" dirty="0"/>
          </a:p>
        </p:txBody>
      </p:sp>
      <p:pic>
        <p:nvPicPr>
          <p:cNvPr id="171" name="Google Shape;171;p25"/>
          <p:cNvPicPr preferRelativeResize="0"/>
          <p:nvPr/>
        </p:nvPicPr>
        <p:blipFill rotWithShape="1">
          <a:blip r:embed="rId3">
            <a:alphaModFix/>
          </a:blip>
          <a:srcRect r="76420"/>
          <a:stretch/>
        </p:blipFill>
        <p:spPr>
          <a:xfrm>
            <a:off x="7506049" y="1690825"/>
            <a:ext cx="1508039" cy="5018600"/>
          </a:xfrm>
          <a:prstGeom prst="rect">
            <a:avLst/>
          </a:prstGeom>
          <a:noFill/>
          <a:ln>
            <a:noFill/>
          </a:ln>
        </p:spPr>
      </p:pic>
      <p:pic>
        <p:nvPicPr>
          <p:cNvPr id="172" name="Google Shape;172;p25"/>
          <p:cNvPicPr preferRelativeResize="0"/>
          <p:nvPr/>
        </p:nvPicPr>
        <p:blipFill rotWithShape="1">
          <a:blip r:embed="rId4">
            <a:alphaModFix/>
          </a:blip>
          <a:srcRect r="77453"/>
          <a:stretch/>
        </p:blipFill>
        <p:spPr>
          <a:xfrm>
            <a:off x="10206425" y="1672475"/>
            <a:ext cx="1446950" cy="5018601"/>
          </a:xfrm>
          <a:prstGeom prst="rect">
            <a:avLst/>
          </a:prstGeom>
          <a:noFill/>
          <a:ln>
            <a:noFill/>
          </a:ln>
        </p:spPr>
      </p:pic>
      <p:sp>
        <p:nvSpPr>
          <p:cNvPr id="173" name="Google Shape;173;p25"/>
          <p:cNvSpPr txBox="1"/>
          <p:nvPr/>
        </p:nvSpPr>
        <p:spPr>
          <a:xfrm>
            <a:off x="9171500" y="3706500"/>
            <a:ext cx="877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AT" sz="2800">
                <a:latin typeface="Calibri"/>
                <a:ea typeface="Calibri"/>
                <a:cs typeface="Calibri"/>
                <a:sym typeface="Calibri"/>
              </a:rPr>
              <a:t>VS</a:t>
            </a:r>
            <a:endParaRPr sz="2800">
              <a:latin typeface="Calibri"/>
              <a:ea typeface="Calibri"/>
              <a:cs typeface="Calibri"/>
              <a:sym typeface="Calibri"/>
            </a:endParaRPr>
          </a:p>
        </p:txBody>
      </p:sp>
    </p:spTree>
    <p:extLst>
      <p:ext uri="{BB962C8B-B14F-4D97-AF65-F5344CB8AC3E}">
        <p14:creationId xmlns:p14="http://schemas.microsoft.com/office/powerpoint/2010/main" val="1802890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a:spLocks noGrp="1"/>
          </p:cNvSpPr>
          <p:nvPr>
            <p:ph type="title"/>
          </p:nvPr>
        </p:nvSpPr>
        <p:spPr>
          <a:xfrm>
            <a:off x="838200" y="365125"/>
            <a:ext cx="11262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a:t>K-Means - Supervised or Unsupervised?</a:t>
            </a:r>
            <a:endParaRPr/>
          </a:p>
        </p:txBody>
      </p:sp>
      <p:sp>
        <p:nvSpPr>
          <p:cNvPr id="179" name="Google Shape;179;p26"/>
          <p:cNvSpPr txBox="1">
            <a:spLocks noGrp="1"/>
          </p:cNvSpPr>
          <p:nvPr>
            <p:ph idx="1"/>
          </p:nvPr>
        </p:nvSpPr>
        <p:spPr>
          <a:xfrm>
            <a:off x="462175" y="1774125"/>
            <a:ext cx="11355900" cy="48153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None/>
            </a:pPr>
            <a:r>
              <a:rPr lang="en-AT" sz="1800" dirty="0"/>
              <a:t>The </a:t>
            </a:r>
            <a:r>
              <a:rPr lang="en-AT" sz="1800" b="1" dirty="0"/>
              <a:t>variance in result</a:t>
            </a:r>
            <a:r>
              <a:rPr lang="en-AT" sz="1800" dirty="0"/>
              <a:t> would be much reduced if we could add a “blue” and a “green” </a:t>
            </a:r>
            <a:r>
              <a:rPr lang="en-AT" sz="1800" b="1" dirty="0"/>
              <a:t>label </a:t>
            </a:r>
            <a:r>
              <a:rPr lang="en-AT" sz="1800" dirty="0"/>
              <a:t>and </a:t>
            </a:r>
            <a:r>
              <a:rPr lang="en-AT" sz="1800" b="1" dirty="0"/>
              <a:t>force </a:t>
            </a:r>
            <a:r>
              <a:rPr lang="en-AT" sz="1800" dirty="0"/>
              <a:t>one cluster focal point to be blue and one green at the start.  This would be an example of </a:t>
            </a:r>
            <a:r>
              <a:rPr lang="en-AT" sz="1800" b="1" dirty="0"/>
              <a:t>supervised (guided) </a:t>
            </a:r>
            <a:r>
              <a:rPr lang="en-AT" sz="1800" dirty="0"/>
              <a:t>learning / clustering as discussed earlier.  </a:t>
            </a:r>
            <a:endParaRPr sz="1800" dirty="0"/>
          </a:p>
          <a:p>
            <a:pPr marL="0" lvl="0" indent="0" algn="l" rtl="0">
              <a:lnSpc>
                <a:spcPct val="115000"/>
              </a:lnSpc>
              <a:spcBef>
                <a:spcPts val="0"/>
              </a:spcBef>
              <a:spcAft>
                <a:spcPts val="0"/>
              </a:spcAft>
              <a:buClr>
                <a:schemeClr val="dk1"/>
              </a:buClr>
              <a:buSzPts val="1100"/>
              <a:buNone/>
            </a:pPr>
            <a:endParaRPr sz="1800" dirty="0"/>
          </a:p>
          <a:p>
            <a:pPr marL="0" lvl="0" indent="0" algn="l" rtl="0">
              <a:lnSpc>
                <a:spcPct val="115000"/>
              </a:lnSpc>
              <a:spcBef>
                <a:spcPts val="0"/>
              </a:spcBef>
              <a:spcAft>
                <a:spcPts val="0"/>
              </a:spcAft>
              <a:buClr>
                <a:schemeClr val="dk1"/>
              </a:buClr>
              <a:buSzPts val="1100"/>
              <a:buNone/>
            </a:pPr>
            <a:r>
              <a:rPr lang="en-AT" sz="1800" dirty="0"/>
              <a:t>Unfortunately we can’t in the K-Means described in the recommended text. We are completely at the whim of datapoints chosen at random at the start, whether they are “good” or “bad” with no guidance / support or rules whatsoever on the choice.  </a:t>
            </a:r>
            <a:endParaRPr sz="1800" dirty="0"/>
          </a:p>
          <a:p>
            <a:pPr marL="0" lvl="0" indent="0" algn="l" rtl="0">
              <a:lnSpc>
                <a:spcPct val="115000"/>
              </a:lnSpc>
              <a:spcBef>
                <a:spcPts val="0"/>
              </a:spcBef>
              <a:spcAft>
                <a:spcPts val="0"/>
              </a:spcAft>
              <a:buClr>
                <a:schemeClr val="dk1"/>
              </a:buClr>
              <a:buSzPts val="1100"/>
              <a:buNone/>
            </a:pPr>
            <a:endParaRPr sz="1800" dirty="0"/>
          </a:p>
          <a:p>
            <a:pPr marL="0" lvl="0" indent="0" algn="l" rtl="0">
              <a:lnSpc>
                <a:spcPct val="115000"/>
              </a:lnSpc>
              <a:spcBef>
                <a:spcPts val="0"/>
              </a:spcBef>
              <a:spcAft>
                <a:spcPts val="0"/>
              </a:spcAft>
              <a:buClr>
                <a:schemeClr val="dk1"/>
              </a:buClr>
              <a:buSzPts val="1100"/>
              <a:buNone/>
            </a:pPr>
            <a:r>
              <a:rPr lang="en-AT" sz="1800" dirty="0"/>
              <a:t>Therefore, in this form, K-Means is completely </a:t>
            </a:r>
            <a:r>
              <a:rPr lang="en-AT" sz="1800" b="1" dirty="0"/>
              <a:t>unsupervised</a:t>
            </a:r>
            <a:r>
              <a:rPr lang="en-AT" sz="1800" dirty="0"/>
              <a:t>. </a:t>
            </a:r>
            <a:endParaRPr sz="1800" dirty="0"/>
          </a:p>
          <a:p>
            <a:pPr marL="0" lvl="0" indent="0" algn="l" rtl="0">
              <a:lnSpc>
                <a:spcPct val="115000"/>
              </a:lnSpc>
              <a:spcBef>
                <a:spcPts val="0"/>
              </a:spcBef>
              <a:spcAft>
                <a:spcPts val="0"/>
              </a:spcAft>
              <a:buClr>
                <a:schemeClr val="dk1"/>
              </a:buClr>
              <a:buSzPts val="1100"/>
              <a:buNone/>
            </a:pPr>
            <a:endParaRPr sz="1800" dirty="0"/>
          </a:p>
          <a:p>
            <a:pPr marL="0" lvl="0" indent="0" algn="l" rtl="0">
              <a:lnSpc>
                <a:spcPct val="115000"/>
              </a:lnSpc>
              <a:spcBef>
                <a:spcPts val="0"/>
              </a:spcBef>
              <a:spcAft>
                <a:spcPts val="0"/>
              </a:spcAft>
              <a:buClr>
                <a:schemeClr val="dk1"/>
              </a:buClr>
              <a:buSzPts val="1100"/>
              <a:buNone/>
            </a:pPr>
            <a:r>
              <a:rPr lang="en-AT" sz="1800" dirty="0"/>
              <a:t>There may be other forms of K-Means or methods of application which move it towards being supervised, however they are not in the recommended text.  They are a potential “open question” though.</a:t>
            </a:r>
            <a:endParaRPr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90" name="Rounded Rectangle 14">
            <a:extLst>
              <a:ext uri="{FF2B5EF4-FFF2-40B4-BE49-F238E27FC236}">
                <a16:creationId xmlns:a16="http://schemas.microsoft.com/office/drawing/2014/main" id="{637BD688-14A6-4B96-B8A2-3CD81C054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useBgFill="1">
        <p:nvSpPr>
          <p:cNvPr id="192" name="Rectangle 191">
            <a:extLst>
              <a:ext uri="{FF2B5EF4-FFF2-40B4-BE49-F238E27FC236}">
                <a16:creationId xmlns:a16="http://schemas.microsoft.com/office/drawing/2014/main" id="{B7B2544F-CA5E-40F6-9525-716A90C83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194" name="Picture 193">
            <a:extLst>
              <a:ext uri="{FF2B5EF4-FFF2-40B4-BE49-F238E27FC236}">
                <a16:creationId xmlns:a16="http://schemas.microsoft.com/office/drawing/2014/main" id="{D2B93162-635C-46F5-97EC-E98C1659F1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184" name="Google Shape;184;p27"/>
          <p:cNvSpPr txBox="1">
            <a:spLocks noGrp="1"/>
          </p:cNvSpPr>
          <p:nvPr>
            <p:ph type="title"/>
          </p:nvPr>
        </p:nvSpPr>
        <p:spPr>
          <a:xfrm>
            <a:off x="665922" y="987287"/>
            <a:ext cx="3548269" cy="469789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3600"/>
              <a:t>Identifying real world problems</a:t>
            </a:r>
          </a:p>
        </p:txBody>
      </p:sp>
      <p:sp>
        <p:nvSpPr>
          <p:cNvPr id="195" name="Google Shape;185;p27"/>
          <p:cNvSpPr txBox="1">
            <a:spLocks noGrp="1"/>
          </p:cNvSpPr>
          <p:nvPr>
            <p:ph idx="1"/>
          </p:nvPr>
        </p:nvSpPr>
        <p:spPr>
          <a:xfrm>
            <a:off x="4759569" y="987287"/>
            <a:ext cx="7326923" cy="4697895"/>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2800"/>
              <a:buNone/>
            </a:pPr>
            <a:r>
              <a:rPr lang="en-AT" sz="1800" dirty="0"/>
              <a:t>There are a number of academic journals identifying real world usage of K-Means in analytical scenarios, some of them are listed below:</a:t>
            </a:r>
            <a:endParaRPr sz="1800" dirty="0"/>
          </a:p>
          <a:p>
            <a:pPr marL="0" lvl="0" indent="0" rtl="0">
              <a:spcBef>
                <a:spcPts val="0"/>
              </a:spcBef>
              <a:spcAft>
                <a:spcPts val="0"/>
              </a:spcAft>
              <a:buClr>
                <a:schemeClr val="dk1"/>
              </a:buClr>
              <a:buSzPts val="2800"/>
              <a:buNone/>
            </a:pPr>
            <a:endParaRPr sz="1800" dirty="0"/>
          </a:p>
          <a:p>
            <a:pPr marL="0" lvl="0" indent="0" rtl="0">
              <a:spcBef>
                <a:spcPts val="0"/>
              </a:spcBef>
              <a:spcAft>
                <a:spcPts val="0"/>
              </a:spcAft>
              <a:buClr>
                <a:schemeClr val="dk1"/>
              </a:buClr>
              <a:buSzPts val="2800"/>
              <a:buNone/>
            </a:pPr>
            <a:r>
              <a:rPr lang="en-AT" sz="1800"/>
              <a:t>1  </a:t>
            </a:r>
            <a:r>
              <a:rPr lang="en-AT" sz="1800" dirty="0"/>
              <a:t>Crime Scene Prediction- Source?</a:t>
            </a:r>
            <a:endParaRPr sz="1800" dirty="0"/>
          </a:p>
          <a:p>
            <a:pPr marL="0" lvl="0" indent="0" rtl="0">
              <a:spcBef>
                <a:spcPts val="1000"/>
              </a:spcBef>
              <a:spcAft>
                <a:spcPts val="0"/>
              </a:spcAft>
              <a:buClr>
                <a:schemeClr val="dk1"/>
              </a:buClr>
              <a:buSzPts val="2800"/>
              <a:buNone/>
            </a:pPr>
            <a:r>
              <a:rPr lang="en-AT" sz="1800" dirty="0"/>
              <a:t>2  Financial Fraud Detection - </a:t>
            </a:r>
            <a:r>
              <a:rPr lang="de-DE" sz="1200" dirty="0"/>
              <a:t>v</a:t>
            </a:r>
            <a:r>
              <a:rPr lang="en-GB" sz="1200" dirty="0"/>
              <a:t> Min, X., &amp; Lin, R. (2018)</a:t>
            </a:r>
            <a:endParaRPr sz="1200" dirty="0"/>
          </a:p>
          <a:p>
            <a:pPr marL="0" lvl="0" indent="0" rtl="0">
              <a:spcBef>
                <a:spcPts val="1000"/>
              </a:spcBef>
              <a:spcAft>
                <a:spcPts val="0"/>
              </a:spcAft>
              <a:buClr>
                <a:schemeClr val="dk1"/>
              </a:buClr>
              <a:buSzPts val="2800"/>
              <a:buNone/>
            </a:pPr>
            <a:r>
              <a:rPr lang="en-AT" sz="1800" dirty="0"/>
              <a:t>3  E-Commerce Churn Prediction </a:t>
            </a:r>
            <a:r>
              <a:rPr lang="en-GB" sz="1200" dirty="0" err="1"/>
              <a:t>Xiahou</a:t>
            </a:r>
            <a:r>
              <a:rPr lang="en-GB" sz="1200" dirty="0"/>
              <a:t>, X., &amp; Harada, Y. (2022) </a:t>
            </a:r>
            <a:endParaRPr sz="1000" dirty="0"/>
          </a:p>
          <a:p>
            <a:pPr marL="0" lvl="0" indent="0" rtl="0">
              <a:spcBef>
                <a:spcPts val="1000"/>
              </a:spcBef>
              <a:spcAft>
                <a:spcPts val="0"/>
              </a:spcAft>
              <a:buClr>
                <a:schemeClr val="dk1"/>
              </a:buClr>
              <a:buSzPts val="2800"/>
              <a:buNone/>
            </a:pPr>
            <a:r>
              <a:rPr lang="en-AT" sz="1800" dirty="0"/>
              <a:t>4  Opera Clustering: K-mean on librettos dataset </a:t>
            </a:r>
            <a:r>
              <a:rPr lang="en-AT" sz="1200" dirty="0"/>
              <a:t>Harim, Joo (2022)</a:t>
            </a:r>
            <a:endParaRPr sz="1800" dirty="0"/>
          </a:p>
          <a:p>
            <a:pPr marL="0" lvl="0" indent="0" rtl="0">
              <a:spcBef>
                <a:spcPts val="1000"/>
              </a:spcBef>
              <a:spcAft>
                <a:spcPts val="0"/>
              </a:spcAft>
              <a:buClr>
                <a:schemeClr val="dk1"/>
              </a:buClr>
              <a:buSzPts val="2800"/>
              <a:buNone/>
            </a:pPr>
            <a:r>
              <a:rPr lang="en-AT" sz="1800" dirty="0"/>
              <a:t>5  Education Management &amp; Student Achievments </a:t>
            </a:r>
            <a:r>
              <a:rPr lang="en-GB" sz="1200" dirty="0"/>
              <a:t>Wang, Z. (2022) </a:t>
            </a:r>
            <a:endParaRPr sz="1200" dirty="0"/>
          </a:p>
          <a:p>
            <a:pPr marL="0" lvl="0" indent="0" rtl="0">
              <a:spcBef>
                <a:spcPts val="1000"/>
              </a:spcBef>
              <a:spcAft>
                <a:spcPts val="0"/>
              </a:spcAft>
              <a:buClr>
                <a:schemeClr val="dk1"/>
              </a:buClr>
              <a:buSzPts val="2800"/>
              <a:buNone/>
            </a:pPr>
            <a:r>
              <a:rPr lang="en-AT" sz="1800" dirty="0"/>
              <a:t>6  Tourist Profile Analysis  </a:t>
            </a:r>
            <a:r>
              <a:rPr lang="en-AT" sz="1200" dirty="0"/>
              <a:t>Yildirim, Kaya, Furkanlnce (2022)</a:t>
            </a:r>
            <a:endParaRPr sz="1800" dirty="0"/>
          </a:p>
          <a:p>
            <a:pPr marL="0" lvl="0" indent="0" rtl="0">
              <a:spcBef>
                <a:spcPts val="1000"/>
              </a:spcBef>
              <a:spcAft>
                <a:spcPts val="0"/>
              </a:spcAft>
              <a:buClr>
                <a:schemeClr val="dk1"/>
              </a:buClr>
              <a:buSzPts val="2800"/>
              <a:buNone/>
            </a:pPr>
            <a:endParaRPr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a:t>The most interesting one</a:t>
            </a:r>
            <a:endParaRPr/>
          </a:p>
        </p:txBody>
      </p:sp>
      <p:sp>
        <p:nvSpPr>
          <p:cNvPr id="191" name="Google Shape;191;p2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useBgFill="1">
        <p:nvSpPr>
          <p:cNvPr id="203" name="Rounded Rectangle 14">
            <a:extLst>
              <a:ext uri="{FF2B5EF4-FFF2-40B4-BE49-F238E27FC236}">
                <a16:creationId xmlns:a16="http://schemas.microsoft.com/office/drawing/2014/main" id="{843DD86A-8FAA-443F-9211-42A2AE8A7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oundRect">
            <a:avLst>
              <a:gd name="adj" fmla="val 0"/>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C2A13AAE-18EB-4BDF-BAF7-F2F97B8D0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solidFill>
            <a:schemeClr val="tx1"/>
          </a:solidFill>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7" name="Picture 206">
            <a:extLst>
              <a:ext uri="{FF2B5EF4-FFF2-40B4-BE49-F238E27FC236}">
                <a16:creationId xmlns:a16="http://schemas.microsoft.com/office/drawing/2014/main" id="{0F5C1B21-B0DB-4206-99EE-C13D67038B9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0"/>
            <a:ext cx="4636008" cy="1441450"/>
          </a:xfrm>
          <a:prstGeom prst="rect">
            <a:avLst/>
          </a:prstGeom>
        </p:spPr>
      </p:pic>
      <p:pic>
        <p:nvPicPr>
          <p:cNvPr id="209" name="Picture 208">
            <a:extLst>
              <a:ext uri="{FF2B5EF4-FFF2-40B4-BE49-F238E27FC236}">
                <a16:creationId xmlns:a16="http://schemas.microsoft.com/office/drawing/2014/main" id="{49261589-06E9-4B7C-A8F1-26648507B77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196" name="Google Shape;196;p29"/>
          <p:cNvSpPr txBox="1">
            <a:spLocks noGrp="1"/>
          </p:cNvSpPr>
          <p:nvPr>
            <p:ph type="title"/>
          </p:nvPr>
        </p:nvSpPr>
        <p:spPr>
          <a:xfrm>
            <a:off x="685800" y="1066163"/>
            <a:ext cx="3306744" cy="5148371"/>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3400">
                <a:solidFill>
                  <a:schemeClr val="bg1"/>
                </a:solidFill>
              </a:rPr>
              <a:t>Conclusion</a:t>
            </a:r>
          </a:p>
        </p:txBody>
      </p:sp>
      <p:graphicFrame>
        <p:nvGraphicFramePr>
          <p:cNvPr id="199" name="Google Shape;197;p29">
            <a:extLst>
              <a:ext uri="{FF2B5EF4-FFF2-40B4-BE49-F238E27FC236}">
                <a16:creationId xmlns:a16="http://schemas.microsoft.com/office/drawing/2014/main" id="{13B64AEC-DC6E-D913-551F-533C9F047633}"/>
              </a:ext>
            </a:extLst>
          </p:cNvPr>
          <p:cNvGraphicFramePr>
            <a:graphicFrameLocks noGrp="1"/>
          </p:cNvGraphicFramePr>
          <p:nvPr>
            <p:ph idx="1"/>
            <p:extLst>
              <p:ext uri="{D42A27DB-BD31-4B8C-83A1-F6EECF244321}">
                <p14:modId xmlns:p14="http://schemas.microsoft.com/office/powerpoint/2010/main" val="2369207996"/>
              </p:ext>
            </p:extLst>
          </p:nvPr>
        </p:nvGraphicFramePr>
        <p:xfrm>
          <a:off x="5279472" y="746125"/>
          <a:ext cx="6290226" cy="544774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AT"/>
              <a:t>“List of Figures”</a:t>
            </a:r>
            <a:endParaRPr/>
          </a:p>
        </p:txBody>
      </p:sp>
      <p:sp>
        <p:nvSpPr>
          <p:cNvPr id="203" name="Google Shape;203;p30"/>
          <p:cNvSpPr txBox="1">
            <a:spLocks noGrp="1"/>
          </p:cNvSpPr>
          <p:nvPr>
            <p:ph idx="1"/>
          </p:nvPr>
        </p:nvSpPr>
        <p:spPr>
          <a:xfrm>
            <a:off x="483450" y="1825625"/>
            <a:ext cx="11388300"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AT"/>
              <a:t>Fig 1.1 - Graphical Representation of Different Learning Paradigms, </a:t>
            </a:r>
            <a:r>
              <a:rPr lang="en-AT">
                <a:highlight>
                  <a:srgbClr val="FFFF00"/>
                </a:highlight>
              </a:rPr>
              <a:t>source</a:t>
            </a:r>
            <a:endParaRPr>
              <a:highlight>
                <a:srgbClr val="FFFF00"/>
              </a:highlight>
            </a:endParaRPr>
          </a:p>
          <a:p>
            <a:pPr marL="228600" lvl="0" indent="-50800" algn="l" rtl="0">
              <a:lnSpc>
                <a:spcPct val="90000"/>
              </a:lnSpc>
              <a:spcBef>
                <a:spcPts val="0"/>
              </a:spcBef>
              <a:spcAft>
                <a:spcPts val="0"/>
              </a:spcAft>
              <a:buClr>
                <a:schemeClr val="dk1"/>
              </a:buClr>
              <a:buSzPts val="2800"/>
              <a:buNone/>
            </a:pPr>
            <a:endParaRPr>
              <a:highlight>
                <a:srgbClr val="FFFF00"/>
              </a:highlight>
            </a:endParaRPr>
          </a:p>
          <a:p>
            <a:pPr marL="228600" lvl="0" indent="-50800" algn="l" rtl="0">
              <a:lnSpc>
                <a:spcPct val="90000"/>
              </a:lnSpc>
              <a:spcBef>
                <a:spcPts val="0"/>
              </a:spcBef>
              <a:spcAft>
                <a:spcPts val="0"/>
              </a:spcAft>
              <a:buClr>
                <a:schemeClr val="dk1"/>
              </a:buClr>
              <a:buSzPts val="2800"/>
              <a:buNone/>
            </a:pPr>
            <a:r>
              <a:rPr lang="en-AT"/>
              <a:t>Figs 2.1 to 2.7 - Graphical Representations of the stages of “How K-Means Works”, self produced, inspired by </a:t>
            </a:r>
            <a:r>
              <a:rPr lang="en-AT">
                <a:highlight>
                  <a:srgbClr val="FFFF00"/>
                </a:highlight>
              </a:rPr>
              <a:t>source</a:t>
            </a:r>
            <a:endParaRPr>
              <a:highlight>
                <a:srgbClr val="FFFF00"/>
              </a:highlight>
            </a:endParaRPr>
          </a:p>
          <a:p>
            <a:pPr marL="228600" lvl="0" indent="-50800" algn="l" rtl="0">
              <a:lnSpc>
                <a:spcPct val="90000"/>
              </a:lnSpc>
              <a:spcBef>
                <a:spcPts val="0"/>
              </a:spcBef>
              <a:spcAft>
                <a:spcPts val="0"/>
              </a:spcAft>
              <a:buClr>
                <a:schemeClr val="dk1"/>
              </a:buClr>
              <a:buSzPts val="2800"/>
              <a:buNone/>
            </a:pPr>
            <a:endParaRPr>
              <a:highlight>
                <a:srgbClr val="FFFF00"/>
              </a:highlight>
            </a:endParaRPr>
          </a:p>
          <a:p>
            <a:pPr marL="228600" lvl="0" indent="-50800" algn="l" rtl="0">
              <a:lnSpc>
                <a:spcPct val="90000"/>
              </a:lnSpc>
              <a:spcBef>
                <a:spcPts val="0"/>
              </a:spcBef>
              <a:spcAft>
                <a:spcPts val="0"/>
              </a:spcAft>
              <a:buClr>
                <a:schemeClr val="dk1"/>
              </a:buClr>
              <a:buSzPts val="2800"/>
              <a:buNone/>
            </a:pPr>
            <a:endParaRPr>
              <a:highlight>
                <a:srgbClr val="FFFF00"/>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14" name="Rounded Rectangle 14">
            <a:extLst>
              <a:ext uri="{FF2B5EF4-FFF2-40B4-BE49-F238E27FC236}">
                <a16:creationId xmlns:a16="http://schemas.microsoft.com/office/drawing/2014/main" id="{637BD688-14A6-4B96-B8A2-3CD81C054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0"/>
            <a:ext cx="7555992"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useBgFill="1">
        <p:nvSpPr>
          <p:cNvPr id="216" name="Rectangle 215">
            <a:extLst>
              <a:ext uri="{FF2B5EF4-FFF2-40B4-BE49-F238E27FC236}">
                <a16:creationId xmlns:a16="http://schemas.microsoft.com/office/drawing/2014/main" id="{B7B2544F-CA5E-40F6-9525-716A90C83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36008" cy="6858000"/>
          </a:xfrm>
          <a:prstGeom prst="rect">
            <a:avLst/>
          </a:prstGeom>
          <a:ln>
            <a:noFill/>
          </a:ln>
          <a:effectLst>
            <a:outerShdw blurRad="635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18" name="Picture 217">
            <a:extLst>
              <a:ext uri="{FF2B5EF4-FFF2-40B4-BE49-F238E27FC236}">
                <a16:creationId xmlns:a16="http://schemas.microsoft.com/office/drawing/2014/main" id="{D2B93162-635C-46F5-97EC-E98C1659F1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975"/>
          <a:stretch/>
        </p:blipFill>
        <p:spPr>
          <a:xfrm>
            <a:off x="0" y="4375150"/>
            <a:ext cx="4636008" cy="2482850"/>
          </a:xfrm>
          <a:prstGeom prst="rect">
            <a:avLst/>
          </a:prstGeom>
        </p:spPr>
      </p:pic>
      <p:sp>
        <p:nvSpPr>
          <p:cNvPr id="208" name="Google Shape;208;p31"/>
          <p:cNvSpPr txBox="1">
            <a:spLocks noGrp="1"/>
          </p:cNvSpPr>
          <p:nvPr>
            <p:ph type="title"/>
          </p:nvPr>
        </p:nvSpPr>
        <p:spPr>
          <a:xfrm>
            <a:off x="665922" y="987287"/>
            <a:ext cx="3548269" cy="469789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3600"/>
              <a:t>Bibliography</a:t>
            </a:r>
          </a:p>
        </p:txBody>
      </p:sp>
      <p:sp>
        <p:nvSpPr>
          <p:cNvPr id="209" name="Google Shape;209;p31"/>
          <p:cNvSpPr txBox="1">
            <a:spLocks noGrp="1"/>
          </p:cNvSpPr>
          <p:nvPr>
            <p:ph idx="1"/>
          </p:nvPr>
        </p:nvSpPr>
        <p:spPr>
          <a:xfrm>
            <a:off x="5057825" y="987287"/>
            <a:ext cx="5755949" cy="4697895"/>
          </a:xfrm>
          <a:prstGeom prst="rect">
            <a:avLst/>
          </a:prstGeom>
        </p:spPr>
        <p:txBody>
          <a:bodyPr spcFirstLastPara="1" lIns="91425" tIns="45700" rIns="91425" bIns="45700" anchor="ctr" anchorCtr="0">
            <a:normAutofit/>
          </a:bodyPr>
          <a:lstStyle/>
          <a:p>
            <a:pPr marL="228600" lvl="0" indent="-50800" rtl="0">
              <a:spcBef>
                <a:spcPts val="0"/>
              </a:spcBef>
              <a:spcAft>
                <a:spcPts val="0"/>
              </a:spcAft>
              <a:buClr>
                <a:schemeClr val="dk1"/>
              </a:buClr>
              <a:buSzPts val="2800"/>
              <a:buNone/>
            </a:pPr>
            <a:r>
              <a:rPr lang="en-GB" sz="1000" dirty="0"/>
              <a:t>Citations in alphabetical order of sources</a:t>
            </a:r>
          </a:p>
          <a:p>
            <a:pPr marL="228600" lvl="0" indent="-50800" rtl="0">
              <a:spcBef>
                <a:spcPts val="0"/>
              </a:spcBef>
              <a:spcAft>
                <a:spcPts val="0"/>
              </a:spcAft>
              <a:buClr>
                <a:schemeClr val="dk1"/>
              </a:buClr>
              <a:buSzPts val="2800"/>
              <a:buNone/>
            </a:pPr>
            <a:endParaRPr lang="en-GB" sz="1000" dirty="0"/>
          </a:p>
          <a:p>
            <a:pPr marL="228600" lvl="0" indent="-50800" rtl="0">
              <a:spcBef>
                <a:spcPts val="0"/>
              </a:spcBef>
              <a:spcAft>
                <a:spcPts val="0"/>
              </a:spcAft>
              <a:buClr>
                <a:schemeClr val="dk1"/>
              </a:buClr>
              <a:buSzPts val="2800"/>
              <a:buNone/>
            </a:pPr>
            <a:r>
              <a:rPr lang="en-GB" sz="1000" dirty="0"/>
              <a:t>Books:</a:t>
            </a:r>
          </a:p>
          <a:p>
            <a:r>
              <a:rPr lang="en-GB" sz="1000" dirty="0" err="1">
                <a:latin typeface="Arial"/>
                <a:ea typeface="Arial"/>
                <a:cs typeface="Arial"/>
                <a:sym typeface="Arial"/>
              </a:rPr>
              <a:t>G</a:t>
            </a:r>
            <a:r>
              <a:rPr lang="en-GB" sz="1000" dirty="0" err="1"/>
              <a:t>Bruce</a:t>
            </a:r>
            <a:r>
              <a:rPr lang="en-GB" sz="1000" dirty="0"/>
              <a:t>, P. C., Bruce, A., &amp; </a:t>
            </a:r>
            <a:r>
              <a:rPr lang="en-GB" sz="1000" dirty="0" err="1"/>
              <a:t>Gedeck</a:t>
            </a:r>
            <a:r>
              <a:rPr lang="en-GB" sz="1000" dirty="0"/>
              <a:t>, P. (2020). </a:t>
            </a:r>
            <a:r>
              <a:rPr lang="en-GB" sz="1000" i="1" dirty="0"/>
              <a:t>Practical statistics for data scientists: 50+ essential concepts using R and Python</a:t>
            </a:r>
            <a:r>
              <a:rPr lang="en-GB" sz="1000" dirty="0"/>
              <a:t> (Second edition). O’Reilly Media, Inc.</a:t>
            </a:r>
          </a:p>
          <a:p>
            <a:r>
              <a:rPr lang="en-GB" sz="1000" dirty="0" err="1"/>
              <a:t>Géron</a:t>
            </a:r>
            <a:r>
              <a:rPr lang="en-GB" sz="1000" dirty="0"/>
              <a:t>, A. (2019). </a:t>
            </a:r>
            <a:r>
              <a:rPr lang="en-GB" sz="1000" i="1" dirty="0"/>
              <a:t>Hands-on machine learning with Scikit-Learn, </a:t>
            </a:r>
            <a:r>
              <a:rPr lang="en-GB" sz="1000" i="1" dirty="0" err="1"/>
              <a:t>Keras</a:t>
            </a:r>
            <a:r>
              <a:rPr lang="en-GB" sz="1000" i="1" dirty="0"/>
              <a:t>, and TensorFlow: Concepts, tools, and techniques to build intelligent systems</a:t>
            </a:r>
            <a:r>
              <a:rPr lang="en-GB" sz="1000" dirty="0"/>
              <a:t> (Second edition). O’Reilly Media, Inc.</a:t>
            </a:r>
          </a:p>
          <a:p>
            <a:pPr marL="228600" lvl="0" indent="-50800" rtl="0">
              <a:spcBef>
                <a:spcPts val="0"/>
              </a:spcBef>
              <a:spcAft>
                <a:spcPts val="0"/>
              </a:spcAft>
              <a:buClr>
                <a:schemeClr val="dk1"/>
              </a:buClr>
              <a:buSzPts val="2800"/>
              <a:buNone/>
            </a:pPr>
            <a:endParaRPr lang="en-GB" sz="1000" dirty="0"/>
          </a:p>
          <a:p>
            <a:pPr marL="228600" lvl="0" indent="-50800" rtl="0">
              <a:spcBef>
                <a:spcPts val="0"/>
              </a:spcBef>
              <a:spcAft>
                <a:spcPts val="0"/>
              </a:spcAft>
              <a:buClr>
                <a:schemeClr val="dk1"/>
              </a:buClr>
              <a:buSzPts val="2800"/>
              <a:buNone/>
            </a:pPr>
            <a:r>
              <a:rPr lang="en-GB" sz="1000" dirty="0"/>
              <a:t>Articles / Journals:</a:t>
            </a:r>
          </a:p>
          <a:p>
            <a:r>
              <a:rPr lang="en-GB" sz="1000" dirty="0"/>
              <a:t>Harim </a:t>
            </a:r>
            <a:r>
              <a:rPr lang="en-GB" sz="1000" dirty="0" err="1"/>
              <a:t>Jeong</a:t>
            </a:r>
            <a:r>
              <a:rPr lang="en-GB" sz="1000" dirty="0"/>
              <a:t> &amp; </a:t>
            </a:r>
            <a:r>
              <a:rPr lang="en-GB" sz="1000" dirty="0" err="1"/>
              <a:t>Joo</a:t>
            </a:r>
            <a:r>
              <a:rPr lang="en-GB" sz="1000" dirty="0"/>
              <a:t> Hun </a:t>
            </a:r>
            <a:r>
              <a:rPr lang="en-GB" sz="1000" dirty="0" err="1"/>
              <a:t>Yoo</a:t>
            </a:r>
            <a:r>
              <a:rPr lang="en-GB" sz="1000" dirty="0"/>
              <a:t>. (2022). Opera Clustering: K-means on librettos datasets. </a:t>
            </a:r>
            <a:r>
              <a:rPr lang="en-GB" sz="1000" i="1" dirty="0"/>
              <a:t>Journal of Korean Society for Internet Information</a:t>
            </a:r>
            <a:r>
              <a:rPr lang="en-GB" sz="1000" dirty="0"/>
              <a:t>, </a:t>
            </a:r>
            <a:r>
              <a:rPr lang="en-GB" sz="1000" i="1" dirty="0"/>
              <a:t>23</a:t>
            </a:r>
            <a:r>
              <a:rPr lang="en-GB" sz="1000" dirty="0"/>
              <a:t>(2), 45-45–52. Business Source Ultimate. </a:t>
            </a:r>
            <a:r>
              <a:rPr lang="en-GB" sz="1000" dirty="0">
                <a:hlinkClick r:id="rId4"/>
              </a:rPr>
              <a:t>https://doi.org/10.7472/jksii.2022.23.2.45</a:t>
            </a:r>
            <a:endParaRPr lang="en-GB" sz="1000" dirty="0"/>
          </a:p>
          <a:p>
            <a:r>
              <a:rPr lang="en-GB" sz="1000" dirty="0"/>
              <a:t>Min, X., &amp; Lin, R. (2018). </a:t>
            </a:r>
            <a:r>
              <a:rPr lang="en-GB" sz="1000" i="1" dirty="0"/>
              <a:t>K-Means Algorithm: Fraud Detection Based on </a:t>
            </a:r>
            <a:r>
              <a:rPr lang="en-GB" sz="1000" i="1" dirty="0" err="1"/>
              <a:t>Signaling</a:t>
            </a:r>
            <a:r>
              <a:rPr lang="en-GB" sz="1000" i="1" dirty="0"/>
              <a:t> Data</a:t>
            </a:r>
            <a:r>
              <a:rPr lang="en-GB" sz="1000" dirty="0"/>
              <a:t> (edseee.8495776). 21-21–22. IEEE Xplore Digital Library. </a:t>
            </a:r>
            <a:r>
              <a:rPr lang="en-GB" sz="1000" dirty="0">
                <a:hlinkClick r:id="rId5"/>
              </a:rPr>
              <a:t>https://doi.org/10.1109/SERVICES.2018.00024</a:t>
            </a:r>
            <a:endParaRPr lang="en-GB" sz="1000" dirty="0"/>
          </a:p>
          <a:p>
            <a:r>
              <a:rPr lang="en-GB" sz="1000" dirty="0"/>
              <a:t>Wang, Z. (2022). Higher Education Management and Student Achievement Assessment Method Based on Clustering Algorithm. </a:t>
            </a:r>
            <a:r>
              <a:rPr lang="en-GB" sz="1000" i="1" dirty="0"/>
              <a:t>Computational Intelligence &amp; Neuroscience</a:t>
            </a:r>
            <a:r>
              <a:rPr lang="en-GB" sz="1000" dirty="0"/>
              <a:t>, 1-1–10. Academic Search Ultimate. </a:t>
            </a:r>
            <a:r>
              <a:rPr lang="en-GB" sz="1000" dirty="0">
                <a:hlinkClick r:id="rId6"/>
              </a:rPr>
              <a:t>https://doi.org/10.1155/2022/4703975</a:t>
            </a:r>
            <a:endParaRPr lang="en-GB" sz="1000" dirty="0"/>
          </a:p>
          <a:p>
            <a:r>
              <a:rPr lang="en-GB" sz="1000" dirty="0" err="1"/>
              <a:t>Xiahou</a:t>
            </a:r>
            <a:r>
              <a:rPr lang="en-GB" sz="1000" dirty="0"/>
              <a:t>, X., &amp; Harada, Y. (2022). B2C E-Commerce Customer Churn Prediction Based on K-Means and SVM. </a:t>
            </a:r>
            <a:r>
              <a:rPr lang="en-GB" sz="1000" i="1" dirty="0"/>
              <a:t>Journal of Theoretical &amp; Applied Electronic Commerce Research</a:t>
            </a:r>
            <a:r>
              <a:rPr lang="en-GB" sz="1000" dirty="0"/>
              <a:t>, </a:t>
            </a:r>
            <a:r>
              <a:rPr lang="en-GB" sz="1000" i="1" dirty="0"/>
              <a:t>17</a:t>
            </a:r>
            <a:r>
              <a:rPr lang="en-GB" sz="1000" dirty="0"/>
              <a:t>(2), 458-458–475. Business Source Ultimate. </a:t>
            </a:r>
            <a:r>
              <a:rPr lang="en-GB" sz="1000" dirty="0">
                <a:hlinkClick r:id="rId7"/>
              </a:rPr>
              <a:t>https://doi.org/10.3390/jtaer17020024</a:t>
            </a:r>
            <a:endParaRPr lang="en-GB" sz="1000" dirty="0"/>
          </a:p>
          <a:p>
            <a:pPr marL="228600" lvl="0" indent="-50800" rtl="0">
              <a:spcBef>
                <a:spcPts val="0"/>
              </a:spcBef>
              <a:spcAft>
                <a:spcPts val="0"/>
              </a:spcAft>
              <a:buClr>
                <a:schemeClr val="dk1"/>
              </a:buClr>
              <a:buSzPts val="2800"/>
              <a:buNone/>
            </a:pPr>
            <a:endParaRPr lang="en-GB" sz="1000" dirty="0"/>
          </a:p>
          <a:p>
            <a:pPr marL="279400" lvl="0" indent="-279400" rtl="0">
              <a:spcBef>
                <a:spcPts val="0"/>
              </a:spcBef>
              <a:spcAft>
                <a:spcPts val="0"/>
              </a:spcAft>
              <a:buClr>
                <a:schemeClr val="dk1"/>
              </a:buClr>
              <a:buSzPts val="1100"/>
              <a:buFont typeface="Arial"/>
              <a:buNone/>
            </a:pPr>
            <a:r>
              <a:rPr lang="en-GB" sz="1000" dirty="0">
                <a:latin typeface="Arial"/>
                <a:ea typeface="Arial"/>
                <a:cs typeface="Arial"/>
                <a:sym typeface="Arial"/>
              </a:rPr>
              <a:t>.</a:t>
            </a:r>
          </a:p>
          <a:p>
            <a:pPr marL="228600" lvl="0" indent="-50800" rtl="0">
              <a:spcBef>
                <a:spcPts val="0"/>
              </a:spcBef>
              <a:spcAft>
                <a:spcPts val="0"/>
              </a:spcAft>
              <a:buClr>
                <a:schemeClr val="dk1"/>
              </a:buClr>
              <a:buSzPts val="2800"/>
              <a:buNone/>
            </a:pPr>
            <a:endParaRPr lang="en-GB" sz="1000" dirty="0"/>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{BD0AE8D2-53BB-7347-8492-3E5055C7CA98}tf10001079</Template>
  <TotalTime>124759</TotalTime>
  <Words>1686</Words>
  <Application>Microsoft Macintosh PowerPoint</Application>
  <PresentationFormat>Widescreen</PresentationFormat>
  <Paragraphs>162</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Century Gothic</vt:lpstr>
      <vt:lpstr>Vapor Trail</vt:lpstr>
      <vt:lpstr>An Introduction to K-Means</vt:lpstr>
      <vt:lpstr>Topic </vt:lpstr>
      <vt:lpstr>Scope of Presentation</vt:lpstr>
      <vt:lpstr>Structure</vt:lpstr>
      <vt:lpstr>Different Machine Learning Paradigms</vt:lpstr>
      <vt:lpstr>What is K-Mean ?</vt:lpstr>
      <vt:lpstr>How It works</vt:lpstr>
      <vt:lpstr>How Many Clusters and Start Points?</vt:lpstr>
      <vt:lpstr>Evaluating and Adding to a Cluster</vt:lpstr>
      <vt:lpstr> next iteration</vt:lpstr>
      <vt:lpstr> next iteration</vt:lpstr>
      <vt:lpstr> next iteration</vt:lpstr>
      <vt:lpstr>A Potential Problem</vt:lpstr>
      <vt:lpstr>Variance in Result</vt:lpstr>
      <vt:lpstr>A Potential Problem - Variance in Result</vt:lpstr>
      <vt:lpstr>A Potential Problem - Variance in Result</vt:lpstr>
      <vt:lpstr>K-Means - Supervised or Unsupervised?</vt:lpstr>
      <vt:lpstr>Identifying real world problems</vt:lpstr>
      <vt:lpstr>The most interesting one</vt:lpstr>
      <vt:lpstr>Conclusion</vt:lpstr>
      <vt:lpstr>“List of Figures”</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K-Means</dc:title>
  <cp:lastModifiedBy>Horia Iulian State</cp:lastModifiedBy>
  <cp:revision>8</cp:revision>
  <dcterms:modified xsi:type="dcterms:W3CDTF">2023-03-28T08:54:38Z</dcterms:modified>
</cp:coreProperties>
</file>